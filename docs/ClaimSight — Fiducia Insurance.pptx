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3F75"/>
    <a:srgbClr val="5F6B7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9"/>
    <p:restoredTop sz="94610"/>
  </p:normalViewPr>
  <p:slideViewPr>
    <p:cSldViewPr snapToGrid="0" snapToObjects="1">
      <p:cViewPr>
        <p:scale>
          <a:sx n="221" d="100"/>
          <a:sy n="221" d="100"/>
        </p:scale>
        <p:origin x="-3112" y="-26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6443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(~30s): "Today I'll show how we take the claims-intake team from typing to reviewing — without losing control to the AI." Name the two things to watch for: a real demo, and an honest take on trade-offs. Then move to the problem.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in their world. These are the formats that actually land on the desk. The point is not "it's hard" — it's that the cost is hidden: a high-severity claim in the wrong queue, or a contestable death not flagged, is expensive. Hold up a real example or two.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governing idea of the whole talk. Say it plainly: the model does the reading, your people do the deciding. The 2-minute figure is the payoff; the "AI never" line is the safety promise that the rest of the deck backs up.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SCRIPT. Switch to the app (provider: openai). 1) Upload samples/badly_handwritten.png; while it runs (~13s) narrate the ingestion path = vision. Show the document beside the proposal: policy read from handwriting, fraud-near-inception flag, routed to SIU, draft ack filled. Edit nothing; click Approve to book the claim (show idempotency: re-upload → already booked). 2) Workflow config tab: raise the large-loss threshold, Preview → point at the one case that flips green. 3) Metrics tab: per-provider latency table (mock sub-ms vs openai ~13s), cost/doc, override rate. PLAN B: if live fails, screenshots/GIF in the backup folder. Keep this to ~25 min; invite questions throughout.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is the headline — land it. The expensive error is not "the AI missed something" (a person catches that in review); it's the AI auto-approving something wrong. We designed that out. Caveat honestly: 1.00 is on our 17-case test set — say "on our test set", don't overclaim.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separates a tool from a demo. Insurance operations change constantly — a new peril, a reorganised queue, a catastrophe surge, a new fraud pattern. If every change needs IT, the tool rots. The new part to stress: the ops lead can now add a *semantic* flag just by describing it in words — no keyword list, no code — and the model judges it, while the consequence stays auditable config. Tie back to the demo (the arson/fraud handwritten samples fired exactly this way). Engineering keeps only the safety-critical control flow and the menu of built-in conditions.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your maturity story. Mention you found and fixed real bugs by running it on real data (eml encoding, flag mis-scoping, the injury flag). The theme: the system degrades gracefully — it never crashes and never guesses. Prompt injection is the one to call out for a tech-savvy audience.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 the latency number — don't hide it. It's a reasoning model doing vision; that buys the accuracy. 13 s against ~2 min of human review is fine, but name the three levers so they see you've thought about it. Cost is a non-issue: ~$1–2/day at their volume.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"intentionally left out, and why" slide the brief rewards. The left column is 8–10 hours of focused work; the right column is where each piece goes. Say clearly: this is a POC, not production — the value here is a coherent end-to-end slice plus a credible production path. Offer to go deeper on any row.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 level 1 — the big picture, before the container views. One system, two kinds of user (the handler who reviews, the ops lead who owns the config), and four external systems. This is the slide to open the architecture segment with: it frames what ClaimSight touches without any internal detail. Then drill into POC and target containers.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 container level for the POC. The whole thing is one FastAPI service plus a SQLite file; the only real external dependency is OpenAI. Policy and claims systems are simulated — say that out loud. This is the "coherent end-to-end slice" the brief asks for. Contrast with the next slide (target).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C4 container level, production target. Key message vs the POC: processing is decoupled through a queue so triage workers scale horizontally on demand (KEDA on queue lag) — that's how we handle a catastrophe surge. The external model is rate-limited, so Redis (in Data stores) also runs the shared token-bucket limiter that paces every pod to one quota; a concurrency cap + circuit breaker protect against overload and outage. Postgres/Redis replace SQLite; the model is EU-hosted or on-prem; policy and claims become real Guidewire integrations. Everything emits to central observability. Offer to drill into any container, or into the Scalability slide for the backpressure chain.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rewards "scalability mindset" — bottleneck, measurement, how it scales. Bottleneck = the model call, which is externally rate-limited, so throwing machines at it doesn't help: every pod shares one OpenAI quota. The fix is a shared Redis token-bucket limiter (two buckets, RPM + TPM, decremented atomically by one Lua script so pods don't race), plus a queue that absorbs the CAT spike and KEDA that scales workers on queue lag. Backpressure is the mechanism, not the symptom: the limiter → slow workers → growing lag → KEDA is the chain. Circuit breaker is for outages, NOT rate limits. /metrics in the POC is the seed of the measurement story.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 human-in-the-loop as a compliance asset, not just a safety one — it's your position under the EU AI Act (claims handling can be high-risk AI). On data, pre-empt "our data goes to the cloud": the provider abstraction means the model can be swapped for an EU-hosted or on-prem one, and nothing trains on their data.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Rollout is about trust, not a flip of a switch. Start in review-everything mode; the override-rate metric (which they saw in the demo) is the evidence for when to raise autonomy. The idempotency-by-document-hash point matters for integration: safe retries, no double-booking.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Q&amp;A safety net. Walk it quickly and with confidence — "I know what you're thinking, let's take them all." If time is short, skip the slide and keep it as the backup you pull up when a question lands. Each row is a two-sentence answer you should be able to give from memory.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concrete ask, not a thank-you slide. Propose a time-boxed pilot in shadow mode with agreed success metrics — the same three they saw in the demo. The closing line ties the product back to the company's name (fiducia = trust). Fill the [__ weeks] placeholder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74960"/>
          </a:xfrm>
          <a:prstGeom prst="rect">
            <a:avLst/>
          </a:prstGeom>
          <a:noFill/>
          <a:ln/>
        </p:spPr>
        <p:txBody>
          <a:bodyPr wrap="square" lIns="0" tIns="0" rIns="0" bIns="0" rtlCol="0" anchor="t"/>
          <a:lstStyle>
            <a:lvl1pPr marL="0" indent="0" algn="l">
              <a:lnSpc>
                <a:spcPct val="115000"/>
              </a:lnSpc>
              <a:buNone/>
              <a:defRPr lang="en-US" sz="3400" dirty="0">
                <a:solidFill>
                  <a:srgbClr val="14233D"/>
                </a:solidFill>
                <a:latin typeface="Georgia" pitchFamily="34" charset="0"/>
                <a:ea typeface="Georgia" pitchFamily="34" charset="-122"/>
                <a:cs typeface="Georgia"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1907480"/>
            <a:ext cx="10566400" cy="4137720"/>
          </a:xfrm>
          <a:prstGeom prst="rect">
            <a:avLst/>
          </a:prstGeom>
          <a:noFill/>
          <a:ln/>
        </p:spPr>
        <p:txBody>
          <a:bodyPr wrap="square" lIns="0" tIns="0" rIns="0" bIns="0" rtlCol="0" anchor="t"/>
          <a:lstStyle>
            <a:lvl1pPr marL="0" indent="0" algn="l">
              <a:lnSpc>
                <a:spcPct val="140000"/>
              </a:lnSpc>
              <a:buNone/>
              <a:defRPr lang="en-US" sz="1600" dirty="0">
                <a:solidFill>
                  <a:srgbClr val="1423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74960"/>
          </a:xfrm>
          <a:prstGeom prst="rect">
            <a:avLst/>
          </a:prstGeom>
          <a:noFill/>
          <a:ln/>
        </p:spPr>
        <p:txBody>
          <a:bodyPr wrap="square" lIns="0" tIns="0" rIns="0" bIns="0" rtlCol="0" anchor="t"/>
          <a:lstStyle>
            <a:lvl1pPr marL="0" indent="0" algn="l">
              <a:lnSpc>
                <a:spcPct val="115000"/>
              </a:lnSpc>
              <a:buNone/>
              <a:defRPr lang="en-US" sz="3400" dirty="0">
                <a:solidFill>
                  <a:srgbClr val="14233D"/>
                </a:solidFill>
                <a:latin typeface="Georgia" pitchFamily="34" charset="0"/>
                <a:ea typeface="Georgia" pitchFamily="34" charset="-122"/>
                <a:cs typeface="Georgia"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1907480"/>
            <a:ext cx="10566400" cy="4137720"/>
          </a:xfrm>
          <a:prstGeom prst="rect">
            <a:avLst/>
          </a:prstGeom>
          <a:noFill/>
          <a:ln/>
        </p:spPr>
        <p:txBody>
          <a:bodyPr wrap="square" lIns="0" tIns="0" rIns="0" bIns="0" rtlCol="0" anchor="t"/>
          <a:lstStyle>
            <a:lvl1pPr marL="0" indent="0" algn="l">
              <a:lnSpc>
                <a:spcPct val="140000"/>
              </a:lnSpc>
              <a:buNone/>
              <a:defRPr lang="en-US" sz="1600" dirty="0">
                <a:solidFill>
                  <a:srgbClr val="1423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00" dirty="0">
                <a:solidFill>
                  <a:srgbClr val="5EC8B0"/>
                </a:solidFill>
                <a:latin typeface="Arial" pitchFamily="34" charset="0"/>
                <a:ea typeface="Arial" pitchFamily="34" charset="-122"/>
                <a:cs typeface="Arial" pitchFamily="34" charset="-120"/>
              </a:rPr>
              <a:t>PROOF OF CONCEPT · AI-ASSISTED FNOL TRIAGE</a:t>
            </a:r>
            <a:endParaRPr lang="en-US" sz="1300" dirty="0"/>
          </a:p>
        </p:txBody>
      </p:sp>
      <p:sp>
        <p:nvSpPr>
          <p:cNvPr id="3" name="Text 1"/>
          <p:cNvSpPr>
            <a:spLocks noGrp="1"/>
          </p:cNvSpPr>
          <p:nvPr>
            <p:ph type="title"/>
          </p:nvPr>
        </p:nvSpPr>
        <p:spPr>
          <a:xfrm>
            <a:off x="812800" y="2698750"/>
            <a:ext cx="10883392" cy="977900"/>
          </a:xfrm>
          <a:prstGeom prst="rect">
            <a:avLst/>
          </a:prstGeom>
          <a:noFill/>
          <a:ln/>
        </p:spPr>
        <p:txBody>
          <a:bodyPr wrap="square" lIns="0" tIns="0" rIns="0" bIns="0" rtlCol="0" anchor="t">
            <a:normAutofit/>
          </a:bodyPr>
          <a:lstStyle/>
          <a:p>
            <a:pPr marL="0" indent="0" algn="l">
              <a:lnSpc>
                <a:spcPts val="7500"/>
              </a:lnSpc>
              <a:buNone/>
            </a:pPr>
            <a:r>
              <a:rPr lang="en-US" sz="7500" b="1" i="0" dirty="0">
                <a:solidFill>
                  <a:srgbClr val="FFFFFF"/>
                </a:solidFill>
                <a:latin typeface="Georgia" pitchFamily="18" charset="0"/>
                <a:ea typeface="Georgia" pitchFamily="18" charset="-122"/>
                <a:cs typeface="Georgia" pitchFamily="18" charset="-120"/>
              </a:rPr>
              <a:t>ClaimSight</a:t>
            </a:r>
            <a:endParaRPr lang="en-US" sz="7500" dirty="0"/>
          </a:p>
        </p:txBody>
      </p:sp>
      <p:sp>
        <p:nvSpPr>
          <p:cNvPr id="4" name="Text 2"/>
          <p:cNvSpPr/>
          <p:nvPr/>
        </p:nvSpPr>
        <p:spPr>
          <a:xfrm>
            <a:off x="812800" y="3829050"/>
            <a:ext cx="863346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AEBBC9"/>
                </a:solidFill>
                <a:latin typeface="Arial" pitchFamily="34" charset="0"/>
                <a:ea typeface="Arial" pitchFamily="34" charset="-122"/>
                <a:cs typeface="Arial" pitchFamily="34" charset="-120"/>
              </a:rPr>
              <a:t>AI for humans — the model proposes, your people decide.</a:t>
            </a:r>
            <a:endParaRPr lang="en-US" sz="2000" dirty="0"/>
          </a:p>
        </p:txBody>
      </p:sp>
      <p:sp>
        <p:nvSpPr>
          <p:cNvPr id="5" name="Text 3"/>
          <p:cNvSpPr/>
          <p:nvPr/>
        </p:nvSpPr>
        <p:spPr>
          <a:xfrm>
            <a:off x="812800" y="5814120"/>
            <a:ext cx="272010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EBBC9"/>
                </a:solidFill>
                <a:latin typeface="Arial" pitchFamily="34" charset="0"/>
                <a:ea typeface="Arial" pitchFamily="34" charset="-122"/>
                <a:cs typeface="Arial" pitchFamily="34" charset="-120"/>
              </a:rPr>
              <a:t>Prepared for Fiducia Insurance</a:t>
            </a:r>
            <a:endParaRPr lang="en-US" sz="1300" dirty="0"/>
          </a:p>
        </p:txBody>
      </p:sp>
      <p:sp>
        <p:nvSpPr>
          <p:cNvPr id="6" name="Text 4"/>
          <p:cNvSpPr/>
          <p:nvPr/>
        </p:nvSpPr>
        <p:spPr>
          <a:xfrm>
            <a:off x="8318460" y="5814120"/>
            <a:ext cx="3060740" cy="25648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AEBBC9"/>
                </a:solidFill>
                <a:latin typeface="Arial" pitchFamily="34" charset="0"/>
                <a:ea typeface="Arial" pitchFamily="34" charset="-122"/>
                <a:cs typeface="Arial" pitchFamily="34" charset="-120"/>
              </a:rPr>
              <a:t>Claims intake · First Notice of Loss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THE PROBLEM</a:t>
            </a:r>
            <a:endParaRPr lang="en-US" sz="1200" dirty="0"/>
          </a:p>
        </p:txBody>
      </p:sp>
      <p:sp>
        <p:nvSpPr>
          <p:cNvPr id="3" name="Text 1"/>
          <p:cNvSpPr>
            <a:spLocks noGrp="1"/>
          </p:cNvSpPr>
          <p:nvPr>
            <p:ph type="title"/>
          </p:nvPr>
        </p:nvSpPr>
        <p:spPr>
          <a:xfrm>
            <a:off x="812800" y="112772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4233D"/>
                </a:solidFill>
                <a:latin typeface="Georgia" pitchFamily="18" charset="0"/>
                <a:ea typeface="Georgia" pitchFamily="18" charset="-122"/>
                <a:cs typeface="Georgia" pitchFamily="18" charset="-120"/>
              </a:rPr>
              <a:t>The intake desk is drowning in paperwork</a:t>
            </a:r>
            <a:endParaRPr lang="en-US" sz="3400" dirty="0"/>
          </a:p>
        </p:txBody>
      </p:sp>
      <p:sp>
        <p:nvSpPr>
          <p:cNvPr id="4" name="Shape 2"/>
          <p:cNvSpPr/>
          <p:nvPr/>
        </p:nvSpPr>
        <p:spPr>
          <a:xfrm>
            <a:off x="815975" y="1961455"/>
            <a:ext cx="3380284" cy="1359991"/>
          </a:xfrm>
          <a:prstGeom prst="roundRect">
            <a:avLst>
              <a:gd name="adj" fmla="val 7237"/>
            </a:avLst>
          </a:prstGeom>
          <a:solidFill>
            <a:srgbClr val="FFFFFF"/>
          </a:solidFill>
          <a:ln w="6350">
            <a:solidFill>
              <a:srgbClr val="E3E6E4"/>
            </a:solidFill>
            <a:prstDash val="solid"/>
          </a:ln>
        </p:spPr>
        <p:txBody>
          <a:bodyPr/>
          <a:lstStyle/>
          <a:p>
            <a:endParaRPr lang="en-US"/>
          </a:p>
        </p:txBody>
      </p:sp>
      <p:sp>
        <p:nvSpPr>
          <p:cNvPr id="5" name="Text 3"/>
          <p:cNvSpPr/>
          <p:nvPr/>
        </p:nvSpPr>
        <p:spPr>
          <a:xfrm>
            <a:off x="1073150" y="2218630"/>
            <a:ext cx="2951912"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33D"/>
                </a:solidFill>
                <a:latin typeface="Arial" pitchFamily="34" charset="0"/>
                <a:ea typeface="Arial" pitchFamily="34" charset="-122"/>
                <a:cs typeface="Arial" pitchFamily="34" charset="-120"/>
              </a:rPr>
              <a:t>Messy, every format</a:t>
            </a:r>
            <a:endParaRPr lang="en-US" sz="1700" dirty="0"/>
          </a:p>
        </p:txBody>
      </p:sp>
      <p:sp>
        <p:nvSpPr>
          <p:cNvPr id="6" name="Text 4"/>
          <p:cNvSpPr/>
          <p:nvPr/>
        </p:nvSpPr>
        <p:spPr>
          <a:xfrm>
            <a:off x="1073150" y="2566591"/>
            <a:ext cx="295191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7546B"/>
                </a:solidFill>
                <a:latin typeface="Arial" pitchFamily="34" charset="0"/>
                <a:ea typeface="Arial" pitchFamily="34" charset="-122"/>
                <a:cs typeface="Arial" pitchFamily="34" charset="-120"/>
              </a:rPr>
              <a:t>Email, PDF, photos, handwriting — Romanian and English.</a:t>
            </a:r>
            <a:endParaRPr lang="en-US" sz="1400" dirty="0"/>
          </a:p>
        </p:txBody>
      </p:sp>
      <p:sp>
        <p:nvSpPr>
          <p:cNvPr id="7" name="Shape 5"/>
          <p:cNvSpPr/>
          <p:nvPr/>
        </p:nvSpPr>
        <p:spPr>
          <a:xfrm>
            <a:off x="4405809" y="1961455"/>
            <a:ext cx="3380383" cy="1359991"/>
          </a:xfrm>
          <a:prstGeom prst="roundRect">
            <a:avLst>
              <a:gd name="adj" fmla="val 7237"/>
            </a:avLst>
          </a:prstGeom>
          <a:solidFill>
            <a:srgbClr val="FFFFFF"/>
          </a:solidFill>
          <a:ln w="6350">
            <a:solidFill>
              <a:srgbClr val="E3E6E4"/>
            </a:solidFill>
            <a:prstDash val="solid"/>
          </a:ln>
        </p:spPr>
        <p:txBody>
          <a:bodyPr/>
          <a:lstStyle/>
          <a:p>
            <a:endParaRPr lang="en-US"/>
          </a:p>
        </p:txBody>
      </p:sp>
      <p:sp>
        <p:nvSpPr>
          <p:cNvPr id="8" name="Text 6"/>
          <p:cNvSpPr/>
          <p:nvPr/>
        </p:nvSpPr>
        <p:spPr>
          <a:xfrm>
            <a:off x="4662984" y="2218630"/>
            <a:ext cx="295201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33D"/>
                </a:solidFill>
                <a:latin typeface="Arial" pitchFamily="34" charset="0"/>
                <a:ea typeface="Arial" pitchFamily="34" charset="-122"/>
                <a:cs typeface="Arial" pitchFamily="34" charset="-120"/>
              </a:rPr>
              <a:t>6–10 min per claim</a:t>
            </a:r>
            <a:endParaRPr lang="en-US" sz="1700" dirty="0"/>
          </a:p>
        </p:txBody>
      </p:sp>
      <p:sp>
        <p:nvSpPr>
          <p:cNvPr id="9" name="Text 7"/>
          <p:cNvSpPr/>
          <p:nvPr/>
        </p:nvSpPr>
        <p:spPr>
          <a:xfrm>
            <a:off x="4662984" y="2566591"/>
            <a:ext cx="2952014"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7546B"/>
                </a:solidFill>
                <a:latin typeface="Arial" pitchFamily="34" charset="0"/>
                <a:ea typeface="Arial" pitchFamily="34" charset="-122"/>
                <a:cs typeface="Arial" pitchFamily="34" charset="-120"/>
              </a:rPr>
              <a:t>Read, re-key and route every notification by hand.</a:t>
            </a:r>
            <a:endParaRPr lang="en-US" sz="1400" dirty="0"/>
          </a:p>
        </p:txBody>
      </p:sp>
      <p:sp>
        <p:nvSpPr>
          <p:cNvPr id="10" name="Shape 8"/>
          <p:cNvSpPr/>
          <p:nvPr/>
        </p:nvSpPr>
        <p:spPr>
          <a:xfrm>
            <a:off x="7995741" y="1961455"/>
            <a:ext cx="3380284" cy="1359991"/>
          </a:xfrm>
          <a:prstGeom prst="roundRect">
            <a:avLst>
              <a:gd name="adj" fmla="val 7237"/>
            </a:avLst>
          </a:prstGeom>
          <a:solidFill>
            <a:srgbClr val="FFFFFF"/>
          </a:solidFill>
          <a:ln w="6350">
            <a:solidFill>
              <a:srgbClr val="E3E6E4"/>
            </a:solidFill>
            <a:prstDash val="solid"/>
          </a:ln>
        </p:spPr>
        <p:txBody>
          <a:bodyPr/>
          <a:lstStyle/>
          <a:p>
            <a:endParaRPr lang="en-US"/>
          </a:p>
        </p:txBody>
      </p:sp>
      <p:sp>
        <p:nvSpPr>
          <p:cNvPr id="11" name="Text 9"/>
          <p:cNvSpPr/>
          <p:nvPr/>
        </p:nvSpPr>
        <p:spPr>
          <a:xfrm>
            <a:off x="8252916" y="2218630"/>
            <a:ext cx="2951912"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33D"/>
                </a:solidFill>
                <a:latin typeface="Arial" pitchFamily="34" charset="0"/>
                <a:ea typeface="Arial" pitchFamily="34" charset="-122"/>
                <a:cs typeface="Arial" pitchFamily="34" charset="-120"/>
              </a:rPr>
              <a:t>Errors creep in</a:t>
            </a:r>
            <a:endParaRPr lang="en-US" sz="1700" dirty="0"/>
          </a:p>
        </p:txBody>
      </p:sp>
      <p:sp>
        <p:nvSpPr>
          <p:cNvPr id="12" name="Text 10"/>
          <p:cNvSpPr/>
          <p:nvPr/>
        </p:nvSpPr>
        <p:spPr>
          <a:xfrm>
            <a:off x="8252916" y="2566591"/>
            <a:ext cx="295191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7546B"/>
                </a:solidFill>
                <a:latin typeface="Arial" pitchFamily="34" charset="0"/>
                <a:ea typeface="Arial" pitchFamily="34" charset="-122"/>
                <a:cs typeface="Arial" pitchFamily="34" charset="-120"/>
              </a:rPr>
              <a:t>Mis-keyed policies, wrong queue, slow acknowledgment.</a:t>
            </a:r>
            <a:endParaRPr lang="en-US" sz="1400" dirty="0"/>
          </a:p>
        </p:txBody>
      </p:sp>
      <p:sp>
        <p:nvSpPr>
          <p:cNvPr id="13" name="Text 11"/>
          <p:cNvSpPr/>
          <p:nvPr/>
        </p:nvSpPr>
        <p:spPr>
          <a:xfrm>
            <a:off x="812800" y="3680222"/>
            <a:ext cx="10566400" cy="984250"/>
          </a:xfrm>
          <a:prstGeom prst="roundRect">
            <a:avLst>
              <a:gd name="adj" fmla="val 10323"/>
            </a:avLst>
          </a:prstGeom>
          <a:solidFill>
            <a:srgbClr val="EAF0EE"/>
          </a:solidFill>
          <a:ln/>
        </p:spPr>
        <p:txBody>
          <a:bodyPr wrap="square" lIns="211542" tIns="186142" rIns="0" bIns="160742" rtlCol="0" anchor="t">
            <a:normAutofit/>
          </a:bodyPr>
          <a:lstStyle/>
          <a:p>
            <a:pPr marL="0" indent="0" algn="l">
              <a:lnSpc>
                <a:spcPts val="2175"/>
              </a:lnSpc>
              <a:buNone/>
            </a:pPr>
            <a:r>
              <a:rPr lang="en-US" sz="1500" dirty="0">
                <a:solidFill>
                  <a:srgbClr val="14233D"/>
                </a:solidFill>
                <a:latin typeface="Arial" pitchFamily="34" charset="0"/>
                <a:ea typeface="Arial" pitchFamily="34" charset="-122"/>
                <a:cs typeface="Arial" pitchFamily="34" charset="-120"/>
              </a:rPr>
              <a:t>Hidden cost: missed fraud, mis-routed claims, poor customer experience — and no capacity when a storm sends a surge of claims.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THE APPROACH</a:t>
            </a:r>
            <a:endParaRPr lang="en-US" sz="1200" dirty="0"/>
          </a:p>
        </p:txBody>
      </p:sp>
      <p:sp>
        <p:nvSpPr>
          <p:cNvPr id="3" name="Text 1"/>
          <p:cNvSpPr>
            <a:spLocks noGrp="1"/>
          </p:cNvSpPr>
          <p:nvPr>
            <p:ph type="title"/>
          </p:nvPr>
        </p:nvSpPr>
        <p:spPr>
          <a:xfrm>
            <a:off x="812800" y="112772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4233D"/>
                </a:solidFill>
                <a:latin typeface="Georgia" pitchFamily="18" charset="0"/>
                <a:ea typeface="Georgia" pitchFamily="18" charset="-122"/>
                <a:cs typeface="Georgia" pitchFamily="18" charset="-120"/>
              </a:rPr>
              <a:t>From typing to reviewing</a:t>
            </a:r>
            <a:endParaRPr lang="en-US" sz="3400" dirty="0"/>
          </a:p>
        </p:txBody>
      </p:sp>
      <p:sp>
        <p:nvSpPr>
          <p:cNvPr id="4" name="Shape 2"/>
          <p:cNvSpPr/>
          <p:nvPr/>
        </p:nvSpPr>
        <p:spPr>
          <a:xfrm>
            <a:off x="815975" y="2012255"/>
            <a:ext cx="3007717" cy="1342330"/>
          </a:xfrm>
          <a:prstGeom prst="roundRect">
            <a:avLst>
              <a:gd name="adj" fmla="val 7332"/>
            </a:avLst>
          </a:prstGeom>
          <a:solidFill>
            <a:srgbClr val="FFFFFF"/>
          </a:solidFill>
          <a:ln w="6350">
            <a:solidFill>
              <a:srgbClr val="E3E6E4"/>
            </a:solidFill>
            <a:prstDash val="solid"/>
          </a:ln>
        </p:spPr>
        <p:txBody>
          <a:bodyPr/>
          <a:lstStyle/>
          <a:p>
            <a:endParaRPr lang="en-US"/>
          </a:p>
        </p:txBody>
      </p:sp>
      <p:sp>
        <p:nvSpPr>
          <p:cNvPr id="5" name="Text 3"/>
          <p:cNvSpPr/>
          <p:nvPr/>
        </p:nvSpPr>
        <p:spPr>
          <a:xfrm>
            <a:off x="1073150" y="2269430"/>
            <a:ext cx="256816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E7C66"/>
                </a:solidFill>
                <a:latin typeface="Arial" pitchFamily="34" charset="0"/>
                <a:ea typeface="Arial" pitchFamily="34" charset="-122"/>
                <a:cs typeface="Arial" pitchFamily="34" charset="-120"/>
              </a:rPr>
              <a:t>AI proposes</a:t>
            </a:r>
            <a:endParaRPr lang="en-US" sz="1700" dirty="0"/>
          </a:p>
        </p:txBody>
      </p:sp>
      <p:sp>
        <p:nvSpPr>
          <p:cNvPr id="6" name="Text 4"/>
          <p:cNvSpPr/>
          <p:nvPr/>
        </p:nvSpPr>
        <p:spPr>
          <a:xfrm>
            <a:off x="1073150" y="2617391"/>
            <a:ext cx="2568168" cy="50542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7546B"/>
                </a:solidFill>
                <a:latin typeface="Arial" pitchFamily="34" charset="0"/>
                <a:ea typeface="Arial" pitchFamily="34" charset="-122"/>
                <a:cs typeface="Arial" pitchFamily="34" charset="-120"/>
              </a:rPr>
              <a:t>Reads the notification; extracts and classifies the claim.</a:t>
            </a:r>
            <a:endParaRPr lang="en-US" sz="1350" dirty="0"/>
          </a:p>
        </p:txBody>
      </p:sp>
      <p:pic>
        <p:nvPicPr>
          <p:cNvPr id="7" name="Image 0" descr="arrow-right"/>
          <p:cNvPicPr>
            <a:picLocks noChangeAspect="1"/>
          </p:cNvPicPr>
          <p:nvPr/>
        </p:nvPicPr>
        <p:blipFill>
          <a:blip r:embed="rId3"/>
          <a:srcRect/>
          <a:stretch/>
        </p:blipFill>
        <p:spPr>
          <a:xfrm>
            <a:off x="4004667" y="2575421"/>
            <a:ext cx="406400" cy="215900"/>
          </a:xfrm>
          <a:prstGeom prst="rect">
            <a:avLst/>
          </a:prstGeom>
        </p:spPr>
      </p:pic>
      <p:sp>
        <p:nvSpPr>
          <p:cNvPr id="8" name="Shape 5"/>
          <p:cNvSpPr/>
          <p:nvPr/>
        </p:nvSpPr>
        <p:spPr>
          <a:xfrm>
            <a:off x="4592042" y="2012255"/>
            <a:ext cx="3007816" cy="1342330"/>
          </a:xfrm>
          <a:prstGeom prst="roundRect">
            <a:avLst>
              <a:gd name="adj" fmla="val 7332"/>
            </a:avLst>
          </a:prstGeom>
          <a:solidFill>
            <a:srgbClr val="FFFFFF"/>
          </a:solidFill>
          <a:ln w="6350">
            <a:solidFill>
              <a:srgbClr val="E3E6E4"/>
            </a:solidFill>
            <a:prstDash val="solid"/>
          </a:ln>
        </p:spPr>
        <p:txBody>
          <a:bodyPr/>
          <a:lstStyle/>
          <a:p>
            <a:endParaRPr lang="en-US"/>
          </a:p>
        </p:txBody>
      </p:sp>
      <p:sp>
        <p:nvSpPr>
          <p:cNvPr id="9" name="Text 6"/>
          <p:cNvSpPr/>
          <p:nvPr/>
        </p:nvSpPr>
        <p:spPr>
          <a:xfrm>
            <a:off x="4849217" y="2269430"/>
            <a:ext cx="256827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33D"/>
                </a:solidFill>
                <a:latin typeface="Arial" pitchFamily="34" charset="0"/>
                <a:ea typeface="Arial" pitchFamily="34" charset="-122"/>
                <a:cs typeface="Arial" pitchFamily="34" charset="-120"/>
              </a:rPr>
              <a:t>Code checks</a:t>
            </a:r>
            <a:endParaRPr lang="en-US" sz="1700" dirty="0"/>
          </a:p>
        </p:txBody>
      </p:sp>
      <p:sp>
        <p:nvSpPr>
          <p:cNvPr id="10" name="Text 7"/>
          <p:cNvSpPr/>
          <p:nvPr/>
        </p:nvSpPr>
        <p:spPr>
          <a:xfrm>
            <a:off x="4849217" y="2617391"/>
            <a:ext cx="2568270" cy="50542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7546B"/>
                </a:solidFill>
                <a:latin typeface="Arial" pitchFamily="34" charset="0"/>
                <a:ea typeface="Arial" pitchFamily="34" charset="-122"/>
                <a:cs typeface="Arial" pitchFamily="34" charset="-120"/>
              </a:rPr>
              <a:t>Your rules: routing, flags, policy check, severity.</a:t>
            </a:r>
            <a:endParaRPr lang="en-US" sz="1350" dirty="0"/>
          </a:p>
        </p:txBody>
      </p:sp>
      <p:pic>
        <p:nvPicPr>
          <p:cNvPr id="11" name="Image 1" descr="arrow-right"/>
          <p:cNvPicPr>
            <a:picLocks noChangeAspect="1"/>
          </p:cNvPicPr>
          <p:nvPr/>
        </p:nvPicPr>
        <p:blipFill>
          <a:blip r:embed="rId3"/>
          <a:srcRect/>
          <a:stretch/>
        </p:blipFill>
        <p:spPr>
          <a:xfrm>
            <a:off x="7780834" y="2575421"/>
            <a:ext cx="406400" cy="215900"/>
          </a:xfrm>
          <a:prstGeom prst="rect">
            <a:avLst/>
          </a:prstGeom>
        </p:spPr>
      </p:pic>
      <p:sp>
        <p:nvSpPr>
          <p:cNvPr id="12" name="Shape 8"/>
          <p:cNvSpPr/>
          <p:nvPr/>
        </p:nvSpPr>
        <p:spPr>
          <a:xfrm>
            <a:off x="8368209" y="2012255"/>
            <a:ext cx="3007816" cy="1342330"/>
          </a:xfrm>
          <a:prstGeom prst="roundRect">
            <a:avLst>
              <a:gd name="adj" fmla="val 7332"/>
            </a:avLst>
          </a:prstGeom>
          <a:solidFill>
            <a:srgbClr val="FFFFFF"/>
          </a:solidFill>
          <a:ln w="6350">
            <a:solidFill>
              <a:srgbClr val="E3E6E4"/>
            </a:solidFill>
            <a:prstDash val="solid"/>
          </a:ln>
        </p:spPr>
        <p:txBody>
          <a:bodyPr/>
          <a:lstStyle/>
          <a:p>
            <a:endParaRPr lang="en-US"/>
          </a:p>
        </p:txBody>
      </p:sp>
      <p:sp>
        <p:nvSpPr>
          <p:cNvPr id="13" name="Text 9"/>
          <p:cNvSpPr/>
          <p:nvPr/>
        </p:nvSpPr>
        <p:spPr>
          <a:xfrm>
            <a:off x="8625384" y="2269430"/>
            <a:ext cx="256827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33D"/>
                </a:solidFill>
                <a:latin typeface="Arial" pitchFamily="34" charset="0"/>
                <a:ea typeface="Arial" pitchFamily="34" charset="-122"/>
                <a:cs typeface="Arial" pitchFamily="34" charset="-120"/>
              </a:rPr>
              <a:t>Human decides</a:t>
            </a:r>
            <a:endParaRPr lang="en-US" sz="1700" dirty="0"/>
          </a:p>
        </p:txBody>
      </p:sp>
      <p:sp>
        <p:nvSpPr>
          <p:cNvPr id="14" name="Text 10"/>
          <p:cNvSpPr/>
          <p:nvPr/>
        </p:nvSpPr>
        <p:spPr>
          <a:xfrm>
            <a:off x="8625384" y="2617391"/>
            <a:ext cx="2568270" cy="50542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7546B"/>
                </a:solidFill>
                <a:latin typeface="Arial" pitchFamily="34" charset="0"/>
                <a:ea typeface="Arial" pitchFamily="34" charset="-122"/>
                <a:cs typeface="Arial" pitchFamily="34" charset="-120"/>
              </a:rPr>
              <a:t>Reviews beside the original, edits, approves.</a:t>
            </a:r>
            <a:endParaRPr lang="en-US" sz="1350" dirty="0"/>
          </a:p>
        </p:txBody>
      </p:sp>
      <p:sp>
        <p:nvSpPr>
          <p:cNvPr id="15" name="Text 11"/>
          <p:cNvSpPr/>
          <p:nvPr/>
        </p:nvSpPr>
        <p:spPr>
          <a:xfrm>
            <a:off x="812800" y="3764161"/>
            <a:ext cx="9810750" cy="642541"/>
          </a:xfrm>
          <a:prstGeom prst="rect">
            <a:avLst/>
          </a:prstGeom>
          <a:noFill/>
          <a:ln/>
        </p:spPr>
        <p:txBody>
          <a:bodyPr wrap="square" lIns="0" tIns="0" rIns="0" bIns="0" rtlCol="0" anchor="t">
            <a:normAutofit/>
          </a:bodyPr>
          <a:lstStyle/>
          <a:p>
            <a:pPr marL="0" indent="0" algn="l">
              <a:lnSpc>
                <a:spcPts val="2430"/>
              </a:lnSpc>
              <a:buNone/>
            </a:pPr>
            <a:r>
              <a:rPr lang="en-US" sz="1800" b="1" dirty="0">
                <a:solidFill>
                  <a:srgbClr val="14233D"/>
                </a:solidFill>
                <a:latin typeface="Arial" pitchFamily="34" charset="0"/>
                <a:ea typeface="Arial" pitchFamily="34" charset="-122"/>
                <a:cs typeface="Arial" pitchFamily="34" charset="-120"/>
              </a:rPr>
              <a:t>AI never</a:t>
            </a:r>
            <a:r>
              <a:rPr lang="en-US" sz="1800" dirty="0">
                <a:solidFill>
                  <a:srgbClr val="14233D"/>
                </a:solidFill>
                <a:latin typeface="Arial" pitchFamily="34" charset="0"/>
                <a:ea typeface="Arial" pitchFamily="34" charset="-122"/>
                <a:cs typeface="Arial" pitchFamily="34" charset="-120"/>
              </a:rPr>
              <a:t> creates a claim, sets a reserve, or decides eligibility on its own — and the review takes about </a:t>
            </a:r>
            <a:r>
              <a:rPr lang="en-US" sz="1800" b="1" dirty="0">
                <a:solidFill>
                  <a:srgbClr val="14233D"/>
                </a:solidFill>
                <a:latin typeface="Arial" pitchFamily="34" charset="0"/>
                <a:ea typeface="Arial" pitchFamily="34" charset="-122"/>
                <a:cs typeface="Arial" pitchFamily="34" charset="-120"/>
              </a:rPr>
              <a:t>2 minutes</a:t>
            </a:r>
            <a:r>
              <a:rPr lang="en-US" sz="1800" dirty="0">
                <a:solidFill>
                  <a:srgbClr val="14233D"/>
                </a:solidFill>
                <a:latin typeface="Arial" pitchFamily="34" charset="0"/>
                <a:ea typeface="Arial" pitchFamily="34" charset="-122"/>
                <a:cs typeface="Arial" pitchFamily="34" charset="-120"/>
              </a:rPr>
              <a:t> instead of ten.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3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EC8B0"/>
                </a:solidFill>
                <a:latin typeface="Arial" pitchFamily="34" charset="0"/>
                <a:ea typeface="Arial" pitchFamily="34" charset="-122"/>
                <a:cs typeface="Arial" pitchFamily="34" charset="-120"/>
              </a:rPr>
              <a:t>LIVE DEMO</a:t>
            </a:r>
            <a:endParaRPr lang="en-US" sz="1200" dirty="0"/>
          </a:p>
        </p:txBody>
      </p:sp>
      <p:sp>
        <p:nvSpPr>
          <p:cNvPr id="3" name="Text 1"/>
          <p:cNvSpPr>
            <a:spLocks noGrp="1"/>
          </p:cNvSpPr>
          <p:nvPr>
            <p:ph type="title"/>
          </p:nvPr>
        </p:nvSpPr>
        <p:spPr>
          <a:xfrm>
            <a:off x="812800" y="112772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FFFFFF"/>
                </a:solidFill>
                <a:latin typeface="Georgia" pitchFamily="18" charset="0"/>
                <a:ea typeface="Georgia" pitchFamily="18" charset="-122"/>
                <a:cs typeface="Georgia" pitchFamily="18" charset="-120"/>
              </a:rPr>
              <a:t>Let's watch it read a real claim</a:t>
            </a:r>
            <a:endParaRPr lang="en-US" sz="3400" dirty="0"/>
          </a:p>
        </p:txBody>
      </p:sp>
      <p:sp>
        <p:nvSpPr>
          <p:cNvPr id="4" name="Text 2"/>
          <p:cNvSpPr/>
          <p:nvPr/>
        </p:nvSpPr>
        <p:spPr>
          <a:xfrm>
            <a:off x="812800" y="1958280"/>
            <a:ext cx="6223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5EC8B0"/>
                </a:solidFill>
                <a:latin typeface="Georgia" pitchFamily="18" charset="0"/>
                <a:ea typeface="Georgia" pitchFamily="18" charset="-122"/>
                <a:cs typeface="Georgia" pitchFamily="18" charset="-120"/>
              </a:rPr>
              <a:t>01</a:t>
            </a:r>
            <a:endParaRPr lang="en-US" sz="3200" dirty="0"/>
          </a:p>
        </p:txBody>
      </p:sp>
      <p:sp>
        <p:nvSpPr>
          <p:cNvPr id="5" name="Text 3"/>
          <p:cNvSpPr/>
          <p:nvPr/>
        </p:nvSpPr>
        <p:spPr>
          <a:xfrm>
            <a:off x="1587500" y="2186880"/>
            <a:ext cx="10085451"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7DEE6"/>
                </a:solidFill>
                <a:latin typeface="Arial" pitchFamily="34" charset="0"/>
                <a:ea typeface="Arial" pitchFamily="34" charset="-122"/>
                <a:cs typeface="Arial" pitchFamily="34" charset="-120"/>
              </a:rPr>
              <a:t>A </a:t>
            </a:r>
            <a:r>
              <a:rPr lang="en-US" sz="1500" b="1" dirty="0">
                <a:solidFill>
                  <a:srgbClr val="FFFFFF"/>
                </a:solidFill>
                <a:latin typeface="Arial" pitchFamily="34" charset="0"/>
                <a:ea typeface="Arial" pitchFamily="34" charset="-122"/>
                <a:cs typeface="Arial" pitchFamily="34" charset="-120"/>
              </a:rPr>
              <a:t>handwritten</a:t>
            </a:r>
            <a:r>
              <a:rPr lang="en-US" sz="1500" dirty="0">
                <a:solidFill>
                  <a:srgbClr val="D7DEE6"/>
                </a:solidFill>
                <a:latin typeface="Arial" pitchFamily="34" charset="0"/>
                <a:ea typeface="Arial" pitchFamily="34" charset="-122"/>
                <a:cs typeface="Arial" pitchFamily="34" charset="-120"/>
              </a:rPr>
              <a:t> loss note → ClaimSight reads it, verifies the policy, flags a loss just after inception → routes to Special Investigations. The handler approves.</a:t>
            </a:r>
            <a:endParaRPr lang="en-US" sz="1500" dirty="0"/>
          </a:p>
        </p:txBody>
      </p:sp>
      <p:sp>
        <p:nvSpPr>
          <p:cNvPr id="6" name="Text 4"/>
          <p:cNvSpPr/>
          <p:nvPr/>
        </p:nvSpPr>
        <p:spPr>
          <a:xfrm>
            <a:off x="812800" y="2898080"/>
            <a:ext cx="6223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5EC8B0"/>
                </a:solidFill>
                <a:latin typeface="Georgia" pitchFamily="18" charset="0"/>
                <a:ea typeface="Georgia" pitchFamily="18" charset="-122"/>
                <a:cs typeface="Georgia" pitchFamily="18" charset="-120"/>
              </a:rPr>
              <a:t>02</a:t>
            </a:r>
            <a:endParaRPr lang="en-US" sz="3200" dirty="0"/>
          </a:p>
        </p:txBody>
      </p:sp>
      <p:sp>
        <p:nvSpPr>
          <p:cNvPr id="7" name="Text 5"/>
          <p:cNvSpPr/>
          <p:nvPr/>
        </p:nvSpPr>
        <p:spPr>
          <a:xfrm>
            <a:off x="1587500" y="3126680"/>
            <a:ext cx="1008545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7DEE6"/>
                </a:solidFill>
                <a:latin typeface="Arial" pitchFamily="34" charset="0"/>
                <a:ea typeface="Arial" pitchFamily="34" charset="-122"/>
                <a:cs typeface="Arial" pitchFamily="34" charset="-120"/>
              </a:rPr>
              <a:t>Change a routing rule and </a:t>
            </a:r>
            <a:r>
              <a:rPr lang="en-US" sz="1500" b="1" dirty="0">
                <a:solidFill>
                  <a:srgbClr val="FFFFFF"/>
                </a:solidFill>
                <a:latin typeface="Arial" pitchFamily="34" charset="0"/>
                <a:ea typeface="Arial" pitchFamily="34" charset="-122"/>
                <a:cs typeface="Arial" pitchFamily="34" charset="-120"/>
              </a:rPr>
              <a:t>preview</a:t>
            </a:r>
            <a:r>
              <a:rPr lang="en-US" sz="1500" dirty="0">
                <a:solidFill>
                  <a:srgbClr val="D7DEE6"/>
                </a:solidFill>
                <a:latin typeface="Arial" pitchFamily="34" charset="0"/>
                <a:ea typeface="Arial" pitchFamily="34" charset="-122"/>
                <a:cs typeface="Arial" pitchFamily="34" charset="-120"/>
              </a:rPr>
              <a:t> which claims move — no engineering involved.</a:t>
            </a:r>
            <a:endParaRPr lang="en-US" sz="1500" dirty="0"/>
          </a:p>
        </p:txBody>
      </p:sp>
      <p:sp>
        <p:nvSpPr>
          <p:cNvPr id="8" name="Text 6"/>
          <p:cNvSpPr/>
          <p:nvPr/>
        </p:nvSpPr>
        <p:spPr>
          <a:xfrm>
            <a:off x="812800" y="3644801"/>
            <a:ext cx="6223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5EC8B0"/>
                </a:solidFill>
                <a:latin typeface="Georgia" pitchFamily="18" charset="0"/>
                <a:ea typeface="Georgia" pitchFamily="18" charset="-122"/>
                <a:cs typeface="Georgia" pitchFamily="18" charset="-120"/>
              </a:rPr>
              <a:t>03</a:t>
            </a:r>
            <a:endParaRPr lang="en-US" sz="3200" dirty="0"/>
          </a:p>
        </p:txBody>
      </p:sp>
      <p:sp>
        <p:nvSpPr>
          <p:cNvPr id="9" name="Text 7"/>
          <p:cNvSpPr/>
          <p:nvPr/>
        </p:nvSpPr>
        <p:spPr>
          <a:xfrm>
            <a:off x="1587500" y="3873401"/>
            <a:ext cx="1008545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7DEE6"/>
                </a:solidFill>
                <a:latin typeface="Arial" pitchFamily="34" charset="0"/>
                <a:ea typeface="Arial" pitchFamily="34" charset="-122"/>
                <a:cs typeface="Arial" pitchFamily="34" charset="-120"/>
              </a:rPr>
              <a:t>Open the </a:t>
            </a:r>
            <a:r>
              <a:rPr lang="en-US" sz="1500" b="1" dirty="0">
                <a:solidFill>
                  <a:srgbClr val="FFFFFF"/>
                </a:solidFill>
                <a:latin typeface="Arial" pitchFamily="34" charset="0"/>
                <a:ea typeface="Arial" pitchFamily="34" charset="-122"/>
                <a:cs typeface="Arial" pitchFamily="34" charset="-120"/>
              </a:rPr>
              <a:t>metrics</a:t>
            </a:r>
            <a:r>
              <a:rPr lang="en-US" sz="1500" dirty="0">
                <a:solidFill>
                  <a:srgbClr val="D7DEE6"/>
                </a:solidFill>
                <a:latin typeface="Arial" pitchFamily="34" charset="0"/>
                <a:ea typeface="Arial" pitchFamily="34" charset="-122"/>
                <a:cs typeface="Arial" pitchFamily="34" charset="-120"/>
              </a:rPr>
              <a:t> — override rate, cost per claim, latency.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ACCURACY &amp; OVERSIGHT</a:t>
            </a:r>
            <a:endParaRPr lang="en-US" sz="1200" dirty="0"/>
          </a:p>
        </p:txBody>
      </p:sp>
      <p:sp>
        <p:nvSpPr>
          <p:cNvPr id="3" name="Text 1"/>
          <p:cNvSpPr>
            <a:spLocks noGrp="1"/>
          </p:cNvSpPr>
          <p:nvPr>
            <p:ph type="title"/>
          </p:nvPr>
        </p:nvSpPr>
        <p:spPr>
          <a:xfrm>
            <a:off x="812800" y="112772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4233D"/>
                </a:solidFill>
                <a:latin typeface="Georgia" pitchFamily="18" charset="0"/>
                <a:ea typeface="Georgia" pitchFamily="18" charset="-122"/>
                <a:cs typeface="Georgia" pitchFamily="18" charset="-120"/>
              </a:rPr>
              <a:t>Why you can trust it</a:t>
            </a:r>
            <a:endParaRPr lang="en-US" sz="3400" dirty="0"/>
          </a:p>
        </p:txBody>
      </p:sp>
      <p:sp>
        <p:nvSpPr>
          <p:cNvPr id="4" name="Shape 2"/>
          <p:cNvSpPr/>
          <p:nvPr/>
        </p:nvSpPr>
        <p:spPr>
          <a:xfrm>
            <a:off x="815975" y="1961455"/>
            <a:ext cx="3549650" cy="2269331"/>
          </a:xfrm>
          <a:prstGeom prst="roundRect">
            <a:avLst>
              <a:gd name="adj" fmla="val 4337"/>
            </a:avLst>
          </a:prstGeom>
          <a:solidFill>
            <a:srgbClr val="FFFFFF"/>
          </a:solidFill>
          <a:ln w="6350">
            <a:solidFill>
              <a:srgbClr val="E3E6E4"/>
            </a:solidFill>
            <a:prstDash val="solid"/>
          </a:ln>
        </p:spPr>
        <p:txBody>
          <a:bodyPr/>
          <a:lstStyle/>
          <a:p>
            <a:endParaRPr lang="en-US"/>
          </a:p>
        </p:txBody>
      </p:sp>
      <p:sp>
        <p:nvSpPr>
          <p:cNvPr id="5" name="Text 3"/>
          <p:cNvSpPr/>
          <p:nvPr/>
        </p:nvSpPr>
        <p:spPr>
          <a:xfrm>
            <a:off x="1123950" y="2269430"/>
            <a:ext cx="3021711" cy="1104900"/>
          </a:xfrm>
          <a:prstGeom prst="rect">
            <a:avLst/>
          </a:prstGeom>
          <a:noFill/>
          <a:ln/>
        </p:spPr>
        <p:txBody>
          <a:bodyPr wrap="square" lIns="0" tIns="0" rIns="0" bIns="0" rtlCol="0" anchor="t">
            <a:normAutofit/>
          </a:bodyPr>
          <a:lstStyle/>
          <a:p>
            <a:pPr marL="0" indent="0" algn="l">
              <a:lnSpc>
                <a:spcPts val="8500"/>
              </a:lnSpc>
              <a:buNone/>
            </a:pPr>
            <a:r>
              <a:rPr lang="en-US" sz="8500" b="1" dirty="0">
                <a:solidFill>
                  <a:srgbClr val="0E7C66"/>
                </a:solidFill>
                <a:latin typeface="Georgia" pitchFamily="18" charset="0"/>
                <a:ea typeface="Georgia" pitchFamily="18" charset="-122"/>
                <a:cs typeface="Georgia" pitchFamily="18" charset="-120"/>
              </a:rPr>
              <a:t>1.00</a:t>
            </a:r>
            <a:endParaRPr lang="en-US" sz="8500" dirty="0"/>
          </a:p>
        </p:txBody>
      </p:sp>
      <p:sp>
        <p:nvSpPr>
          <p:cNvPr id="6" name="Text 4"/>
          <p:cNvSpPr/>
          <p:nvPr/>
        </p:nvSpPr>
        <p:spPr>
          <a:xfrm>
            <a:off x="1123950" y="3425130"/>
            <a:ext cx="3021711"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7546B"/>
                </a:solidFill>
                <a:latin typeface="Arial" pitchFamily="34" charset="0"/>
                <a:ea typeface="Arial" pitchFamily="34" charset="-122"/>
                <a:cs typeface="Arial" pitchFamily="34" charset="-120"/>
              </a:rPr>
              <a:t>Green-line precision on our test set — </a:t>
            </a:r>
            <a:r>
              <a:rPr lang="en-US" sz="1400" b="1" dirty="0">
                <a:solidFill>
                  <a:srgbClr val="14233D"/>
                </a:solidFill>
                <a:latin typeface="Arial" pitchFamily="34" charset="0"/>
                <a:ea typeface="Arial" pitchFamily="34" charset="-122"/>
                <a:cs typeface="Arial" pitchFamily="34" charset="-120"/>
              </a:rPr>
              <a:t>zero false auto-approvals</a:t>
            </a:r>
            <a:r>
              <a:rPr lang="en-US" sz="1400" dirty="0">
                <a:solidFill>
                  <a:srgbClr val="47546B"/>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4724400" y="2080220"/>
            <a:ext cx="685444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33D"/>
                </a:solidFill>
                <a:latin typeface="Arial" pitchFamily="34" charset="0"/>
                <a:ea typeface="Arial" pitchFamily="34" charset="-122"/>
                <a:cs typeface="Arial" pitchFamily="34" charset="-120"/>
              </a:rPr>
              <a:t>Human-in-the-loop, always</a:t>
            </a:r>
            <a:endParaRPr lang="en-US" sz="1700" dirty="0"/>
          </a:p>
        </p:txBody>
      </p:sp>
      <p:sp>
        <p:nvSpPr>
          <p:cNvPr id="8" name="Text 6"/>
          <p:cNvSpPr/>
          <p:nvPr/>
        </p:nvSpPr>
        <p:spPr>
          <a:xfrm>
            <a:off x="4724400" y="2390080"/>
            <a:ext cx="685444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7546B"/>
                </a:solidFill>
                <a:latin typeface="Arial" pitchFamily="34" charset="0"/>
                <a:ea typeface="Arial" pitchFamily="34" charset="-122"/>
                <a:cs typeface="Arial" pitchFamily="34" charset="-120"/>
              </a:rPr>
              <a:t>AI proposes; a person approves every claim.</a:t>
            </a:r>
            <a:endParaRPr lang="en-US" sz="1400" dirty="0"/>
          </a:p>
        </p:txBody>
      </p:sp>
      <p:sp>
        <p:nvSpPr>
          <p:cNvPr id="9" name="Text 7"/>
          <p:cNvSpPr/>
          <p:nvPr/>
        </p:nvSpPr>
        <p:spPr>
          <a:xfrm>
            <a:off x="4724400" y="2816721"/>
            <a:ext cx="685444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33D"/>
                </a:solidFill>
                <a:latin typeface="Arial" pitchFamily="34" charset="0"/>
                <a:ea typeface="Arial" pitchFamily="34" charset="-122"/>
                <a:cs typeface="Arial" pitchFamily="34" charset="-120"/>
              </a:rPr>
              <a:t>Explainable</a:t>
            </a:r>
            <a:endParaRPr lang="en-US" sz="1700" dirty="0"/>
          </a:p>
        </p:txBody>
      </p:sp>
      <p:sp>
        <p:nvSpPr>
          <p:cNvPr id="10" name="Text 8"/>
          <p:cNvSpPr/>
          <p:nvPr/>
        </p:nvSpPr>
        <p:spPr>
          <a:xfrm>
            <a:off x="4724400" y="3126581"/>
            <a:ext cx="685444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7546B"/>
                </a:solidFill>
                <a:latin typeface="Arial" pitchFamily="34" charset="0"/>
                <a:ea typeface="Arial" pitchFamily="34" charset="-122"/>
                <a:cs typeface="Arial" pitchFamily="34" charset="-120"/>
              </a:rPr>
              <a:t>Reasons, flags and the policy check sit beside the proposal.</a:t>
            </a:r>
            <a:endParaRPr lang="en-US" sz="1400" dirty="0"/>
          </a:p>
        </p:txBody>
      </p:sp>
      <p:sp>
        <p:nvSpPr>
          <p:cNvPr id="11" name="Text 9"/>
          <p:cNvSpPr/>
          <p:nvPr/>
        </p:nvSpPr>
        <p:spPr>
          <a:xfrm>
            <a:off x="4724400" y="3553222"/>
            <a:ext cx="685444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33D"/>
                </a:solidFill>
                <a:latin typeface="Arial" pitchFamily="34" charset="0"/>
                <a:ea typeface="Arial" pitchFamily="34" charset="-122"/>
                <a:cs typeface="Arial" pitchFamily="34" charset="-120"/>
              </a:rPr>
              <a:t>Safe by default</a:t>
            </a:r>
            <a:endParaRPr lang="en-US" sz="1700" dirty="0"/>
          </a:p>
        </p:txBody>
      </p:sp>
      <p:sp>
        <p:nvSpPr>
          <p:cNvPr id="12" name="Text 10"/>
          <p:cNvSpPr/>
          <p:nvPr/>
        </p:nvSpPr>
        <p:spPr>
          <a:xfrm>
            <a:off x="4724400" y="3863082"/>
            <a:ext cx="685444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7546B"/>
                </a:solidFill>
                <a:latin typeface="Arial" pitchFamily="34" charset="0"/>
                <a:ea typeface="Arial" pitchFamily="34" charset="-122"/>
                <a:cs typeface="Arial" pitchFamily="34" charset="-120"/>
              </a:rPr>
              <a:t>Prefers "needs a look" over a risky "ready".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THE DIFFERENTIATOR</a:t>
            </a:r>
            <a:endParaRPr lang="en-US" sz="1200" dirty="0"/>
          </a:p>
        </p:txBody>
      </p:sp>
      <p:sp>
        <p:nvSpPr>
          <p:cNvPr id="3" name="Text 1"/>
          <p:cNvSpPr>
            <a:spLocks noGrp="1"/>
          </p:cNvSpPr>
          <p:nvPr>
            <p:ph type="title"/>
          </p:nvPr>
        </p:nvSpPr>
        <p:spPr>
          <a:xfrm>
            <a:off x="812800" y="112772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4233D"/>
                </a:solidFill>
                <a:latin typeface="Georgia" pitchFamily="18" charset="0"/>
                <a:ea typeface="Georgia" pitchFamily="18" charset="-122"/>
                <a:cs typeface="Georgia" pitchFamily="18" charset="-120"/>
              </a:rPr>
              <a:t>Your team owns the workflow</a:t>
            </a:r>
            <a:endParaRPr lang="en-US" sz="3400" dirty="0"/>
          </a:p>
        </p:txBody>
      </p:sp>
      <p:sp>
        <p:nvSpPr>
          <p:cNvPr id="4" name="Shape 2"/>
          <p:cNvSpPr/>
          <p:nvPr/>
        </p:nvSpPr>
        <p:spPr>
          <a:xfrm>
            <a:off x="815975" y="1885255"/>
            <a:ext cx="5200650" cy="1014611"/>
          </a:xfrm>
          <a:prstGeom prst="roundRect">
            <a:avLst>
              <a:gd name="adj" fmla="val 9701"/>
            </a:avLst>
          </a:prstGeom>
          <a:solidFill>
            <a:srgbClr val="FFFFFF"/>
          </a:solidFill>
          <a:ln w="6350">
            <a:solidFill>
              <a:srgbClr val="E3E6E4"/>
            </a:solidFill>
            <a:prstDash val="solid"/>
          </a:ln>
        </p:spPr>
        <p:txBody>
          <a:bodyPr/>
          <a:lstStyle/>
          <a:p>
            <a:endParaRPr lang="en-US"/>
          </a:p>
        </p:txBody>
      </p:sp>
      <p:sp>
        <p:nvSpPr>
          <p:cNvPr id="5" name="Text 3"/>
          <p:cNvSpPr/>
          <p:nvPr/>
        </p:nvSpPr>
        <p:spPr>
          <a:xfrm>
            <a:off x="1047750" y="2117030"/>
            <a:ext cx="487921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33D"/>
                </a:solidFill>
                <a:latin typeface="Arial" pitchFamily="34" charset="0"/>
                <a:ea typeface="Arial" pitchFamily="34" charset="-122"/>
                <a:cs typeface="Arial" pitchFamily="34" charset="-120"/>
              </a:rPr>
              <a:t>Edit the rules in the app</a:t>
            </a:r>
            <a:endParaRPr lang="en-US" sz="1600" dirty="0"/>
          </a:p>
        </p:txBody>
      </p:sp>
      <p:sp>
        <p:nvSpPr>
          <p:cNvPr id="6" name="Text 4"/>
          <p:cNvSpPr/>
          <p:nvPr/>
        </p:nvSpPr>
        <p:spPr>
          <a:xfrm>
            <a:off x="1047750" y="2437011"/>
            <a:ext cx="487921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46B"/>
                </a:solidFill>
                <a:latin typeface="Arial" pitchFamily="34" charset="0"/>
                <a:ea typeface="Arial" pitchFamily="34" charset="-122"/>
                <a:cs typeface="Arial" pitchFamily="34" charset="-120"/>
              </a:rPr>
              <a:t>Taxonomy, routing queues, flags and thresholds — not code.</a:t>
            </a:r>
            <a:endParaRPr lang="en-US" sz="1300" dirty="0"/>
          </a:p>
        </p:txBody>
      </p:sp>
      <p:sp>
        <p:nvSpPr>
          <p:cNvPr id="7" name="Shape 5"/>
          <p:cNvSpPr/>
          <p:nvPr/>
        </p:nvSpPr>
        <p:spPr>
          <a:xfrm>
            <a:off x="6175375" y="1885255"/>
            <a:ext cx="5200650" cy="1014611"/>
          </a:xfrm>
          <a:prstGeom prst="roundRect">
            <a:avLst>
              <a:gd name="adj" fmla="val 9701"/>
            </a:avLst>
          </a:prstGeom>
          <a:solidFill>
            <a:srgbClr val="FFFFFF"/>
          </a:solidFill>
          <a:ln w="6350">
            <a:solidFill>
              <a:srgbClr val="E3E6E4"/>
            </a:solidFill>
            <a:prstDash val="solid"/>
          </a:ln>
        </p:spPr>
        <p:txBody>
          <a:bodyPr/>
          <a:lstStyle/>
          <a:p>
            <a:endParaRPr lang="en-US"/>
          </a:p>
        </p:txBody>
      </p:sp>
      <p:sp>
        <p:nvSpPr>
          <p:cNvPr id="8" name="Text 6"/>
          <p:cNvSpPr/>
          <p:nvPr/>
        </p:nvSpPr>
        <p:spPr>
          <a:xfrm>
            <a:off x="6407150" y="2117030"/>
            <a:ext cx="487921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33D"/>
                </a:solidFill>
                <a:latin typeface="Arial" pitchFamily="34" charset="0"/>
                <a:ea typeface="Arial" pitchFamily="34" charset="-122"/>
                <a:cs typeface="Arial" pitchFamily="34" charset="-120"/>
              </a:rPr>
              <a:t>Preview before you commit</a:t>
            </a:r>
            <a:endParaRPr lang="en-US" sz="1600" dirty="0"/>
          </a:p>
        </p:txBody>
      </p:sp>
      <p:sp>
        <p:nvSpPr>
          <p:cNvPr id="9" name="Text 7"/>
          <p:cNvSpPr/>
          <p:nvPr/>
        </p:nvSpPr>
        <p:spPr>
          <a:xfrm>
            <a:off x="6407150" y="2437011"/>
            <a:ext cx="487921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46B"/>
                </a:solidFill>
                <a:latin typeface="Arial" pitchFamily="34" charset="0"/>
                <a:ea typeface="Arial" pitchFamily="34" charset="-122"/>
                <a:cs typeface="Arial" pitchFamily="34" charset="-120"/>
              </a:rPr>
              <a:t>See which real cases move — before the change goes live.</a:t>
            </a:r>
            <a:endParaRPr lang="en-US" sz="1300" dirty="0"/>
          </a:p>
        </p:txBody>
      </p:sp>
      <p:sp>
        <p:nvSpPr>
          <p:cNvPr id="10" name="Shape 8"/>
          <p:cNvSpPr/>
          <p:nvPr/>
        </p:nvSpPr>
        <p:spPr>
          <a:xfrm>
            <a:off x="815975" y="3058616"/>
            <a:ext cx="5200650" cy="1014611"/>
          </a:xfrm>
          <a:prstGeom prst="roundRect">
            <a:avLst>
              <a:gd name="adj" fmla="val 9701"/>
            </a:avLst>
          </a:prstGeom>
          <a:solidFill>
            <a:srgbClr val="FFFFFF"/>
          </a:solidFill>
          <a:ln w="6350">
            <a:solidFill>
              <a:srgbClr val="E3E6E4"/>
            </a:solidFill>
            <a:prstDash val="solid"/>
          </a:ln>
        </p:spPr>
        <p:txBody>
          <a:bodyPr/>
          <a:lstStyle/>
          <a:p>
            <a:endParaRPr lang="en-US"/>
          </a:p>
        </p:txBody>
      </p:sp>
      <p:sp>
        <p:nvSpPr>
          <p:cNvPr id="11" name="Text 9"/>
          <p:cNvSpPr/>
          <p:nvPr/>
        </p:nvSpPr>
        <p:spPr>
          <a:xfrm>
            <a:off x="1047750" y="3290391"/>
            <a:ext cx="487921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33D"/>
                </a:solidFill>
                <a:latin typeface="Arial" pitchFamily="34" charset="0"/>
                <a:ea typeface="Arial" pitchFamily="34" charset="-122"/>
                <a:cs typeface="Arial" pitchFamily="34" charset="-120"/>
              </a:rPr>
              <a:t>Versioned + rollback</a:t>
            </a:r>
            <a:endParaRPr lang="en-US" sz="1600" dirty="0"/>
          </a:p>
        </p:txBody>
      </p:sp>
      <p:sp>
        <p:nvSpPr>
          <p:cNvPr id="12" name="Text 10"/>
          <p:cNvSpPr/>
          <p:nvPr/>
        </p:nvSpPr>
        <p:spPr>
          <a:xfrm>
            <a:off x="1047750" y="3610372"/>
            <a:ext cx="487921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46B"/>
                </a:solidFill>
                <a:latin typeface="Arial" pitchFamily="34" charset="0"/>
                <a:ea typeface="Arial" pitchFamily="34" charset="-122"/>
                <a:cs typeface="Arial" pitchFamily="34" charset="-120"/>
              </a:rPr>
              <a:t>Every change is a version; undo a bad one in one click.</a:t>
            </a:r>
            <a:endParaRPr lang="en-US" sz="1300" dirty="0"/>
          </a:p>
        </p:txBody>
      </p:sp>
      <p:sp>
        <p:nvSpPr>
          <p:cNvPr id="13" name="Shape 11"/>
          <p:cNvSpPr/>
          <p:nvPr/>
        </p:nvSpPr>
        <p:spPr>
          <a:xfrm>
            <a:off x="6175375" y="3058616"/>
            <a:ext cx="5200650" cy="1014611"/>
          </a:xfrm>
          <a:prstGeom prst="roundRect">
            <a:avLst>
              <a:gd name="adj" fmla="val 9701"/>
            </a:avLst>
          </a:prstGeom>
          <a:solidFill>
            <a:srgbClr val="FFFFFF"/>
          </a:solidFill>
          <a:ln w="6350">
            <a:solidFill>
              <a:srgbClr val="E3E6E4"/>
            </a:solidFill>
            <a:prstDash val="solid"/>
          </a:ln>
        </p:spPr>
        <p:txBody>
          <a:bodyPr/>
          <a:lstStyle/>
          <a:p>
            <a:endParaRPr lang="en-US"/>
          </a:p>
        </p:txBody>
      </p:sp>
      <p:sp>
        <p:nvSpPr>
          <p:cNvPr id="14" name="Text 12"/>
          <p:cNvSpPr/>
          <p:nvPr/>
        </p:nvSpPr>
        <p:spPr>
          <a:xfrm>
            <a:off x="6407150" y="3290391"/>
            <a:ext cx="487921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33D"/>
                </a:solidFill>
                <a:latin typeface="Arial" pitchFamily="34" charset="0"/>
                <a:ea typeface="Arial" pitchFamily="34" charset="-122"/>
                <a:cs typeface="Arial" pitchFamily="34" charset="-120"/>
              </a:rPr>
              <a:t>No engineering ticket</a:t>
            </a:r>
            <a:endParaRPr lang="en-US" sz="1600" dirty="0"/>
          </a:p>
        </p:txBody>
      </p:sp>
      <p:sp>
        <p:nvSpPr>
          <p:cNvPr id="15" name="Text 13"/>
          <p:cNvSpPr/>
          <p:nvPr/>
        </p:nvSpPr>
        <p:spPr>
          <a:xfrm>
            <a:off x="6407150" y="3610372"/>
            <a:ext cx="487921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46B"/>
                </a:solidFill>
                <a:latin typeface="Arial" pitchFamily="34" charset="0"/>
                <a:ea typeface="Arial" pitchFamily="34" charset="-122"/>
                <a:cs typeface="Arial" pitchFamily="34" charset="-120"/>
              </a:rPr>
              <a:t>Change triage in minutes, not in a sprint.</a:t>
            </a:r>
            <a:endParaRPr lang="en-US" sz="1300" dirty="0"/>
          </a:p>
        </p:txBody>
      </p:sp>
      <p:sp>
        <p:nvSpPr>
          <p:cNvPr id="16" name="Shape 14"/>
          <p:cNvSpPr/>
          <p:nvPr/>
        </p:nvSpPr>
        <p:spPr>
          <a:xfrm>
            <a:off x="812800" y="4355802"/>
            <a:ext cx="10566400" cy="1492647"/>
          </a:xfrm>
          <a:prstGeom prst="roundRect">
            <a:avLst>
              <a:gd name="adj" fmla="val 6807"/>
            </a:avLst>
          </a:prstGeom>
          <a:solidFill>
            <a:srgbClr val="14233D"/>
          </a:solidFill>
          <a:ln/>
        </p:spPr>
        <p:txBody>
          <a:bodyPr/>
          <a:lstStyle/>
          <a:p>
            <a:endParaRPr lang="en-US"/>
          </a:p>
        </p:txBody>
      </p:sp>
      <p:sp>
        <p:nvSpPr>
          <p:cNvPr id="17" name="Text 15"/>
          <p:cNvSpPr/>
          <p:nvPr/>
        </p:nvSpPr>
        <p:spPr>
          <a:xfrm>
            <a:off x="1066800" y="4584402"/>
            <a:ext cx="1036015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7FD1BE"/>
                </a:solidFill>
                <a:latin typeface="Arial" pitchFamily="34" charset="0"/>
                <a:ea typeface="Arial" pitchFamily="34" charset="-122"/>
                <a:cs typeface="Arial" pitchFamily="34" charset="-120"/>
              </a:rPr>
              <a:t>New: describe a flag in plain words — the AI judges it</a:t>
            </a:r>
            <a:endParaRPr lang="en-US" sz="1500" dirty="0"/>
          </a:p>
        </p:txBody>
      </p:sp>
      <p:sp>
        <p:nvSpPr>
          <p:cNvPr id="18" name="Text 16"/>
          <p:cNvSpPr/>
          <p:nvPr/>
        </p:nvSpPr>
        <p:spPr>
          <a:xfrm>
            <a:off x="1066800" y="4901902"/>
            <a:ext cx="10360152"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7DCE6"/>
                </a:solidFill>
                <a:latin typeface="Arial" pitchFamily="34" charset="0"/>
                <a:ea typeface="Arial" pitchFamily="34" charset="-122"/>
                <a:cs typeface="Arial" pitchFamily="34" charset="-120"/>
              </a:rPr>
              <a:t>A flag can fire on </a:t>
            </a:r>
            <a:r>
              <a:rPr lang="en-US" sz="1300" b="1" dirty="0">
                <a:solidFill>
                  <a:srgbClr val="D7DCE6"/>
                </a:solidFill>
                <a:latin typeface="Arial" pitchFamily="34" charset="0"/>
                <a:ea typeface="Arial" pitchFamily="34" charset="-122"/>
                <a:cs typeface="Arial" pitchFamily="34" charset="-120"/>
              </a:rPr>
              <a:t>keywords</a:t>
            </a:r>
            <a:r>
              <a:rPr lang="en-US" sz="1300" dirty="0">
                <a:solidFill>
                  <a:srgbClr val="D7DCE6"/>
                </a:solidFill>
                <a:latin typeface="Arial" pitchFamily="34" charset="0"/>
                <a:ea typeface="Arial" pitchFamily="34" charset="-122"/>
                <a:cs typeface="Arial" pitchFamily="34" charset="-120"/>
              </a:rPr>
              <a:t>, a fixed </a:t>
            </a:r>
            <a:r>
              <a:rPr lang="en-US" sz="1300" b="1" dirty="0">
                <a:solidFill>
                  <a:srgbClr val="D7DCE6"/>
                </a:solidFill>
                <a:latin typeface="Arial" pitchFamily="34" charset="0"/>
                <a:ea typeface="Arial" pitchFamily="34" charset="-122"/>
                <a:cs typeface="Arial" pitchFamily="34" charset="-120"/>
              </a:rPr>
              <a:t>built-in condition</a:t>
            </a:r>
            <a:r>
              <a:rPr lang="en-US" sz="1300" dirty="0">
                <a:solidFill>
                  <a:srgbClr val="D7DCE6"/>
                </a:solidFill>
                <a:latin typeface="Arial" pitchFamily="34" charset="0"/>
                <a:ea typeface="Arial" pitchFamily="34" charset="-122"/>
                <a:cs typeface="Arial" pitchFamily="34" charset="-120"/>
              </a:rPr>
              <a:t> (amount over a threshold, a death inside the contestability window), or a </a:t>
            </a:r>
            <a:r>
              <a:rPr lang="en-US" sz="1300" b="1" dirty="0">
                <a:solidFill>
                  <a:srgbClr val="D7DCE6"/>
                </a:solidFill>
                <a:latin typeface="Arial" pitchFamily="34" charset="0"/>
                <a:ea typeface="Arial" pitchFamily="34" charset="-122"/>
                <a:cs typeface="Arial" pitchFamily="34" charset="-120"/>
              </a:rPr>
              <a:t>natural-language rule the model judges</a:t>
            </a:r>
            <a:r>
              <a:rPr lang="en-US" sz="1300" dirty="0">
                <a:solidFill>
                  <a:srgbClr val="D7DCE6"/>
                </a:solidFill>
                <a:latin typeface="Arial" pitchFamily="34" charset="0"/>
                <a:ea typeface="Arial" pitchFamily="34" charset="-122"/>
                <a:cs typeface="Arial" pitchFamily="34" charset="-120"/>
              </a:rPr>
              <a:t> — </a:t>
            </a:r>
            <a:r>
              <a:rPr lang="en-US" sz="1300" i="1" dirty="0">
                <a:solidFill>
                  <a:srgbClr val="D7DCE6"/>
                </a:solidFill>
                <a:latin typeface="Arial" pitchFamily="34" charset="0"/>
                <a:ea typeface="Arial" pitchFamily="34" charset="-122"/>
                <a:cs typeface="Arial" pitchFamily="34" charset="-120"/>
              </a:rPr>
              <a:t>"flag anything that reads like possible arson."</a:t>
            </a:r>
            <a:r>
              <a:rPr lang="en-US" sz="1300" dirty="0">
                <a:solidFill>
                  <a:srgbClr val="D7DCE6"/>
                </a:solidFill>
                <a:latin typeface="Arial" pitchFamily="34" charset="0"/>
                <a:ea typeface="Arial" pitchFamily="34" charset="-122"/>
                <a:cs typeface="Arial" pitchFamily="34" charset="-120"/>
              </a:rPr>
              <a:t> The AI decides only </a:t>
            </a:r>
            <a:r>
              <a:rPr lang="en-US" sz="1300" b="1" dirty="0">
                <a:solidFill>
                  <a:srgbClr val="D7DCE6"/>
                </a:solidFill>
                <a:latin typeface="Arial" pitchFamily="34" charset="0"/>
                <a:ea typeface="Arial" pitchFamily="34" charset="-122"/>
                <a:cs typeface="Arial" pitchFamily="34" charset="-120"/>
              </a:rPr>
              <a:t>whether</a:t>
            </a:r>
            <a:r>
              <a:rPr lang="en-US" sz="1300" dirty="0">
                <a:solidFill>
                  <a:srgbClr val="D7DCE6"/>
                </a:solidFill>
                <a:latin typeface="Arial" pitchFamily="34" charset="0"/>
                <a:ea typeface="Arial" pitchFamily="34" charset="-122"/>
                <a:cs typeface="Arial" pitchFamily="34" charset="-120"/>
              </a:rPr>
              <a:t> it applies; the </a:t>
            </a:r>
            <a:r>
              <a:rPr lang="en-US" sz="1300" b="1" dirty="0">
                <a:solidFill>
                  <a:srgbClr val="D7DCE6"/>
                </a:solidFill>
                <a:latin typeface="Arial" pitchFamily="34" charset="0"/>
                <a:ea typeface="Arial" pitchFamily="34" charset="-122"/>
                <a:cs typeface="Arial" pitchFamily="34" charset="-120"/>
              </a:rPr>
              <a:t>effect</a:t>
            </a:r>
            <a:r>
              <a:rPr lang="en-US" sz="1300" dirty="0">
                <a:solidFill>
                  <a:srgbClr val="D7DCE6"/>
                </a:solidFill>
                <a:latin typeface="Arial" pitchFamily="34" charset="0"/>
                <a:ea typeface="Arial" pitchFamily="34" charset="-122"/>
                <a:cs typeface="Arial" pitchFamily="34" charset="-120"/>
              </a:rPr>
              <a:t> — which queue, what severity, that a human reviews — stays deterministic config.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FAILURE MODES</a:t>
            </a:r>
            <a:endParaRPr lang="en-US" sz="1200" dirty="0"/>
          </a:p>
        </p:txBody>
      </p:sp>
      <p:sp>
        <p:nvSpPr>
          <p:cNvPr id="3" name="Text 1"/>
          <p:cNvSpPr>
            <a:spLocks noGrp="1"/>
          </p:cNvSpPr>
          <p:nvPr>
            <p:ph type="title"/>
          </p:nvPr>
        </p:nvSpPr>
        <p:spPr>
          <a:xfrm>
            <a:off x="812800" y="112772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4233D"/>
                </a:solidFill>
                <a:latin typeface="Georgia" pitchFamily="18" charset="0"/>
                <a:ea typeface="Georgia" pitchFamily="18" charset="-122"/>
                <a:cs typeface="Georgia" pitchFamily="18" charset="-120"/>
              </a:rPr>
              <a:t>Built for when things go wrong</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20180"/>
          <a:ext cx="10553700" cy="3966768"/>
        </p:xfrm>
        <a:graphic>
          <a:graphicData uri="http://schemas.openxmlformats.org/drawingml/2006/table">
            <a:tbl>
              <a:tblPr/>
              <a:tblGrid>
                <a:gridCol w="4643628">
                  <a:extLst>
                    <a:ext uri="{9D8B030D-6E8A-4147-A177-3AD203B41FA5}">
                      <a16:colId xmlns:a16="http://schemas.microsoft.com/office/drawing/2014/main" val="20000"/>
                    </a:ext>
                  </a:extLst>
                </a:gridCol>
                <a:gridCol w="5910072">
                  <a:extLst>
                    <a:ext uri="{9D8B030D-6E8A-4147-A177-3AD203B41FA5}">
                      <a16:colId xmlns:a16="http://schemas.microsoft.com/office/drawing/2014/main" val="20001"/>
                    </a:ext>
                  </a:extLst>
                </a:gridCol>
              </a:tblGrid>
              <a:tr h="464741">
                <a:tc>
                  <a:txBody>
                    <a:bodyPr/>
                    <a:lstStyle/>
                    <a:p>
                      <a:pPr marL="0" indent="0">
                        <a:lnSpc>
                          <a:spcPts val="1960"/>
                        </a:lnSpc>
                        <a:buNone/>
                      </a:pPr>
                      <a:r>
                        <a:rPr lang="en-US" sz="1400" b="1" dirty="0">
                          <a:solidFill>
                            <a:srgbClr val="FFFFFF"/>
                          </a:solidFill>
                          <a:latin typeface="Arial" pitchFamily="34" charset="0"/>
                          <a:ea typeface="Arial" pitchFamily="34" charset="-122"/>
                          <a:cs typeface="Arial" pitchFamily="34" charset="-120"/>
                        </a:rPr>
                        <a:t>When this happens…</a:t>
                      </a:r>
                      <a:endParaRPr lang="en-US" sz="1400" dirty="0">
                        <a:latin typeface="Arial" charset="0"/>
                        <a:ea typeface="Arial" charset="0"/>
                        <a:cs typeface="Arial" charset="0"/>
                      </a:endParaRPr>
                    </a:p>
                  </a:txBody>
                  <a:tcPr marL="152400" marR="152400" marT="101600" marB="101600">
                    <a:lnL w="12700" cap="flat" cmpd="sng" algn="ctr">
                      <a:solidFill>
                        <a:srgbClr val="C8C8C6"/>
                      </a:solidFill>
                      <a:prstDash val="solid"/>
                      <a:round/>
                      <a:headEnd type="none" w="med" len="med"/>
                      <a:tailEnd type="none" w="med" len="med"/>
                    </a:lnL>
                    <a:lnR w="12700" cap="flat" cmpd="sng" algn="ctr">
                      <a:solidFill>
                        <a:srgbClr val="1420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2034"/>
                      </a:solidFill>
                      <a:prstDash val="solid"/>
                      <a:round/>
                      <a:headEnd type="none" w="med" len="med"/>
                      <a:tailEnd type="none" w="med" len="med"/>
                    </a:lnB>
                    <a:solidFill>
                      <a:srgbClr val="14233D"/>
                    </a:solidFill>
                  </a:tcPr>
                </a:tc>
                <a:tc>
                  <a:txBody>
                    <a:bodyPr/>
                    <a:lstStyle/>
                    <a:p>
                      <a:pPr marL="0" indent="0">
                        <a:lnSpc>
                          <a:spcPts val="1960"/>
                        </a:lnSpc>
                        <a:buNone/>
                      </a:pPr>
                      <a:r>
                        <a:rPr lang="en-US" sz="1400" b="1" dirty="0">
                          <a:solidFill>
                            <a:srgbClr val="FFFFFF"/>
                          </a:solidFill>
                          <a:latin typeface="Arial" pitchFamily="34" charset="0"/>
                          <a:ea typeface="Arial" pitchFamily="34" charset="-122"/>
                          <a:cs typeface="Arial" pitchFamily="34" charset="-120"/>
                        </a:rPr>
                        <a:t>…this is what the system does</a:t>
                      </a:r>
                      <a:endParaRPr lang="en-US" sz="1400" dirty="0">
                        <a:latin typeface="Arial" charset="0"/>
                        <a:ea typeface="Arial" charset="0"/>
                        <a:cs typeface="Arial" charset="0"/>
                      </a:endParaRPr>
                    </a:p>
                  </a:txBody>
                  <a:tcPr marL="152400" marR="152400" marT="101600" marB="101600">
                    <a:lnL w="12700" cap="flat" cmpd="sng" algn="ctr">
                      <a:solidFill>
                        <a:srgbClr val="142034"/>
                      </a:solidFill>
                      <a:prstDash val="solid"/>
                      <a:round/>
                      <a:headEnd type="none" w="med" len="med"/>
                      <a:tailEnd type="none" w="med" len="med"/>
                    </a:lnL>
                    <a:lnR w="12700" cap="flat" cmpd="sng" algn="ctr">
                      <a:solidFill>
                        <a:srgbClr val="1420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2034"/>
                      </a:solidFill>
                      <a:prstDash val="solid"/>
                      <a:round/>
                      <a:headEnd type="none" w="med" len="med"/>
                      <a:tailEnd type="none" w="med" len="med"/>
                    </a:lnB>
                    <a:solidFill>
                      <a:srgbClr val="14233D"/>
                    </a:solidFill>
                  </a:tcPr>
                </a:tc>
                <a:extLst>
                  <a:ext uri="{0D108BD9-81ED-4DB2-BD59-A6C34878D82A}">
                    <a16:rowId xmlns:a16="http://schemas.microsoft.com/office/drawing/2014/main" val="10000"/>
                  </a:ext>
                </a:extLst>
              </a:tr>
              <a:tr h="464741">
                <a:tc>
                  <a:txBody>
                    <a:bodyPr/>
                    <a:lstStyle/>
                    <a:p>
                      <a:pPr marL="0" indent="0">
                        <a:lnSpc>
                          <a:spcPts val="1960"/>
                        </a:lnSpc>
                        <a:buNone/>
                      </a:pPr>
                      <a:r>
                        <a:rPr lang="en-US" sz="1400" dirty="0">
                          <a:solidFill>
                            <a:srgbClr val="14233D"/>
                          </a:solidFill>
                          <a:latin typeface="Arial" pitchFamily="34" charset="0"/>
                          <a:ea typeface="Arial" pitchFamily="34" charset="-122"/>
                          <a:cs typeface="Arial" pitchFamily="34" charset="-120"/>
                        </a:rPr>
                        <a:t>Model returns invalid output</a:t>
                      </a:r>
                      <a:endParaRPr lang="en-US" sz="1400" dirty="0">
                        <a:latin typeface="Arial" charset="0"/>
                        <a:ea typeface="Arial" charset="0"/>
                        <a:cs typeface="Arial" charset="0"/>
                      </a:endParaRPr>
                    </a:p>
                  </a:txBody>
                  <a:tcPr marL="152400" marR="152400" marT="101600" marB="101600">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20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960"/>
                        </a:lnSpc>
                        <a:buNone/>
                      </a:pPr>
                      <a:r>
                        <a:rPr lang="en-US" sz="1400" dirty="0">
                          <a:solidFill>
                            <a:srgbClr val="47546B"/>
                          </a:solidFill>
                          <a:latin typeface="Arial" pitchFamily="34" charset="0"/>
                          <a:ea typeface="Arial" pitchFamily="34" charset="-122"/>
                          <a:cs typeface="Arial" pitchFamily="34" charset="-120"/>
                        </a:rPr>
                        <a:t>One retry, then sent to manual intake</a:t>
                      </a:r>
                      <a:endParaRPr lang="en-US" sz="1400" dirty="0">
                        <a:latin typeface="Arial" charset="0"/>
                        <a:ea typeface="Arial" charset="0"/>
                        <a:cs typeface="Arial" charset="0"/>
                      </a:endParaRPr>
                    </a:p>
                  </a:txBody>
                  <a:tcPr marL="152400" marR="1524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20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4741">
                <a:tc>
                  <a:txBody>
                    <a:bodyPr/>
                    <a:lstStyle/>
                    <a:p>
                      <a:pPr marL="0" indent="0">
                        <a:lnSpc>
                          <a:spcPts val="1960"/>
                        </a:lnSpc>
                        <a:buNone/>
                      </a:pPr>
                      <a:r>
                        <a:rPr lang="en-US" sz="1400" dirty="0">
                          <a:solidFill>
                            <a:srgbClr val="14233D"/>
                          </a:solidFill>
                          <a:latin typeface="Arial" pitchFamily="34" charset="0"/>
                          <a:ea typeface="Arial" pitchFamily="34" charset="-122"/>
                          <a:cs typeface="Arial" pitchFamily="34" charset="-120"/>
                        </a:rPr>
                        <a:t>Model slow or unavailable</a:t>
                      </a:r>
                      <a:endParaRPr lang="en-US" sz="1400" dirty="0">
                        <a:latin typeface="Arial" charset="0"/>
                        <a:ea typeface="Arial" charset="0"/>
                        <a:cs typeface="Arial" charset="0"/>
                      </a:endParaRPr>
                    </a:p>
                  </a:txBody>
                  <a:tcPr marL="152400" marR="152400" marT="101600" marB="101600">
                    <a:lnL w="12700" cap="flat" cmpd="sng" algn="ctr">
                      <a:solidFill>
                        <a:srgbClr val="C8C8C6"/>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1960"/>
                        </a:lnSpc>
                        <a:buNone/>
                      </a:pPr>
                      <a:r>
                        <a:rPr lang="en-US" sz="1400" dirty="0">
                          <a:solidFill>
                            <a:srgbClr val="47546B"/>
                          </a:solidFill>
                          <a:latin typeface="Arial" pitchFamily="34" charset="0"/>
                          <a:ea typeface="Arial" pitchFamily="34" charset="-122"/>
                          <a:cs typeface="Arial" pitchFamily="34" charset="-120"/>
                        </a:rPr>
                        <a:t>Retries, then falls back to the baseline, flagged for review</a:t>
                      </a:r>
                      <a:endParaRPr lang="en-US" sz="1400" dirty="0">
                        <a:latin typeface="Arial" charset="0"/>
                        <a:ea typeface="Arial" charset="0"/>
                        <a:cs typeface="Arial" charset="0"/>
                      </a:endParaRPr>
                    </a:p>
                  </a:txBody>
                  <a:tcPr marL="152400" marR="152400" marT="101600" marB="1016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extLst>
                  <a:ext uri="{0D108BD9-81ED-4DB2-BD59-A6C34878D82A}">
                    <a16:rowId xmlns:a16="http://schemas.microsoft.com/office/drawing/2014/main" val="10002"/>
                  </a:ext>
                </a:extLst>
              </a:tr>
              <a:tr h="464741">
                <a:tc>
                  <a:txBody>
                    <a:bodyPr/>
                    <a:lstStyle/>
                    <a:p>
                      <a:pPr marL="0" indent="0">
                        <a:lnSpc>
                          <a:spcPts val="1960"/>
                        </a:lnSpc>
                        <a:buNone/>
                      </a:pPr>
                      <a:r>
                        <a:rPr lang="en-US" sz="1400" dirty="0">
                          <a:solidFill>
                            <a:srgbClr val="14233D"/>
                          </a:solidFill>
                          <a:latin typeface="Arial" pitchFamily="34" charset="0"/>
                          <a:ea typeface="Arial" pitchFamily="34" charset="-122"/>
                          <a:cs typeface="Arial" pitchFamily="34" charset="-120"/>
                        </a:rPr>
                        <a:t>Document unreadable</a:t>
                      </a:r>
                      <a:endParaRPr lang="en-US" sz="1400" dirty="0">
                        <a:latin typeface="Arial" charset="0"/>
                        <a:ea typeface="Arial" charset="0"/>
                        <a:cs typeface="Arial" charset="0"/>
                      </a:endParaRPr>
                    </a:p>
                  </a:txBody>
                  <a:tcPr marL="152400" marR="152400" marT="101600" marB="101600">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960"/>
                        </a:lnSpc>
                        <a:buNone/>
                      </a:pPr>
                      <a:r>
                        <a:rPr lang="en-US" sz="1400" dirty="0">
                          <a:solidFill>
                            <a:srgbClr val="47546B"/>
                          </a:solidFill>
                          <a:latin typeface="Arial" pitchFamily="34" charset="0"/>
                          <a:ea typeface="Arial" pitchFamily="34" charset="-122"/>
                          <a:cs typeface="Arial" pitchFamily="34" charset="-120"/>
                        </a:rPr>
                        <a:t>Manual intake — never a confident guess</a:t>
                      </a:r>
                      <a:endParaRPr lang="en-US" sz="1400" dirty="0">
                        <a:latin typeface="Arial" charset="0"/>
                        <a:ea typeface="Arial" charset="0"/>
                        <a:cs typeface="Arial" charset="0"/>
                      </a:endParaRPr>
                    </a:p>
                  </a:txBody>
                  <a:tcPr marL="152400" marR="1524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4741">
                <a:tc>
                  <a:txBody>
                    <a:bodyPr/>
                    <a:lstStyle/>
                    <a:p>
                      <a:pPr marL="0" indent="0">
                        <a:lnSpc>
                          <a:spcPts val="1960"/>
                        </a:lnSpc>
                        <a:buNone/>
                      </a:pPr>
                      <a:r>
                        <a:rPr lang="en-US" sz="1400" dirty="0">
                          <a:solidFill>
                            <a:srgbClr val="14233D"/>
                          </a:solidFill>
                          <a:latin typeface="Arial" pitchFamily="34" charset="0"/>
                          <a:ea typeface="Arial" pitchFamily="34" charset="-122"/>
                          <a:cs typeface="Arial" pitchFamily="34" charset="-120"/>
                        </a:rPr>
                        <a:t>Low-confidence handwriting</a:t>
                      </a:r>
                      <a:endParaRPr lang="en-US" sz="1400" dirty="0">
                        <a:latin typeface="Arial" charset="0"/>
                        <a:ea typeface="Arial" charset="0"/>
                        <a:cs typeface="Arial" charset="0"/>
                      </a:endParaRPr>
                    </a:p>
                  </a:txBody>
                  <a:tcPr marL="152400" marR="152400" marT="101600" marB="101600">
                    <a:lnL w="12700" cap="flat" cmpd="sng" algn="ctr">
                      <a:solidFill>
                        <a:srgbClr val="C8C8C6"/>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1960"/>
                        </a:lnSpc>
                        <a:buNone/>
                      </a:pPr>
                      <a:r>
                        <a:rPr lang="en-US" sz="1400" dirty="0">
                          <a:solidFill>
                            <a:srgbClr val="47546B"/>
                          </a:solidFill>
                          <a:latin typeface="Arial" pitchFamily="34" charset="0"/>
                          <a:ea typeface="Arial" pitchFamily="34" charset="-122"/>
                          <a:cs typeface="Arial" pitchFamily="34" charset="-120"/>
                        </a:rPr>
                        <a:t>Fields marked "verify", pushed to a human</a:t>
                      </a:r>
                      <a:endParaRPr lang="en-US" sz="1400" dirty="0">
                        <a:latin typeface="Arial" charset="0"/>
                        <a:ea typeface="Arial" charset="0"/>
                        <a:cs typeface="Arial" charset="0"/>
                      </a:endParaRPr>
                    </a:p>
                  </a:txBody>
                  <a:tcPr marL="152400" marR="152400" marT="101600" marB="1016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extLst>
                  <a:ext uri="{0D108BD9-81ED-4DB2-BD59-A6C34878D82A}">
                    <a16:rowId xmlns:a16="http://schemas.microsoft.com/office/drawing/2014/main" val="10004"/>
                  </a:ext>
                </a:extLst>
              </a:tr>
              <a:tr h="464741">
                <a:tc>
                  <a:txBody>
                    <a:bodyPr/>
                    <a:lstStyle/>
                    <a:p>
                      <a:pPr marL="0" indent="0">
                        <a:lnSpc>
                          <a:spcPts val="1960"/>
                        </a:lnSpc>
                        <a:buNone/>
                      </a:pPr>
                      <a:r>
                        <a:rPr lang="en-US" sz="1400" dirty="0">
                          <a:solidFill>
                            <a:srgbClr val="14233D"/>
                          </a:solidFill>
                          <a:latin typeface="Arial" pitchFamily="34" charset="0"/>
                          <a:ea typeface="Arial" pitchFamily="34" charset="-122"/>
                          <a:cs typeface="Arial" pitchFamily="34" charset="-120"/>
                        </a:rPr>
                        <a:t>Instructions hidden in the text</a:t>
                      </a:r>
                      <a:endParaRPr lang="en-US" sz="1400" dirty="0">
                        <a:latin typeface="Arial" charset="0"/>
                        <a:ea typeface="Arial" charset="0"/>
                        <a:cs typeface="Arial" charset="0"/>
                      </a:endParaRPr>
                    </a:p>
                  </a:txBody>
                  <a:tcPr marL="152400" marR="152400" marT="101600" marB="101600">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960"/>
                        </a:lnSpc>
                        <a:buNone/>
                      </a:pPr>
                      <a:r>
                        <a:rPr lang="en-US" sz="1400" dirty="0">
                          <a:solidFill>
                            <a:srgbClr val="47546B"/>
                          </a:solidFill>
                          <a:latin typeface="Arial" pitchFamily="34" charset="0"/>
                          <a:ea typeface="Arial" pitchFamily="34" charset="-122"/>
                          <a:cs typeface="Arial" pitchFamily="34" charset="-120"/>
                        </a:rPr>
                        <a:t>Treated as data; rules and the human decide</a:t>
                      </a:r>
                      <a:endParaRPr lang="en-US" sz="1400" dirty="0">
                        <a:latin typeface="Arial" charset="0"/>
                        <a:ea typeface="Arial" charset="0"/>
                        <a:cs typeface="Arial" charset="0"/>
                      </a:endParaRPr>
                    </a:p>
                  </a:txBody>
                  <a:tcPr marL="152400" marR="1524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4741">
                <a:tc>
                  <a:txBody>
                    <a:bodyPr/>
                    <a:lstStyle/>
                    <a:p>
                      <a:pPr marL="0" indent="0">
                        <a:lnSpc>
                          <a:spcPts val="1960"/>
                        </a:lnSpc>
                        <a:buNone/>
                      </a:pPr>
                      <a:r>
                        <a:rPr lang="en-US" sz="1400" dirty="0">
                          <a:solidFill>
                            <a:srgbClr val="14233D"/>
                          </a:solidFill>
                          <a:latin typeface="Arial" pitchFamily="34" charset="0"/>
                          <a:ea typeface="Arial" pitchFamily="34" charset="-122"/>
                          <a:cs typeface="Arial" pitchFamily="34" charset="-120"/>
                        </a:rPr>
                        <a:t>Policy not found or lapsed</a:t>
                      </a:r>
                      <a:endParaRPr lang="en-US" sz="1400" dirty="0">
                        <a:latin typeface="Arial" charset="0"/>
                        <a:ea typeface="Arial" charset="0"/>
                        <a:cs typeface="Arial" charset="0"/>
                      </a:endParaRPr>
                    </a:p>
                  </a:txBody>
                  <a:tcPr marL="152400" marR="152400" marT="101600" marB="101600">
                    <a:lnL w="12700" cap="flat" cmpd="sng" algn="ctr">
                      <a:solidFill>
                        <a:srgbClr val="C8C8C6"/>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1960"/>
                        </a:lnSpc>
                        <a:buNone/>
                      </a:pPr>
                      <a:r>
                        <a:rPr lang="en-US" sz="1400" dirty="0">
                          <a:solidFill>
                            <a:srgbClr val="47546B"/>
                          </a:solidFill>
                          <a:latin typeface="Arial" pitchFamily="34" charset="0"/>
                          <a:ea typeface="Arial" pitchFamily="34" charset="-122"/>
                          <a:cs typeface="Arial" pitchFamily="34" charset="-120"/>
                        </a:rPr>
                        <a:t>Flagged and routed to a person to verify</a:t>
                      </a:r>
                      <a:endParaRPr lang="en-US" sz="1400" dirty="0">
                        <a:latin typeface="Arial" charset="0"/>
                        <a:ea typeface="Arial" charset="0"/>
                        <a:cs typeface="Arial" charset="0"/>
                      </a:endParaRPr>
                    </a:p>
                  </a:txBody>
                  <a:tcPr marL="152400" marR="152400" marT="101600" marB="1016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extLst>
                  <a:ext uri="{0D108BD9-81ED-4DB2-BD59-A6C34878D82A}">
                    <a16:rowId xmlns:a16="http://schemas.microsoft.com/office/drawing/2014/main" val="10006"/>
                  </a:ext>
                </a:extLst>
              </a:tr>
              <a:tr h="713581">
                <a:tc>
                  <a:txBody>
                    <a:bodyPr/>
                    <a:lstStyle/>
                    <a:p>
                      <a:pPr marL="0" indent="0">
                        <a:lnSpc>
                          <a:spcPts val="1960"/>
                        </a:lnSpc>
                        <a:buNone/>
                      </a:pPr>
                      <a:r>
                        <a:rPr lang="en-US" sz="1400" dirty="0">
                          <a:solidFill>
                            <a:srgbClr val="14233D"/>
                          </a:solidFill>
                          <a:latin typeface="Arial" pitchFamily="34" charset="0"/>
                          <a:ea typeface="Arial" pitchFamily="34" charset="-122"/>
                          <a:cs typeface="Arial" pitchFamily="34" charset="-120"/>
                        </a:rPr>
                        <a:t>AI raises a semantic flag (e.g. arson)</a:t>
                      </a:r>
                      <a:endParaRPr lang="en-US" sz="1400" dirty="0">
                        <a:latin typeface="Arial" charset="0"/>
                        <a:ea typeface="Arial" charset="0"/>
                        <a:cs typeface="Arial" charset="0"/>
                      </a:endParaRPr>
                    </a:p>
                  </a:txBody>
                  <a:tcPr marL="152400" marR="152400" marT="101600" marB="101600">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960"/>
                        </a:lnSpc>
                        <a:buNone/>
                      </a:pPr>
                      <a:r>
                        <a:rPr lang="en-US" sz="1400" dirty="0">
                          <a:solidFill>
                            <a:srgbClr val="47546B"/>
                          </a:solidFill>
                          <a:latin typeface="Arial" pitchFamily="34" charset="0"/>
                          <a:ea typeface="Arial" pitchFamily="34" charset="-122"/>
                          <a:cs typeface="Arial" pitchFamily="34" charset="-120"/>
                        </a:rPr>
                        <a:t>Advisory only — its effect is deterministic config; a human always decides</a:t>
                      </a:r>
                      <a:endParaRPr lang="en-US" sz="1400" dirty="0">
                        <a:latin typeface="Arial" charset="0"/>
                        <a:ea typeface="Arial" charset="0"/>
                        <a:cs typeface="Arial" charset="0"/>
                      </a:endParaRPr>
                    </a:p>
                  </a:txBody>
                  <a:tcPr marL="152400" marR="1524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LATENCY · COST · ACCURACY</a:t>
            </a:r>
            <a:endParaRPr lang="en-US" sz="1200" dirty="0"/>
          </a:p>
        </p:txBody>
      </p:sp>
      <p:sp>
        <p:nvSpPr>
          <p:cNvPr id="3" name="Text 1"/>
          <p:cNvSpPr>
            <a:spLocks noGrp="1"/>
          </p:cNvSpPr>
          <p:nvPr>
            <p:ph type="title"/>
          </p:nvPr>
        </p:nvSpPr>
        <p:spPr>
          <a:xfrm>
            <a:off x="812800" y="112772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4233D"/>
                </a:solidFill>
                <a:latin typeface="Georgia" pitchFamily="18" charset="0"/>
                <a:ea typeface="Georgia" pitchFamily="18" charset="-122"/>
                <a:cs typeface="Georgia" pitchFamily="18" charset="-120"/>
              </a:rPr>
              <a:t>The trade-offs, measured</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20180"/>
          <a:ext cx="10553700" cy="2842020"/>
        </p:xfrm>
        <a:graphic>
          <a:graphicData uri="http://schemas.openxmlformats.org/drawingml/2006/table">
            <a:tbl>
              <a:tblPr/>
              <a:tblGrid>
                <a:gridCol w="4854702">
                  <a:extLst>
                    <a:ext uri="{9D8B030D-6E8A-4147-A177-3AD203B41FA5}">
                      <a16:colId xmlns:a16="http://schemas.microsoft.com/office/drawing/2014/main" val="20000"/>
                    </a:ext>
                  </a:extLst>
                </a:gridCol>
                <a:gridCol w="2849499">
                  <a:extLst>
                    <a:ext uri="{9D8B030D-6E8A-4147-A177-3AD203B41FA5}">
                      <a16:colId xmlns:a16="http://schemas.microsoft.com/office/drawing/2014/main" val="20001"/>
                    </a:ext>
                  </a:extLst>
                </a:gridCol>
                <a:gridCol w="2849499">
                  <a:extLst>
                    <a:ext uri="{9D8B030D-6E8A-4147-A177-3AD203B41FA5}">
                      <a16:colId xmlns:a16="http://schemas.microsoft.com/office/drawing/2014/main" val="20002"/>
                    </a:ext>
                  </a:extLst>
                </a:gridCol>
              </a:tblGrid>
              <a:tr h="473670">
                <a:tc>
                  <a:txBody>
                    <a:bodyPr/>
                    <a:lstStyle/>
                    <a:p>
                      <a:pPr marL="0" indent="0">
                        <a:lnSpc>
                          <a:spcPts val="2030"/>
                        </a:lnSpc>
                        <a:buNone/>
                      </a:pPr>
                      <a:r>
                        <a:rPr lang="en-US" sz="1450" b="1" dirty="0">
                          <a:solidFill>
                            <a:srgbClr val="FFFFFF"/>
                          </a:solidFill>
                          <a:latin typeface="Arial" pitchFamily="34" charset="0"/>
                          <a:ea typeface="Arial" pitchFamily="34" charset="-122"/>
                          <a:cs typeface="Arial" pitchFamily="34" charset="-120"/>
                        </a:rPr>
                        <a:t>Metric</a:t>
                      </a:r>
                      <a:endParaRPr lang="en-US" sz="1450" dirty="0">
                        <a:latin typeface="Arial" charset="0"/>
                        <a:ea typeface="Arial" charset="0"/>
                        <a:cs typeface="Arial" charset="0"/>
                      </a:endParaRPr>
                    </a:p>
                  </a:txBody>
                  <a:tcPr marL="152400" marR="152400" marT="101600" marB="101600">
                    <a:lnL w="12700" cap="flat" cmpd="sng" algn="ctr">
                      <a:solidFill>
                        <a:srgbClr val="C8C8C6"/>
                      </a:solidFill>
                      <a:prstDash val="solid"/>
                      <a:round/>
                      <a:headEnd type="none" w="med" len="med"/>
                      <a:tailEnd type="none" w="med" len="med"/>
                    </a:lnL>
                    <a:lnR w="12700" cap="flat" cmpd="sng" algn="ctr">
                      <a:solidFill>
                        <a:srgbClr val="1420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2034"/>
                      </a:solidFill>
                      <a:prstDash val="solid"/>
                      <a:round/>
                      <a:headEnd type="none" w="med" len="med"/>
                      <a:tailEnd type="none" w="med" len="med"/>
                    </a:lnB>
                    <a:solidFill>
                      <a:srgbClr val="14233D"/>
                    </a:solidFill>
                  </a:tcPr>
                </a:tc>
                <a:tc>
                  <a:txBody>
                    <a:bodyPr/>
                    <a:lstStyle/>
                    <a:p>
                      <a:pPr marL="0" indent="0">
                        <a:lnSpc>
                          <a:spcPts val="2030"/>
                        </a:lnSpc>
                        <a:buNone/>
                      </a:pPr>
                      <a:r>
                        <a:rPr lang="en-US" sz="1450" b="1" dirty="0">
                          <a:solidFill>
                            <a:srgbClr val="FFFFFF"/>
                          </a:solidFill>
                          <a:latin typeface="Arial" pitchFamily="34" charset="0"/>
                          <a:ea typeface="Arial" pitchFamily="34" charset="-122"/>
                          <a:cs typeface="Arial" pitchFamily="34" charset="-120"/>
                        </a:rPr>
                        <a:t>Mock baseline</a:t>
                      </a:r>
                      <a:endParaRPr lang="en-US" sz="1450" dirty="0">
                        <a:latin typeface="Arial" charset="0"/>
                        <a:ea typeface="Arial" charset="0"/>
                        <a:cs typeface="Arial" charset="0"/>
                      </a:endParaRPr>
                    </a:p>
                  </a:txBody>
                  <a:tcPr marL="152400" marR="152400" marT="101600" marB="101600">
                    <a:lnL w="12700" cap="flat" cmpd="sng" algn="ctr">
                      <a:solidFill>
                        <a:srgbClr val="142034"/>
                      </a:solidFill>
                      <a:prstDash val="solid"/>
                      <a:round/>
                      <a:headEnd type="none" w="med" len="med"/>
                      <a:tailEnd type="none" w="med" len="med"/>
                    </a:lnL>
                    <a:lnR w="12700" cap="flat" cmpd="sng" algn="ctr">
                      <a:solidFill>
                        <a:srgbClr val="1420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2034"/>
                      </a:solidFill>
                      <a:prstDash val="solid"/>
                      <a:round/>
                      <a:headEnd type="none" w="med" len="med"/>
                      <a:tailEnd type="none" w="med" len="med"/>
                    </a:lnB>
                    <a:solidFill>
                      <a:srgbClr val="14233D"/>
                    </a:solidFill>
                  </a:tcPr>
                </a:tc>
                <a:tc>
                  <a:txBody>
                    <a:bodyPr/>
                    <a:lstStyle/>
                    <a:p>
                      <a:pPr marL="0" indent="0">
                        <a:lnSpc>
                          <a:spcPts val="2030"/>
                        </a:lnSpc>
                        <a:buNone/>
                      </a:pPr>
                      <a:r>
                        <a:rPr lang="en-US" sz="1450" b="1" dirty="0">
                          <a:solidFill>
                            <a:srgbClr val="FFFFFF"/>
                          </a:solidFill>
                          <a:latin typeface="Arial" pitchFamily="34" charset="0"/>
                          <a:ea typeface="Arial" pitchFamily="34" charset="-122"/>
                          <a:cs typeface="Arial" pitchFamily="34" charset="-120"/>
                        </a:rPr>
                        <a:t>ClaimSight</a:t>
                      </a:r>
                      <a:endParaRPr lang="en-US" sz="1450" dirty="0">
                        <a:latin typeface="Arial" charset="0"/>
                        <a:ea typeface="Arial" charset="0"/>
                        <a:cs typeface="Arial" charset="0"/>
                      </a:endParaRPr>
                    </a:p>
                  </a:txBody>
                  <a:tcPr marL="152400" marR="152400" marT="101600" marB="101600">
                    <a:lnL w="12700" cap="flat" cmpd="sng" algn="ctr">
                      <a:solidFill>
                        <a:srgbClr val="142034"/>
                      </a:solidFill>
                      <a:prstDash val="solid"/>
                      <a:round/>
                      <a:headEnd type="none" w="med" len="med"/>
                      <a:tailEnd type="none" w="med" len="med"/>
                    </a:lnL>
                    <a:lnR w="12700" cap="flat" cmpd="sng" algn="ctr">
                      <a:solidFill>
                        <a:srgbClr val="1420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2034"/>
                      </a:solidFill>
                      <a:prstDash val="solid"/>
                      <a:round/>
                      <a:headEnd type="none" w="med" len="med"/>
                      <a:tailEnd type="none" w="med" len="med"/>
                    </a:lnB>
                    <a:solidFill>
                      <a:srgbClr val="14233D"/>
                    </a:solidFill>
                  </a:tcPr>
                </a:tc>
                <a:extLst>
                  <a:ext uri="{0D108BD9-81ED-4DB2-BD59-A6C34878D82A}">
                    <a16:rowId xmlns:a16="http://schemas.microsoft.com/office/drawing/2014/main" val="10000"/>
                  </a:ext>
                </a:extLst>
              </a:tr>
              <a:tr h="473670">
                <a:tc>
                  <a:txBody>
                    <a:bodyPr/>
                    <a:lstStyle/>
                    <a:p>
                      <a:pPr marL="0" indent="0">
                        <a:lnSpc>
                          <a:spcPts val="2030"/>
                        </a:lnSpc>
                        <a:buNone/>
                      </a:pPr>
                      <a:r>
                        <a:rPr lang="en-US" sz="1450" dirty="0">
                          <a:solidFill>
                            <a:srgbClr val="14233D"/>
                          </a:solidFill>
                          <a:latin typeface="Arial" pitchFamily="34" charset="0"/>
                          <a:ea typeface="Arial" pitchFamily="34" charset="-122"/>
                          <a:cs typeface="Arial" pitchFamily="34" charset="-120"/>
                        </a:rPr>
                        <a:t>Extraction accuracy (F1)</a:t>
                      </a:r>
                      <a:endParaRPr lang="en-US" sz="1450" dirty="0">
                        <a:latin typeface="Arial" charset="0"/>
                        <a:ea typeface="Arial" charset="0"/>
                        <a:cs typeface="Arial" charset="0"/>
                      </a:endParaRPr>
                    </a:p>
                  </a:txBody>
                  <a:tcPr marL="152400" marR="152400" marT="101600" marB="101600">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20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2030"/>
                        </a:lnSpc>
                        <a:buNone/>
                      </a:pPr>
                      <a:r>
                        <a:rPr lang="en-US" sz="1450" dirty="0">
                          <a:solidFill>
                            <a:srgbClr val="47546B"/>
                          </a:solidFill>
                          <a:latin typeface="Arial" pitchFamily="34" charset="0"/>
                          <a:ea typeface="Arial" pitchFamily="34" charset="-122"/>
                          <a:cs typeface="Arial" pitchFamily="34" charset="-120"/>
                        </a:rPr>
                        <a:t>0.86</a:t>
                      </a:r>
                      <a:endParaRPr lang="en-US" sz="1450" dirty="0">
                        <a:latin typeface="Arial" charset="0"/>
                        <a:ea typeface="Arial" charset="0"/>
                        <a:cs typeface="Arial" charset="0"/>
                      </a:endParaRPr>
                    </a:p>
                  </a:txBody>
                  <a:tcPr marL="152400" marR="1524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20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2030"/>
                        </a:lnSpc>
                        <a:buNone/>
                      </a:pPr>
                      <a:r>
                        <a:rPr lang="en-US" sz="1450" dirty="0">
                          <a:solidFill>
                            <a:srgbClr val="0E7C66"/>
                          </a:solidFill>
                          <a:latin typeface="Arial" pitchFamily="34" charset="0"/>
                          <a:ea typeface="Arial" pitchFamily="34" charset="-122"/>
                          <a:cs typeface="Arial" pitchFamily="34" charset="-120"/>
                        </a:rPr>
                        <a:t>1.00</a:t>
                      </a:r>
                      <a:endParaRPr lang="en-US" sz="1450" dirty="0">
                        <a:latin typeface="Arial" charset="0"/>
                        <a:ea typeface="Arial" charset="0"/>
                        <a:cs typeface="Arial" charset="0"/>
                      </a:endParaRPr>
                    </a:p>
                  </a:txBody>
                  <a:tcPr marL="152400" marR="1524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20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3670">
                <a:tc>
                  <a:txBody>
                    <a:bodyPr/>
                    <a:lstStyle/>
                    <a:p>
                      <a:pPr marL="0" indent="0">
                        <a:lnSpc>
                          <a:spcPts val="2030"/>
                        </a:lnSpc>
                        <a:buNone/>
                      </a:pPr>
                      <a:r>
                        <a:rPr lang="en-US" sz="1450" dirty="0">
                          <a:solidFill>
                            <a:srgbClr val="14233D"/>
                          </a:solidFill>
                          <a:latin typeface="Arial" pitchFamily="34" charset="0"/>
                          <a:ea typeface="Arial" pitchFamily="34" charset="-122"/>
                          <a:cs typeface="Arial" pitchFamily="34" charset="-120"/>
                        </a:rPr>
                        <a:t>Routing accuracy</a:t>
                      </a:r>
                      <a:endParaRPr lang="en-US" sz="1450" dirty="0">
                        <a:latin typeface="Arial" charset="0"/>
                        <a:ea typeface="Arial" charset="0"/>
                        <a:cs typeface="Arial" charset="0"/>
                      </a:endParaRPr>
                    </a:p>
                  </a:txBody>
                  <a:tcPr marL="152400" marR="152400" marT="101600" marB="101600">
                    <a:lnL w="12700" cap="flat" cmpd="sng" algn="ctr">
                      <a:solidFill>
                        <a:srgbClr val="C8C8C6"/>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2030"/>
                        </a:lnSpc>
                        <a:buNone/>
                      </a:pPr>
                      <a:r>
                        <a:rPr lang="en-US" sz="1450" dirty="0">
                          <a:solidFill>
                            <a:srgbClr val="47546B"/>
                          </a:solidFill>
                          <a:latin typeface="Arial" pitchFamily="34" charset="0"/>
                          <a:ea typeface="Arial" pitchFamily="34" charset="-122"/>
                          <a:cs typeface="Arial" pitchFamily="34" charset="-120"/>
                        </a:rPr>
                        <a:t>0.47</a:t>
                      </a:r>
                      <a:endParaRPr lang="en-US" sz="1450" dirty="0">
                        <a:latin typeface="Arial" charset="0"/>
                        <a:ea typeface="Arial" charset="0"/>
                        <a:cs typeface="Arial" charset="0"/>
                      </a:endParaRPr>
                    </a:p>
                  </a:txBody>
                  <a:tcPr marL="152400" marR="152400" marT="101600" marB="1016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2030"/>
                        </a:lnSpc>
                        <a:buNone/>
                      </a:pPr>
                      <a:r>
                        <a:rPr lang="en-US" sz="1450" dirty="0">
                          <a:solidFill>
                            <a:srgbClr val="0E7C66"/>
                          </a:solidFill>
                          <a:latin typeface="Arial" pitchFamily="34" charset="0"/>
                          <a:ea typeface="Arial" pitchFamily="34" charset="-122"/>
                          <a:cs typeface="Arial" pitchFamily="34" charset="-120"/>
                        </a:rPr>
                        <a:t>0.88</a:t>
                      </a:r>
                      <a:endParaRPr lang="en-US" sz="1450" dirty="0">
                        <a:latin typeface="Arial" charset="0"/>
                        <a:ea typeface="Arial" charset="0"/>
                        <a:cs typeface="Arial" charset="0"/>
                      </a:endParaRPr>
                    </a:p>
                  </a:txBody>
                  <a:tcPr marL="152400" marR="152400" marT="101600" marB="1016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extLst>
                  <a:ext uri="{0D108BD9-81ED-4DB2-BD59-A6C34878D82A}">
                    <a16:rowId xmlns:a16="http://schemas.microsoft.com/office/drawing/2014/main" val="10002"/>
                  </a:ext>
                </a:extLst>
              </a:tr>
              <a:tr h="473670">
                <a:tc>
                  <a:txBody>
                    <a:bodyPr/>
                    <a:lstStyle/>
                    <a:p>
                      <a:pPr marL="0" indent="0">
                        <a:lnSpc>
                          <a:spcPts val="2030"/>
                        </a:lnSpc>
                        <a:buNone/>
                      </a:pPr>
                      <a:r>
                        <a:rPr lang="en-US" sz="1450" dirty="0">
                          <a:solidFill>
                            <a:srgbClr val="14233D"/>
                          </a:solidFill>
                          <a:latin typeface="Arial" pitchFamily="34" charset="0"/>
                          <a:ea typeface="Arial" pitchFamily="34" charset="-122"/>
                          <a:cs typeface="Arial" pitchFamily="34" charset="-120"/>
                        </a:rPr>
                        <a:t>Green precision</a:t>
                      </a:r>
                      <a:endParaRPr lang="en-US" sz="1450" dirty="0">
                        <a:latin typeface="Arial" charset="0"/>
                        <a:ea typeface="Arial" charset="0"/>
                        <a:cs typeface="Arial" charset="0"/>
                      </a:endParaRPr>
                    </a:p>
                  </a:txBody>
                  <a:tcPr marL="152400" marR="152400" marT="101600" marB="101600">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2030"/>
                        </a:lnSpc>
                        <a:buNone/>
                      </a:pPr>
                      <a:r>
                        <a:rPr lang="en-US" sz="1450" dirty="0">
                          <a:solidFill>
                            <a:srgbClr val="47546B"/>
                          </a:solidFill>
                          <a:latin typeface="Arial" pitchFamily="34" charset="0"/>
                          <a:ea typeface="Arial" pitchFamily="34" charset="-122"/>
                          <a:cs typeface="Arial" pitchFamily="34" charset="-120"/>
                        </a:rPr>
                        <a:t>n/a</a:t>
                      </a:r>
                      <a:endParaRPr lang="en-US" sz="1450" dirty="0">
                        <a:latin typeface="Arial" charset="0"/>
                        <a:ea typeface="Arial" charset="0"/>
                        <a:cs typeface="Arial" charset="0"/>
                      </a:endParaRPr>
                    </a:p>
                  </a:txBody>
                  <a:tcPr marL="152400" marR="1524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2030"/>
                        </a:lnSpc>
                        <a:buNone/>
                      </a:pPr>
                      <a:r>
                        <a:rPr lang="en-US" sz="1450" dirty="0">
                          <a:solidFill>
                            <a:srgbClr val="0E7C66"/>
                          </a:solidFill>
                          <a:latin typeface="Arial" pitchFamily="34" charset="0"/>
                          <a:ea typeface="Arial" pitchFamily="34" charset="-122"/>
                          <a:cs typeface="Arial" pitchFamily="34" charset="-120"/>
                        </a:rPr>
                        <a:t>1.00</a:t>
                      </a:r>
                      <a:endParaRPr lang="en-US" sz="1450" dirty="0">
                        <a:latin typeface="Arial" charset="0"/>
                        <a:ea typeface="Arial" charset="0"/>
                        <a:cs typeface="Arial" charset="0"/>
                      </a:endParaRPr>
                    </a:p>
                  </a:txBody>
                  <a:tcPr marL="152400" marR="1524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3670">
                <a:tc>
                  <a:txBody>
                    <a:bodyPr/>
                    <a:lstStyle/>
                    <a:p>
                      <a:pPr marL="0" indent="0">
                        <a:lnSpc>
                          <a:spcPts val="2030"/>
                        </a:lnSpc>
                        <a:buNone/>
                      </a:pPr>
                      <a:r>
                        <a:rPr lang="en-US" sz="1450" dirty="0">
                          <a:solidFill>
                            <a:srgbClr val="14233D"/>
                          </a:solidFill>
                          <a:latin typeface="Arial" pitchFamily="34" charset="0"/>
                          <a:ea typeface="Arial" pitchFamily="34" charset="-122"/>
                          <a:cs typeface="Arial" pitchFamily="34" charset="-120"/>
                        </a:rPr>
                        <a:t>Latency (median)</a:t>
                      </a:r>
                      <a:endParaRPr lang="en-US" sz="1450" dirty="0">
                        <a:latin typeface="Arial" charset="0"/>
                        <a:ea typeface="Arial" charset="0"/>
                        <a:cs typeface="Arial" charset="0"/>
                      </a:endParaRPr>
                    </a:p>
                  </a:txBody>
                  <a:tcPr marL="152400" marR="152400" marT="101600" marB="101600">
                    <a:lnL w="12700" cap="flat" cmpd="sng" algn="ctr">
                      <a:solidFill>
                        <a:srgbClr val="C8C8C6"/>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2030"/>
                        </a:lnSpc>
                        <a:buNone/>
                      </a:pPr>
                      <a:r>
                        <a:rPr lang="en-US" sz="1450" dirty="0">
                          <a:solidFill>
                            <a:srgbClr val="47546B"/>
                          </a:solidFill>
                          <a:latin typeface="Arial" pitchFamily="34" charset="0"/>
                          <a:ea typeface="Arial" pitchFamily="34" charset="-122"/>
                          <a:cs typeface="Arial" pitchFamily="34" charset="-120"/>
                        </a:rPr>
                        <a:t>&lt; 1 ms</a:t>
                      </a:r>
                      <a:endParaRPr lang="en-US" sz="1450" dirty="0">
                        <a:latin typeface="Arial" charset="0"/>
                        <a:ea typeface="Arial" charset="0"/>
                        <a:cs typeface="Arial" charset="0"/>
                      </a:endParaRPr>
                    </a:p>
                  </a:txBody>
                  <a:tcPr marL="152400" marR="152400" marT="101600" marB="1016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2030"/>
                        </a:lnSpc>
                        <a:buNone/>
                      </a:pPr>
                      <a:r>
                        <a:rPr lang="en-US" sz="1450" dirty="0">
                          <a:solidFill>
                            <a:srgbClr val="47546B"/>
                          </a:solidFill>
                          <a:latin typeface="Arial" pitchFamily="34" charset="0"/>
                          <a:ea typeface="Arial" pitchFamily="34" charset="-122"/>
                          <a:cs typeface="Arial" pitchFamily="34" charset="-120"/>
                        </a:rPr>
                        <a:t>~13 s</a:t>
                      </a:r>
                      <a:endParaRPr lang="en-US" sz="1450" dirty="0">
                        <a:latin typeface="Arial" charset="0"/>
                        <a:ea typeface="Arial" charset="0"/>
                        <a:cs typeface="Arial" charset="0"/>
                      </a:endParaRPr>
                    </a:p>
                  </a:txBody>
                  <a:tcPr marL="152400" marR="152400" marT="101600" marB="1016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extLst>
                  <a:ext uri="{0D108BD9-81ED-4DB2-BD59-A6C34878D82A}">
                    <a16:rowId xmlns:a16="http://schemas.microsoft.com/office/drawing/2014/main" val="10004"/>
                  </a:ext>
                </a:extLst>
              </a:tr>
              <a:tr h="473670">
                <a:tc>
                  <a:txBody>
                    <a:bodyPr/>
                    <a:lstStyle/>
                    <a:p>
                      <a:pPr marL="0" indent="0">
                        <a:lnSpc>
                          <a:spcPts val="2030"/>
                        </a:lnSpc>
                        <a:buNone/>
                      </a:pPr>
                      <a:r>
                        <a:rPr lang="en-US" sz="1450" dirty="0">
                          <a:solidFill>
                            <a:srgbClr val="14233D"/>
                          </a:solidFill>
                          <a:latin typeface="Arial" pitchFamily="34" charset="0"/>
                          <a:ea typeface="Arial" pitchFamily="34" charset="-122"/>
                          <a:cs typeface="Arial" pitchFamily="34" charset="-120"/>
                        </a:rPr>
                        <a:t>Cost per claim</a:t>
                      </a:r>
                      <a:endParaRPr lang="en-US" sz="1450" dirty="0">
                        <a:latin typeface="Arial" charset="0"/>
                        <a:ea typeface="Arial" charset="0"/>
                        <a:cs typeface="Arial" charset="0"/>
                      </a:endParaRPr>
                    </a:p>
                  </a:txBody>
                  <a:tcPr marL="152400" marR="152400" marT="101600" marB="101600">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2030"/>
                        </a:lnSpc>
                        <a:buNone/>
                      </a:pPr>
                      <a:r>
                        <a:rPr lang="en-US" sz="1450" dirty="0">
                          <a:solidFill>
                            <a:srgbClr val="47546B"/>
                          </a:solidFill>
                          <a:latin typeface="Arial" pitchFamily="34" charset="0"/>
                          <a:ea typeface="Arial" pitchFamily="34" charset="-122"/>
                          <a:cs typeface="Arial" pitchFamily="34" charset="-120"/>
                        </a:rPr>
                        <a:t>$0</a:t>
                      </a:r>
                      <a:endParaRPr lang="en-US" sz="1450" dirty="0">
                        <a:latin typeface="Arial" charset="0"/>
                        <a:ea typeface="Arial" charset="0"/>
                        <a:cs typeface="Arial" charset="0"/>
                      </a:endParaRPr>
                    </a:p>
                  </a:txBody>
                  <a:tcPr marL="152400" marR="1524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2030"/>
                        </a:lnSpc>
                        <a:buNone/>
                      </a:pPr>
                      <a:r>
                        <a:rPr lang="en-US" sz="1450" dirty="0">
                          <a:solidFill>
                            <a:srgbClr val="47546B"/>
                          </a:solidFill>
                          <a:latin typeface="Arial" pitchFamily="34" charset="0"/>
                          <a:ea typeface="Arial" pitchFamily="34" charset="-122"/>
                          <a:cs typeface="Arial" pitchFamily="34" charset="-120"/>
                        </a:rPr>
                        <a:t>~$0.004</a:t>
                      </a:r>
                      <a:endParaRPr lang="en-US" sz="1450" dirty="0">
                        <a:latin typeface="Arial" charset="0"/>
                        <a:ea typeface="Arial" charset="0"/>
                        <a:cs typeface="Arial" charset="0"/>
                      </a:endParaRPr>
                    </a:p>
                  </a:txBody>
                  <a:tcPr marL="152400" marR="152400" marT="101600" marB="1016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812800" y="5067002"/>
            <a:ext cx="10566400" cy="949920"/>
          </a:xfrm>
          <a:prstGeom prst="roundRect">
            <a:avLst>
              <a:gd name="adj" fmla="val 10696"/>
            </a:avLst>
          </a:prstGeom>
          <a:solidFill>
            <a:srgbClr val="EAF0EE"/>
          </a:solidFill>
          <a:ln/>
        </p:spPr>
        <p:txBody>
          <a:bodyPr wrap="square" lIns="198842" tIns="160742" rIns="0" bIns="135342" rtlCol="0" anchor="t">
            <a:normAutofit/>
          </a:bodyPr>
          <a:lstStyle/>
          <a:p>
            <a:pPr marL="0" indent="0" algn="l">
              <a:lnSpc>
                <a:spcPts val="2240"/>
              </a:lnSpc>
              <a:buNone/>
            </a:pPr>
            <a:r>
              <a:rPr lang="en-US" sz="1600" dirty="0">
                <a:solidFill>
                  <a:srgbClr val="14233D"/>
                </a:solidFill>
                <a:latin typeface="Arial" pitchFamily="34" charset="0"/>
                <a:ea typeface="Arial" pitchFamily="34" charset="-122"/>
                <a:cs typeface="Arial" pitchFamily="34" charset="-120"/>
              </a:rPr>
              <a:t>The real trade-off is </a:t>
            </a:r>
            <a:r>
              <a:rPr lang="en-US" sz="1600" b="1" dirty="0">
                <a:solidFill>
                  <a:srgbClr val="14233D"/>
                </a:solidFill>
                <a:latin typeface="Arial" pitchFamily="34" charset="0"/>
                <a:ea typeface="Arial" pitchFamily="34" charset="-122"/>
                <a:cs typeface="Arial" pitchFamily="34" charset="-120"/>
              </a:rPr>
              <a:t>latency (~13 s/claim)</a:t>
            </a:r>
            <a:r>
              <a:rPr lang="en-US" sz="1600" dirty="0">
                <a:solidFill>
                  <a:srgbClr val="14233D"/>
                </a:solidFill>
                <a:latin typeface="Arial" pitchFamily="34" charset="0"/>
                <a:ea typeface="Arial" pitchFamily="34" charset="-122"/>
                <a:cs typeface="Arial" pitchFamily="34" charset="-120"/>
              </a:rPr>
              <a:t>, not cost. Levers: a lighter model for extraction, read text before vision, process asynchronously.</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ARCHITECTURE</a:t>
            </a:r>
            <a:endParaRPr lang="en-US" sz="1200" dirty="0"/>
          </a:p>
        </p:txBody>
      </p:sp>
      <p:sp>
        <p:nvSpPr>
          <p:cNvPr id="3" name="Text 1"/>
          <p:cNvSpPr>
            <a:spLocks noGrp="1"/>
          </p:cNvSpPr>
          <p:nvPr>
            <p:ph type="title"/>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4233D"/>
                </a:solidFill>
                <a:latin typeface="Georgia" pitchFamily="18" charset="0"/>
                <a:ea typeface="Georgia" pitchFamily="18" charset="-122"/>
                <a:cs typeface="Georgia" pitchFamily="18" charset="-120"/>
              </a:rPr>
              <a:t>A proof of concept, with a clear path to production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3271040"/>
        </p:xfrm>
        <a:graphic>
          <a:graphicData uri="http://schemas.openxmlformats.org/drawingml/2006/table">
            <a:tbl>
              <a:tblPr/>
              <a:tblGrid>
                <a:gridCol w="2743962">
                  <a:extLst>
                    <a:ext uri="{9D8B030D-6E8A-4147-A177-3AD203B41FA5}">
                      <a16:colId xmlns:a16="http://schemas.microsoft.com/office/drawing/2014/main" val="20000"/>
                    </a:ext>
                  </a:extLst>
                </a:gridCol>
                <a:gridCol w="3588258">
                  <a:extLst>
                    <a:ext uri="{9D8B030D-6E8A-4147-A177-3AD203B41FA5}">
                      <a16:colId xmlns:a16="http://schemas.microsoft.com/office/drawing/2014/main" val="20001"/>
                    </a:ext>
                  </a:extLst>
                </a:gridCol>
                <a:gridCol w="4221480">
                  <a:extLst>
                    <a:ext uri="{9D8B030D-6E8A-4147-A177-3AD203B41FA5}">
                      <a16:colId xmlns:a16="http://schemas.microsoft.com/office/drawing/2014/main" val="20002"/>
                    </a:ext>
                  </a:extLst>
                </a:gridCol>
              </a:tblGrid>
              <a:tr h="408880">
                <a:tc>
                  <a:txBody>
                    <a:bodyPr/>
                    <a:lstStyle/>
                    <a:p>
                      <a:pPr marL="0" indent="0">
                        <a:lnSpc>
                          <a:spcPts val="1820"/>
                        </a:lnSpc>
                        <a:buNone/>
                      </a:pPr>
                      <a:r>
                        <a:rPr lang="en-US" sz="1300" b="1" dirty="0">
                          <a:solidFill>
                            <a:srgbClr val="FFFFFF"/>
                          </a:solidFill>
                          <a:latin typeface="Arial" pitchFamily="34" charset="0"/>
                          <a:ea typeface="Arial" pitchFamily="34" charset="-122"/>
                          <a:cs typeface="Arial" pitchFamily="34" charset="-120"/>
                        </a:rPr>
                        <a:t>Capability</a:t>
                      </a:r>
                      <a:endParaRPr lang="en-US" sz="1300" dirty="0">
                        <a:latin typeface="Arial" charset="0"/>
                        <a:ea typeface="Arial" charset="0"/>
                        <a:cs typeface="Arial" charset="0"/>
                      </a:endParaRPr>
                    </a:p>
                  </a:txBody>
                  <a:tcPr marL="139700" marR="139700" marT="82550" marB="82550">
                    <a:lnL w="12700" cap="flat" cmpd="sng" algn="ctr">
                      <a:solidFill>
                        <a:srgbClr val="C8C8C6"/>
                      </a:solidFill>
                      <a:prstDash val="solid"/>
                      <a:round/>
                      <a:headEnd type="none" w="med" len="med"/>
                      <a:tailEnd type="none" w="med" len="med"/>
                    </a:lnL>
                    <a:lnR w="12700" cap="flat" cmpd="sng" algn="ctr">
                      <a:solidFill>
                        <a:srgbClr val="1420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2034"/>
                      </a:solidFill>
                      <a:prstDash val="solid"/>
                      <a:round/>
                      <a:headEnd type="none" w="med" len="med"/>
                      <a:tailEnd type="none" w="med" len="med"/>
                    </a:lnB>
                    <a:solidFill>
                      <a:srgbClr val="14233D"/>
                    </a:solidFill>
                  </a:tcPr>
                </a:tc>
                <a:tc>
                  <a:txBody>
                    <a:bodyPr/>
                    <a:lstStyle/>
                    <a:p>
                      <a:pPr marL="0" indent="0">
                        <a:lnSpc>
                          <a:spcPts val="1820"/>
                        </a:lnSpc>
                        <a:buNone/>
                      </a:pPr>
                      <a:r>
                        <a:rPr lang="en-US" sz="1300" b="1" dirty="0">
                          <a:solidFill>
                            <a:srgbClr val="FFFFFF"/>
                          </a:solidFill>
                          <a:latin typeface="Arial" pitchFamily="34" charset="0"/>
                          <a:ea typeface="Arial" pitchFamily="34" charset="-122"/>
                          <a:cs typeface="Arial" pitchFamily="34" charset="-120"/>
                        </a:rPr>
                        <a:t>POC today</a:t>
                      </a:r>
                      <a:endParaRPr lang="en-US" sz="1300" dirty="0">
                        <a:latin typeface="Arial" charset="0"/>
                        <a:ea typeface="Arial" charset="0"/>
                        <a:cs typeface="Arial" charset="0"/>
                      </a:endParaRPr>
                    </a:p>
                  </a:txBody>
                  <a:tcPr marL="139700" marR="139700" marT="82550" marB="82550">
                    <a:lnL w="12700" cap="flat" cmpd="sng" algn="ctr">
                      <a:solidFill>
                        <a:srgbClr val="142034"/>
                      </a:solidFill>
                      <a:prstDash val="solid"/>
                      <a:round/>
                      <a:headEnd type="none" w="med" len="med"/>
                      <a:tailEnd type="none" w="med" len="med"/>
                    </a:lnL>
                    <a:lnR w="12700" cap="flat" cmpd="sng" algn="ctr">
                      <a:solidFill>
                        <a:srgbClr val="1420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2034"/>
                      </a:solidFill>
                      <a:prstDash val="solid"/>
                      <a:round/>
                      <a:headEnd type="none" w="med" len="med"/>
                      <a:tailEnd type="none" w="med" len="med"/>
                    </a:lnB>
                    <a:solidFill>
                      <a:srgbClr val="14233D"/>
                    </a:solidFill>
                  </a:tcPr>
                </a:tc>
                <a:tc>
                  <a:txBody>
                    <a:bodyPr/>
                    <a:lstStyle/>
                    <a:p>
                      <a:pPr marL="0" indent="0">
                        <a:lnSpc>
                          <a:spcPts val="1820"/>
                        </a:lnSpc>
                        <a:buNone/>
                      </a:pPr>
                      <a:r>
                        <a:rPr lang="en-US" sz="1300" b="1" dirty="0">
                          <a:solidFill>
                            <a:srgbClr val="FFFFFF"/>
                          </a:solidFill>
                          <a:latin typeface="Arial" pitchFamily="34" charset="0"/>
                          <a:ea typeface="Arial" pitchFamily="34" charset="-122"/>
                          <a:cs typeface="Arial" pitchFamily="34" charset="-120"/>
                        </a:rPr>
                        <a:t>Target (production)</a:t>
                      </a:r>
                      <a:endParaRPr lang="en-US" sz="1300" dirty="0">
                        <a:latin typeface="Arial" charset="0"/>
                        <a:ea typeface="Arial" charset="0"/>
                        <a:cs typeface="Arial" charset="0"/>
                      </a:endParaRPr>
                    </a:p>
                  </a:txBody>
                  <a:tcPr marL="139700" marR="139700" marT="82550" marB="82550">
                    <a:lnL w="12700" cap="flat" cmpd="sng" algn="ctr">
                      <a:solidFill>
                        <a:srgbClr val="142034"/>
                      </a:solidFill>
                      <a:prstDash val="solid"/>
                      <a:round/>
                      <a:headEnd type="none" w="med" len="med"/>
                      <a:tailEnd type="none" w="med" len="med"/>
                    </a:lnL>
                    <a:lnR w="12700" cap="flat" cmpd="sng" algn="ctr">
                      <a:solidFill>
                        <a:srgbClr val="1420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2034"/>
                      </a:solidFill>
                      <a:prstDash val="solid"/>
                      <a:round/>
                      <a:headEnd type="none" w="med" len="med"/>
                      <a:tailEnd type="none" w="med" len="med"/>
                    </a:lnB>
                    <a:solidFill>
                      <a:srgbClr val="14233D"/>
                    </a:solidFill>
                  </a:tcPr>
                </a:tc>
                <a:extLst>
                  <a:ext uri="{0D108BD9-81ED-4DB2-BD59-A6C34878D82A}">
                    <a16:rowId xmlns:a16="http://schemas.microsoft.com/office/drawing/2014/main" val="10000"/>
                  </a:ext>
                </a:extLst>
              </a:tr>
              <a:tr h="408880">
                <a:tc>
                  <a:txBody>
                    <a:bodyPr/>
                    <a:lstStyle/>
                    <a:p>
                      <a:pPr marL="0" indent="0">
                        <a:lnSpc>
                          <a:spcPts val="1820"/>
                        </a:lnSpc>
                        <a:buNone/>
                      </a:pPr>
                      <a:r>
                        <a:rPr lang="en-US" sz="1300" dirty="0">
                          <a:solidFill>
                            <a:srgbClr val="14233D"/>
                          </a:solidFill>
                          <a:latin typeface="Arial" pitchFamily="34" charset="0"/>
                          <a:ea typeface="Arial" pitchFamily="34" charset="-122"/>
                          <a:cs typeface="Arial" pitchFamily="34" charset="-120"/>
                        </a:rPr>
                        <a:t>Runtime</a:t>
                      </a:r>
                      <a:endParaRPr lang="en-US" sz="1300" dirty="0">
                        <a:latin typeface="Arial" charset="0"/>
                        <a:ea typeface="Arial" charset="0"/>
                        <a:cs typeface="Arial" charset="0"/>
                      </a:endParaRPr>
                    </a:p>
                  </a:txBody>
                  <a:tcPr marL="139700" marR="139700" marT="82550" marB="82550">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20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47546B"/>
                          </a:solidFill>
                          <a:latin typeface="Arial" pitchFamily="34" charset="0"/>
                          <a:ea typeface="Arial" pitchFamily="34" charset="-122"/>
                          <a:cs typeface="Arial" pitchFamily="34" charset="-120"/>
                        </a:rPr>
                        <a:t>One service, one command</a:t>
                      </a:r>
                      <a:endParaRPr lang="en-US" sz="1300" dirty="0">
                        <a:latin typeface="Arial" charset="0"/>
                        <a:ea typeface="Arial" charset="0"/>
                        <a:cs typeface="Arial" charset="0"/>
                      </a:endParaRPr>
                    </a:p>
                  </a:txBody>
                  <a:tcPr marL="139700" marR="139700" marT="82550" marB="825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20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47546B"/>
                          </a:solidFill>
                          <a:latin typeface="Arial" pitchFamily="34" charset="0"/>
                          <a:ea typeface="Arial" pitchFamily="34" charset="-122"/>
                          <a:cs typeface="Arial" pitchFamily="34" charset="-120"/>
                        </a:rPr>
                        <a:t>Microservices on Kubernetes, autoscaled</a:t>
                      </a:r>
                      <a:endParaRPr lang="en-US" sz="1300" dirty="0">
                        <a:latin typeface="Arial" charset="0"/>
                        <a:ea typeface="Arial" charset="0"/>
                        <a:cs typeface="Arial" charset="0"/>
                      </a:endParaRPr>
                    </a:p>
                  </a:txBody>
                  <a:tcPr marL="139700" marR="139700" marT="82550" marB="825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20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8880">
                <a:tc>
                  <a:txBody>
                    <a:bodyPr/>
                    <a:lstStyle/>
                    <a:p>
                      <a:pPr marL="0" indent="0">
                        <a:lnSpc>
                          <a:spcPts val="1820"/>
                        </a:lnSpc>
                        <a:buNone/>
                      </a:pPr>
                      <a:r>
                        <a:rPr lang="en-US" sz="1300" dirty="0">
                          <a:solidFill>
                            <a:srgbClr val="14233D"/>
                          </a:solidFill>
                          <a:latin typeface="Arial" pitchFamily="34" charset="0"/>
                          <a:ea typeface="Arial" pitchFamily="34" charset="-122"/>
                          <a:cs typeface="Arial" pitchFamily="34" charset="-120"/>
                        </a:rPr>
                        <a:t>API exposure</a:t>
                      </a:r>
                      <a:endParaRPr lang="en-US" sz="1300" dirty="0">
                        <a:latin typeface="Arial" charset="0"/>
                        <a:ea typeface="Arial" charset="0"/>
                        <a:cs typeface="Arial" charset="0"/>
                      </a:endParaRPr>
                    </a:p>
                  </a:txBody>
                  <a:tcPr marL="139700" marR="139700" marT="82550" marB="82550">
                    <a:lnL w="12700" cap="flat" cmpd="sng" algn="ctr">
                      <a:solidFill>
                        <a:srgbClr val="C8C8C6"/>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1820"/>
                        </a:lnSpc>
                        <a:buNone/>
                      </a:pPr>
                      <a:r>
                        <a:rPr lang="en-US" sz="1300" dirty="0">
                          <a:solidFill>
                            <a:srgbClr val="47546B"/>
                          </a:solidFill>
                          <a:latin typeface="Arial" pitchFamily="34" charset="0"/>
                          <a:ea typeface="Arial" pitchFamily="34" charset="-122"/>
                          <a:cs typeface="Arial" pitchFamily="34" charset="-120"/>
                        </a:rPr>
                        <a:t>Direct HTTP</a:t>
                      </a:r>
                      <a:endParaRPr lang="en-US" sz="1300" dirty="0">
                        <a:latin typeface="Arial" charset="0"/>
                        <a:ea typeface="Arial" charset="0"/>
                        <a:cs typeface="Arial" charset="0"/>
                      </a:endParaRPr>
                    </a:p>
                  </a:txBody>
                  <a:tcPr marL="139700" marR="139700" marT="82550" marB="8255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1820"/>
                        </a:lnSpc>
                        <a:buNone/>
                      </a:pPr>
                      <a:r>
                        <a:rPr lang="en-US" sz="1300" dirty="0">
                          <a:solidFill>
                            <a:srgbClr val="47546B"/>
                          </a:solidFill>
                          <a:latin typeface="Arial" pitchFamily="34" charset="0"/>
                          <a:ea typeface="Arial" pitchFamily="34" charset="-122"/>
                          <a:cs typeface="Arial" pitchFamily="34" charset="-120"/>
                        </a:rPr>
                        <a:t>API Management + SSO / RBAC</a:t>
                      </a:r>
                      <a:endParaRPr lang="en-US" sz="1300" dirty="0">
                        <a:latin typeface="Arial" charset="0"/>
                        <a:ea typeface="Arial" charset="0"/>
                        <a:cs typeface="Arial" charset="0"/>
                      </a:endParaRPr>
                    </a:p>
                  </a:txBody>
                  <a:tcPr marL="139700" marR="139700" marT="82550" marB="8255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extLst>
                  <a:ext uri="{0D108BD9-81ED-4DB2-BD59-A6C34878D82A}">
                    <a16:rowId xmlns:a16="http://schemas.microsoft.com/office/drawing/2014/main" val="10002"/>
                  </a:ext>
                </a:extLst>
              </a:tr>
              <a:tr h="408880">
                <a:tc>
                  <a:txBody>
                    <a:bodyPr/>
                    <a:lstStyle/>
                    <a:p>
                      <a:pPr marL="0" indent="0">
                        <a:lnSpc>
                          <a:spcPts val="1820"/>
                        </a:lnSpc>
                        <a:buNone/>
                      </a:pPr>
                      <a:r>
                        <a:rPr lang="en-US" sz="1300" dirty="0">
                          <a:solidFill>
                            <a:srgbClr val="14233D"/>
                          </a:solidFill>
                          <a:latin typeface="Arial" pitchFamily="34" charset="0"/>
                          <a:ea typeface="Arial" pitchFamily="34" charset="-122"/>
                          <a:cs typeface="Arial" pitchFamily="34" charset="-120"/>
                        </a:rPr>
                        <a:t>Processing</a:t>
                      </a:r>
                      <a:endParaRPr lang="en-US" sz="1300" dirty="0">
                        <a:latin typeface="Arial" charset="0"/>
                        <a:ea typeface="Arial" charset="0"/>
                        <a:cs typeface="Arial" charset="0"/>
                      </a:endParaRPr>
                    </a:p>
                  </a:txBody>
                  <a:tcPr marL="139700" marR="139700" marT="82550" marB="82550">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47546B"/>
                          </a:solidFill>
                          <a:latin typeface="Arial" pitchFamily="34" charset="0"/>
                          <a:ea typeface="Arial" pitchFamily="34" charset="-122"/>
                          <a:cs typeface="Arial" pitchFamily="34" charset="-120"/>
                        </a:rPr>
                        <a:t>Synchronous</a:t>
                      </a:r>
                      <a:endParaRPr lang="en-US" sz="1300" dirty="0">
                        <a:latin typeface="Arial" charset="0"/>
                        <a:ea typeface="Arial" charset="0"/>
                        <a:cs typeface="Arial" charset="0"/>
                      </a:endParaRPr>
                    </a:p>
                  </a:txBody>
                  <a:tcPr marL="139700" marR="139700" marT="82550" marB="825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47546B"/>
                          </a:solidFill>
                          <a:latin typeface="Arial" pitchFamily="34" charset="0"/>
                          <a:ea typeface="Arial" pitchFamily="34" charset="-122"/>
                          <a:cs typeface="Arial" pitchFamily="34" charset="-120"/>
                        </a:rPr>
                        <a:t>Queue + worker pool, async</a:t>
                      </a:r>
                      <a:endParaRPr lang="en-US" sz="1300" dirty="0">
                        <a:latin typeface="Arial" charset="0"/>
                        <a:ea typeface="Arial" charset="0"/>
                        <a:cs typeface="Arial" charset="0"/>
                      </a:endParaRPr>
                    </a:p>
                  </a:txBody>
                  <a:tcPr marL="139700" marR="139700" marT="82550" marB="825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8880">
                <a:tc>
                  <a:txBody>
                    <a:bodyPr/>
                    <a:lstStyle/>
                    <a:p>
                      <a:pPr marL="0" indent="0">
                        <a:lnSpc>
                          <a:spcPts val="1820"/>
                        </a:lnSpc>
                        <a:buNone/>
                      </a:pPr>
                      <a:r>
                        <a:rPr lang="en-US" sz="1300" dirty="0">
                          <a:solidFill>
                            <a:srgbClr val="14233D"/>
                          </a:solidFill>
                          <a:latin typeface="Arial" pitchFamily="34" charset="0"/>
                          <a:ea typeface="Arial" pitchFamily="34" charset="-122"/>
                          <a:cs typeface="Arial" pitchFamily="34" charset="-120"/>
                        </a:rPr>
                        <a:t>Data</a:t>
                      </a:r>
                      <a:endParaRPr lang="en-US" sz="1300" dirty="0">
                        <a:latin typeface="Arial" charset="0"/>
                        <a:ea typeface="Arial" charset="0"/>
                        <a:cs typeface="Arial" charset="0"/>
                      </a:endParaRPr>
                    </a:p>
                  </a:txBody>
                  <a:tcPr marL="139700" marR="139700" marT="82550" marB="82550">
                    <a:lnL w="12700" cap="flat" cmpd="sng" algn="ctr">
                      <a:solidFill>
                        <a:srgbClr val="C8C8C6"/>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1820"/>
                        </a:lnSpc>
                        <a:buNone/>
                      </a:pPr>
                      <a:r>
                        <a:rPr lang="en-US" sz="1300" dirty="0">
                          <a:solidFill>
                            <a:srgbClr val="47546B"/>
                          </a:solidFill>
                          <a:latin typeface="Arial" pitchFamily="34" charset="0"/>
                          <a:ea typeface="Arial" pitchFamily="34" charset="-122"/>
                          <a:cs typeface="Arial" pitchFamily="34" charset="-120"/>
                        </a:rPr>
                        <a:t>SQLite file</a:t>
                      </a:r>
                      <a:endParaRPr lang="en-US" sz="1300" dirty="0">
                        <a:latin typeface="Arial" charset="0"/>
                        <a:ea typeface="Arial" charset="0"/>
                        <a:cs typeface="Arial" charset="0"/>
                      </a:endParaRPr>
                    </a:p>
                  </a:txBody>
                  <a:tcPr marL="139700" marR="139700" marT="82550" marB="8255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1820"/>
                        </a:lnSpc>
                        <a:buNone/>
                      </a:pPr>
                      <a:r>
                        <a:rPr lang="en-US" sz="1300" dirty="0">
                          <a:solidFill>
                            <a:srgbClr val="47546B"/>
                          </a:solidFill>
                          <a:latin typeface="Arial" pitchFamily="34" charset="0"/>
                          <a:ea typeface="Arial" pitchFamily="34" charset="-122"/>
                          <a:cs typeface="Arial" pitchFamily="34" charset="-120"/>
                        </a:rPr>
                        <a:t>PostgreSQL + Redis + object storage</a:t>
                      </a:r>
                      <a:endParaRPr lang="en-US" sz="1300" dirty="0">
                        <a:latin typeface="Arial" charset="0"/>
                        <a:ea typeface="Arial" charset="0"/>
                        <a:cs typeface="Arial" charset="0"/>
                      </a:endParaRPr>
                    </a:p>
                  </a:txBody>
                  <a:tcPr marL="139700" marR="139700" marT="82550" marB="8255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extLst>
                  <a:ext uri="{0D108BD9-81ED-4DB2-BD59-A6C34878D82A}">
                    <a16:rowId xmlns:a16="http://schemas.microsoft.com/office/drawing/2014/main" val="10004"/>
                  </a:ext>
                </a:extLst>
              </a:tr>
              <a:tr h="408880">
                <a:tc>
                  <a:txBody>
                    <a:bodyPr/>
                    <a:lstStyle/>
                    <a:p>
                      <a:pPr marL="0" indent="0">
                        <a:lnSpc>
                          <a:spcPts val="1820"/>
                        </a:lnSpc>
                        <a:buNone/>
                      </a:pPr>
                      <a:r>
                        <a:rPr lang="en-US" sz="1300" dirty="0">
                          <a:solidFill>
                            <a:srgbClr val="14233D"/>
                          </a:solidFill>
                          <a:latin typeface="Arial" pitchFamily="34" charset="0"/>
                          <a:ea typeface="Arial" pitchFamily="34" charset="-122"/>
                          <a:cs typeface="Arial" pitchFamily="34" charset="-120"/>
                        </a:rPr>
                        <a:t>Model</a:t>
                      </a:r>
                      <a:endParaRPr lang="en-US" sz="1300" dirty="0">
                        <a:latin typeface="Arial" charset="0"/>
                        <a:ea typeface="Arial" charset="0"/>
                        <a:cs typeface="Arial" charset="0"/>
                      </a:endParaRPr>
                    </a:p>
                  </a:txBody>
                  <a:tcPr marL="139700" marR="139700" marT="82550" marB="82550">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47546B"/>
                          </a:solidFill>
                          <a:latin typeface="Arial" pitchFamily="34" charset="0"/>
                          <a:ea typeface="Arial" pitchFamily="34" charset="-122"/>
                          <a:cs typeface="Arial" pitchFamily="34" charset="-120"/>
                        </a:rPr>
                        <a:t>Hosted OpenAI</a:t>
                      </a:r>
                      <a:endParaRPr lang="en-US" sz="1300" dirty="0">
                        <a:latin typeface="Arial" charset="0"/>
                        <a:ea typeface="Arial" charset="0"/>
                        <a:cs typeface="Arial" charset="0"/>
                      </a:endParaRPr>
                    </a:p>
                  </a:txBody>
                  <a:tcPr marL="139700" marR="139700" marT="82550" marB="825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47546B"/>
                          </a:solidFill>
                          <a:latin typeface="Arial" pitchFamily="34" charset="0"/>
                          <a:ea typeface="Arial" pitchFamily="34" charset="-122"/>
                          <a:cs typeface="Arial" pitchFamily="34" charset="-120"/>
                        </a:rPr>
                        <a:t>Azure OpenAI (EU) or on-prem</a:t>
                      </a:r>
                      <a:endParaRPr lang="en-US" sz="1300" dirty="0">
                        <a:latin typeface="Arial" charset="0"/>
                        <a:ea typeface="Arial" charset="0"/>
                        <a:cs typeface="Arial" charset="0"/>
                      </a:endParaRPr>
                    </a:p>
                  </a:txBody>
                  <a:tcPr marL="139700" marR="139700" marT="82550" marB="825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8880">
                <a:tc>
                  <a:txBody>
                    <a:bodyPr/>
                    <a:lstStyle/>
                    <a:p>
                      <a:pPr marL="0" indent="0">
                        <a:lnSpc>
                          <a:spcPts val="1820"/>
                        </a:lnSpc>
                        <a:buNone/>
                      </a:pPr>
                      <a:r>
                        <a:rPr lang="en-US" sz="1300" dirty="0">
                          <a:solidFill>
                            <a:srgbClr val="14233D"/>
                          </a:solidFill>
                          <a:latin typeface="Arial" pitchFamily="34" charset="0"/>
                          <a:ea typeface="Arial" pitchFamily="34" charset="-122"/>
                          <a:cs typeface="Arial" pitchFamily="34" charset="-120"/>
                        </a:rPr>
                        <a:t>Integrations</a:t>
                      </a:r>
                      <a:endParaRPr lang="en-US" sz="1300" dirty="0">
                        <a:latin typeface="Arial" charset="0"/>
                        <a:ea typeface="Arial" charset="0"/>
                        <a:cs typeface="Arial" charset="0"/>
                      </a:endParaRPr>
                    </a:p>
                  </a:txBody>
                  <a:tcPr marL="139700" marR="139700" marT="82550" marB="82550">
                    <a:lnL w="12700" cap="flat" cmpd="sng" algn="ctr">
                      <a:solidFill>
                        <a:srgbClr val="C8C8C6"/>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1820"/>
                        </a:lnSpc>
                        <a:buNone/>
                      </a:pPr>
                      <a:r>
                        <a:rPr lang="en-US" sz="1300" dirty="0">
                          <a:solidFill>
                            <a:srgbClr val="47546B"/>
                          </a:solidFill>
                          <a:latin typeface="Arial" pitchFamily="34" charset="0"/>
                          <a:ea typeface="Arial" pitchFamily="34" charset="-122"/>
                          <a:cs typeface="Arial" pitchFamily="34" charset="-120"/>
                        </a:rPr>
                        <a:t>Simulated policy + claims</a:t>
                      </a:r>
                      <a:endParaRPr lang="en-US" sz="1300" dirty="0">
                        <a:latin typeface="Arial" charset="0"/>
                        <a:ea typeface="Arial" charset="0"/>
                        <a:cs typeface="Arial" charset="0"/>
                      </a:endParaRPr>
                    </a:p>
                  </a:txBody>
                  <a:tcPr marL="139700" marR="139700" marT="82550" marB="8255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1820"/>
                        </a:lnSpc>
                        <a:buNone/>
                      </a:pPr>
                      <a:r>
                        <a:rPr lang="en-US" sz="1300" dirty="0">
                          <a:solidFill>
                            <a:srgbClr val="47546B"/>
                          </a:solidFill>
                          <a:latin typeface="Arial" pitchFamily="34" charset="0"/>
                          <a:ea typeface="Arial" pitchFamily="34" charset="-122"/>
                          <a:cs typeface="Arial" pitchFamily="34" charset="-120"/>
                        </a:rPr>
                        <a:t>Real policy &amp; claims systems</a:t>
                      </a:r>
                      <a:endParaRPr lang="en-US" sz="1300" dirty="0">
                        <a:latin typeface="Arial" charset="0"/>
                        <a:ea typeface="Arial" charset="0"/>
                        <a:cs typeface="Arial" charset="0"/>
                      </a:endParaRPr>
                    </a:p>
                  </a:txBody>
                  <a:tcPr marL="139700" marR="139700" marT="82550" marB="8255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extLst>
                  <a:ext uri="{0D108BD9-81ED-4DB2-BD59-A6C34878D82A}">
                    <a16:rowId xmlns:a16="http://schemas.microsoft.com/office/drawing/2014/main" val="10006"/>
                  </a:ext>
                </a:extLst>
              </a:tr>
              <a:tr h="408880">
                <a:tc>
                  <a:txBody>
                    <a:bodyPr/>
                    <a:lstStyle/>
                    <a:p>
                      <a:pPr marL="0" indent="0">
                        <a:lnSpc>
                          <a:spcPts val="1820"/>
                        </a:lnSpc>
                        <a:buNone/>
                      </a:pPr>
                      <a:r>
                        <a:rPr lang="en-US" sz="1300" dirty="0">
                          <a:solidFill>
                            <a:srgbClr val="14233D"/>
                          </a:solidFill>
                          <a:latin typeface="Arial" pitchFamily="34" charset="0"/>
                          <a:ea typeface="Arial" pitchFamily="34" charset="-122"/>
                          <a:cs typeface="Arial" pitchFamily="34" charset="-120"/>
                        </a:rPr>
                        <a:t>Observability</a:t>
                      </a:r>
                      <a:endParaRPr lang="en-US" sz="1300" dirty="0">
                        <a:latin typeface="Arial" charset="0"/>
                        <a:ea typeface="Arial" charset="0"/>
                        <a:cs typeface="Arial" charset="0"/>
                      </a:endParaRPr>
                    </a:p>
                  </a:txBody>
                  <a:tcPr marL="139700" marR="139700" marT="82550" marB="82550">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47546B"/>
                          </a:solidFill>
                          <a:latin typeface="Arial" pitchFamily="34" charset="0"/>
                          <a:ea typeface="Arial" pitchFamily="34" charset="-122"/>
                          <a:cs typeface="Arial" pitchFamily="34" charset="-120"/>
                        </a:rPr>
                        <a:t>JSON logs + /metrics</a:t>
                      </a:r>
                      <a:endParaRPr lang="en-US" sz="1300" dirty="0">
                        <a:latin typeface="Arial" charset="0"/>
                        <a:ea typeface="Arial" charset="0"/>
                        <a:cs typeface="Arial" charset="0"/>
                      </a:endParaRPr>
                    </a:p>
                  </a:txBody>
                  <a:tcPr marL="139700" marR="139700" marT="82550" marB="825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47546B"/>
                          </a:solidFill>
                          <a:latin typeface="Arial" pitchFamily="34" charset="0"/>
                          <a:ea typeface="Arial" pitchFamily="34" charset="-122"/>
                          <a:cs typeface="Arial" pitchFamily="34" charset="-120"/>
                        </a:rPr>
                        <a:t>Central logs, Grafana, tracing, alerts</a:t>
                      </a:r>
                      <a:endParaRPr lang="en-US" sz="1300" dirty="0">
                        <a:latin typeface="Arial" charset="0"/>
                        <a:ea typeface="Arial" charset="0"/>
                        <a:cs typeface="Arial" charset="0"/>
                      </a:endParaRPr>
                    </a:p>
                  </a:txBody>
                  <a:tcPr marL="139700" marR="139700" marT="82550" marB="8255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ARCHITECTURE · C4 SYSTEM CONTEXT</a:t>
            </a:r>
            <a:endParaRPr lang="en-US" sz="1200" dirty="0"/>
          </a:p>
        </p:txBody>
      </p:sp>
      <p:sp>
        <p:nvSpPr>
          <p:cNvPr id="3" name="Text 1"/>
          <p:cNvSpPr>
            <a:spLocks noGrp="1"/>
          </p:cNvSpPr>
          <p:nvPr>
            <p:ph type="title"/>
          </p:nvPr>
        </p:nvSpPr>
        <p:spPr>
          <a:xfrm>
            <a:off x="812800" y="1102320"/>
            <a:ext cx="10883392"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4233D"/>
                </a:solidFill>
                <a:latin typeface="Georgia" pitchFamily="18" charset="0"/>
                <a:ea typeface="Georgia" pitchFamily="18" charset="-122"/>
                <a:cs typeface="Georgia" pitchFamily="18" charset="-120"/>
              </a:rPr>
              <a:t>ClaimSight in its environment</a:t>
            </a:r>
            <a:endParaRPr lang="en-US" sz="2600" dirty="0"/>
          </a:p>
        </p:txBody>
      </p:sp>
      <p:sp>
        <p:nvSpPr>
          <p:cNvPr id="4" name="Shape 2"/>
          <p:cNvSpPr/>
          <p:nvPr/>
        </p:nvSpPr>
        <p:spPr>
          <a:xfrm>
            <a:off x="4645025" y="3432811"/>
            <a:ext cx="2774950" cy="1250950"/>
          </a:xfrm>
          <a:prstGeom prst="roundRect">
            <a:avLst>
              <a:gd name="adj" fmla="val 7360"/>
            </a:avLst>
          </a:prstGeom>
          <a:solidFill>
            <a:srgbClr val="0E7C66"/>
          </a:solidFill>
          <a:ln w="19050">
            <a:solidFill>
              <a:srgbClr val="0B5D4E"/>
            </a:solidFill>
            <a:prstDash val="solid"/>
          </a:ln>
        </p:spPr>
        <p:txBody>
          <a:bodyPr/>
          <a:lstStyle/>
          <a:p>
            <a:endParaRPr lang="en-US"/>
          </a:p>
        </p:txBody>
      </p:sp>
      <p:sp>
        <p:nvSpPr>
          <p:cNvPr id="5" name="Text 3"/>
          <p:cNvSpPr/>
          <p:nvPr/>
        </p:nvSpPr>
        <p:spPr>
          <a:xfrm>
            <a:off x="4806950" y="3689986"/>
            <a:ext cx="252463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FFFFF"/>
                </a:solidFill>
                <a:latin typeface="Arial" pitchFamily="34" charset="0"/>
                <a:ea typeface="Arial" pitchFamily="34" charset="-122"/>
                <a:cs typeface="Arial" pitchFamily="34" charset="-120"/>
              </a:rPr>
              <a:t>ClaimSight</a:t>
            </a:r>
            <a:endParaRPr lang="en-US" sz="1700" dirty="0"/>
          </a:p>
        </p:txBody>
      </p:sp>
      <p:sp>
        <p:nvSpPr>
          <p:cNvPr id="6" name="Text 4"/>
          <p:cNvSpPr/>
          <p:nvPr/>
        </p:nvSpPr>
        <p:spPr>
          <a:xfrm>
            <a:off x="4806950" y="3999846"/>
            <a:ext cx="252463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DEDE4"/>
                </a:solidFill>
                <a:latin typeface="Arial" pitchFamily="34" charset="0"/>
                <a:ea typeface="Arial" pitchFamily="34" charset="-122"/>
                <a:cs typeface="Arial" pitchFamily="34" charset="-120"/>
              </a:rPr>
              <a:t>[Software system] AI-assisted FNOL triage</a:t>
            </a:r>
            <a:endParaRPr lang="en-US" sz="1200" dirty="0"/>
          </a:p>
        </p:txBody>
      </p:sp>
      <p:sp>
        <p:nvSpPr>
          <p:cNvPr id="11" name="Text 9"/>
          <p:cNvSpPr/>
          <p:nvPr/>
        </p:nvSpPr>
        <p:spPr>
          <a:xfrm>
            <a:off x="952500" y="4712336"/>
            <a:ext cx="1447800" cy="231080"/>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FFFFFF"/>
                </a:solidFill>
                <a:latin typeface="Arial" pitchFamily="34" charset="0"/>
                <a:ea typeface="Arial" pitchFamily="34" charset="-122"/>
                <a:cs typeface="Arial" pitchFamily="34" charset="-120"/>
              </a:rPr>
              <a:t>Operations lead</a:t>
            </a:r>
            <a:endParaRPr lang="en-US" sz="1350" dirty="0"/>
          </a:p>
        </p:txBody>
      </p:sp>
      <p:sp>
        <p:nvSpPr>
          <p:cNvPr id="13" name="Shape 11"/>
          <p:cNvSpPr/>
          <p:nvPr/>
        </p:nvSpPr>
        <p:spPr>
          <a:xfrm>
            <a:off x="4762500" y="1708786"/>
            <a:ext cx="2540000" cy="825500"/>
          </a:xfrm>
          <a:prstGeom prst="roundRect">
            <a:avLst>
              <a:gd name="adj" fmla="val 9231"/>
            </a:avLst>
          </a:prstGeom>
          <a:solidFill>
            <a:srgbClr val="5F6B7A"/>
          </a:solidFill>
          <a:ln/>
        </p:spPr>
        <p:txBody>
          <a:bodyPr/>
          <a:lstStyle/>
          <a:p>
            <a:endParaRPr lang="en-US"/>
          </a:p>
        </p:txBody>
      </p:sp>
      <p:sp>
        <p:nvSpPr>
          <p:cNvPr id="14" name="Text 12"/>
          <p:cNvSpPr/>
          <p:nvPr/>
        </p:nvSpPr>
        <p:spPr>
          <a:xfrm>
            <a:off x="4889500" y="1892936"/>
            <a:ext cx="2354580" cy="231080"/>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FFFFFF"/>
                </a:solidFill>
                <a:latin typeface="Arial" pitchFamily="34" charset="0"/>
                <a:ea typeface="Arial" pitchFamily="34" charset="-122"/>
                <a:cs typeface="Arial" pitchFamily="34" charset="-120"/>
              </a:rPr>
              <a:t>Customers &amp; lenders</a:t>
            </a:r>
            <a:endParaRPr lang="en-US" sz="1350" dirty="0"/>
          </a:p>
        </p:txBody>
      </p:sp>
      <p:sp>
        <p:nvSpPr>
          <p:cNvPr id="15" name="Text 13"/>
          <p:cNvSpPr/>
          <p:nvPr/>
        </p:nvSpPr>
        <p:spPr>
          <a:xfrm>
            <a:off x="4889500" y="2136716"/>
            <a:ext cx="23545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5DAE0"/>
                </a:solidFill>
                <a:latin typeface="Arial" pitchFamily="34" charset="0"/>
                <a:ea typeface="Arial" pitchFamily="34" charset="-122"/>
                <a:cs typeface="Arial" pitchFamily="34" charset="-120"/>
              </a:rPr>
              <a:t>[External] send loss notifications</a:t>
            </a:r>
            <a:endParaRPr lang="en-US" sz="1200" dirty="0"/>
          </a:p>
        </p:txBody>
      </p:sp>
      <p:sp>
        <p:nvSpPr>
          <p:cNvPr id="16" name="Shape 14"/>
          <p:cNvSpPr/>
          <p:nvPr/>
        </p:nvSpPr>
        <p:spPr>
          <a:xfrm>
            <a:off x="9398000" y="2470786"/>
            <a:ext cx="1905000" cy="825500"/>
          </a:xfrm>
          <a:prstGeom prst="roundRect">
            <a:avLst>
              <a:gd name="adj" fmla="val 9231"/>
            </a:avLst>
          </a:prstGeom>
          <a:solidFill>
            <a:srgbClr val="5F6B7A"/>
          </a:solidFill>
          <a:ln/>
        </p:spPr>
        <p:txBody>
          <a:bodyPr/>
          <a:lstStyle/>
          <a:p>
            <a:endParaRPr lang="en-US"/>
          </a:p>
        </p:txBody>
      </p:sp>
      <p:sp>
        <p:nvSpPr>
          <p:cNvPr id="17" name="Text 15"/>
          <p:cNvSpPr/>
          <p:nvPr/>
        </p:nvSpPr>
        <p:spPr>
          <a:xfrm>
            <a:off x="9525000" y="2654936"/>
            <a:ext cx="1701800" cy="231080"/>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FFFFFF"/>
                </a:solidFill>
                <a:latin typeface="Arial" pitchFamily="34" charset="0"/>
                <a:ea typeface="Arial" pitchFamily="34" charset="-122"/>
                <a:cs typeface="Arial" pitchFamily="34" charset="-120"/>
              </a:rPr>
              <a:t>AI model</a:t>
            </a:r>
            <a:endParaRPr lang="en-US" sz="1350" dirty="0"/>
          </a:p>
        </p:txBody>
      </p:sp>
      <p:sp>
        <p:nvSpPr>
          <p:cNvPr id="18" name="Text 16"/>
          <p:cNvSpPr/>
          <p:nvPr/>
        </p:nvSpPr>
        <p:spPr>
          <a:xfrm>
            <a:off x="9525000" y="2898716"/>
            <a:ext cx="170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5DAE0"/>
                </a:solidFill>
                <a:latin typeface="Arial" pitchFamily="34" charset="0"/>
                <a:ea typeface="Arial" pitchFamily="34" charset="-122"/>
                <a:cs typeface="Arial" pitchFamily="34" charset="-120"/>
              </a:rPr>
              <a:t>[External · OpenAI]</a:t>
            </a:r>
            <a:endParaRPr lang="en-US" sz="1200" dirty="0"/>
          </a:p>
        </p:txBody>
      </p:sp>
      <p:sp>
        <p:nvSpPr>
          <p:cNvPr id="19" name="Shape 17"/>
          <p:cNvSpPr/>
          <p:nvPr/>
        </p:nvSpPr>
        <p:spPr>
          <a:xfrm>
            <a:off x="9398000" y="3613786"/>
            <a:ext cx="1905000" cy="825500"/>
          </a:xfrm>
          <a:prstGeom prst="roundRect">
            <a:avLst>
              <a:gd name="adj" fmla="val 9231"/>
            </a:avLst>
          </a:prstGeom>
          <a:solidFill>
            <a:srgbClr val="5F6B7A"/>
          </a:solidFill>
          <a:ln/>
        </p:spPr>
        <p:txBody>
          <a:bodyPr/>
          <a:lstStyle/>
          <a:p>
            <a:endParaRPr lang="en-US"/>
          </a:p>
        </p:txBody>
      </p:sp>
      <p:sp>
        <p:nvSpPr>
          <p:cNvPr id="20" name="Text 18"/>
          <p:cNvSpPr/>
          <p:nvPr/>
        </p:nvSpPr>
        <p:spPr>
          <a:xfrm>
            <a:off x="9525000" y="3797936"/>
            <a:ext cx="1701800" cy="231080"/>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FFFFFF"/>
                </a:solidFill>
                <a:latin typeface="Arial" pitchFamily="34" charset="0"/>
                <a:ea typeface="Arial" pitchFamily="34" charset="-122"/>
                <a:cs typeface="Arial" pitchFamily="34" charset="-120"/>
              </a:rPr>
              <a:t>Policy system</a:t>
            </a:r>
            <a:endParaRPr lang="en-US" sz="1350" dirty="0"/>
          </a:p>
        </p:txBody>
      </p:sp>
      <p:sp>
        <p:nvSpPr>
          <p:cNvPr id="21" name="Text 19"/>
          <p:cNvSpPr/>
          <p:nvPr/>
        </p:nvSpPr>
        <p:spPr>
          <a:xfrm>
            <a:off x="9525000" y="4041716"/>
            <a:ext cx="170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5DAE0"/>
                </a:solidFill>
                <a:latin typeface="Arial" pitchFamily="34" charset="0"/>
                <a:ea typeface="Arial" pitchFamily="34" charset="-122"/>
                <a:cs typeface="Arial" pitchFamily="34" charset="-120"/>
              </a:rPr>
              <a:t>[External]</a:t>
            </a:r>
            <a:endParaRPr lang="en-US" sz="1200" dirty="0"/>
          </a:p>
        </p:txBody>
      </p:sp>
      <p:sp>
        <p:nvSpPr>
          <p:cNvPr id="22" name="Shape 20"/>
          <p:cNvSpPr/>
          <p:nvPr/>
        </p:nvSpPr>
        <p:spPr>
          <a:xfrm>
            <a:off x="9398000" y="4756786"/>
            <a:ext cx="1905000" cy="825500"/>
          </a:xfrm>
          <a:prstGeom prst="roundRect">
            <a:avLst>
              <a:gd name="adj" fmla="val 9231"/>
            </a:avLst>
          </a:prstGeom>
          <a:solidFill>
            <a:srgbClr val="5F6B7A"/>
          </a:solidFill>
          <a:ln/>
        </p:spPr>
        <p:txBody>
          <a:bodyPr/>
          <a:lstStyle/>
          <a:p>
            <a:endParaRPr lang="en-US"/>
          </a:p>
        </p:txBody>
      </p:sp>
      <p:sp>
        <p:nvSpPr>
          <p:cNvPr id="23" name="Text 21"/>
          <p:cNvSpPr/>
          <p:nvPr/>
        </p:nvSpPr>
        <p:spPr>
          <a:xfrm>
            <a:off x="9525000" y="4940936"/>
            <a:ext cx="1701800" cy="231080"/>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FFFFFF"/>
                </a:solidFill>
                <a:latin typeface="Arial" pitchFamily="34" charset="0"/>
                <a:ea typeface="Arial" pitchFamily="34" charset="-122"/>
                <a:cs typeface="Arial" pitchFamily="34" charset="-120"/>
              </a:rPr>
              <a:t>Claims platform</a:t>
            </a:r>
            <a:endParaRPr lang="en-US" sz="1350" dirty="0"/>
          </a:p>
        </p:txBody>
      </p:sp>
      <p:sp>
        <p:nvSpPr>
          <p:cNvPr id="24" name="Text 22"/>
          <p:cNvSpPr/>
          <p:nvPr/>
        </p:nvSpPr>
        <p:spPr>
          <a:xfrm>
            <a:off x="9525000" y="5184716"/>
            <a:ext cx="170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5DAE0"/>
                </a:solidFill>
                <a:latin typeface="Arial" pitchFamily="34" charset="0"/>
                <a:ea typeface="Arial" pitchFamily="34" charset="-122"/>
                <a:cs typeface="Arial" pitchFamily="34" charset="-120"/>
              </a:rPr>
              <a:t>[External]</a:t>
            </a:r>
            <a:endParaRPr lang="en-US" sz="1200" dirty="0"/>
          </a:p>
        </p:txBody>
      </p:sp>
      <p:sp>
        <p:nvSpPr>
          <p:cNvPr id="31" name="Text 23"/>
          <p:cNvSpPr/>
          <p:nvPr/>
        </p:nvSpPr>
        <p:spPr>
          <a:xfrm rot="752500">
            <a:off x="2761329" y="3269497"/>
            <a:ext cx="1962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46B"/>
                </a:solidFill>
                <a:latin typeface="Arial" pitchFamily="34" charset="0"/>
                <a:ea typeface="Arial" pitchFamily="34" charset="-122"/>
                <a:cs typeface="Arial" pitchFamily="34" charset="-120"/>
              </a:rPr>
              <a:t>reviews &amp; approves</a:t>
            </a:r>
            <a:endParaRPr lang="en-US" sz="1200" dirty="0"/>
          </a:p>
        </p:txBody>
      </p:sp>
      <p:sp>
        <p:nvSpPr>
          <p:cNvPr id="32" name="Text 24"/>
          <p:cNvSpPr/>
          <p:nvPr/>
        </p:nvSpPr>
        <p:spPr>
          <a:xfrm rot="20478267">
            <a:off x="2731306" y="4235684"/>
            <a:ext cx="1962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46B"/>
                </a:solidFill>
                <a:latin typeface="Arial" pitchFamily="34" charset="0"/>
                <a:ea typeface="Arial" pitchFamily="34" charset="-122"/>
                <a:cs typeface="Arial" pitchFamily="34" charset="-120"/>
              </a:rPr>
              <a:t>maintains the workflow</a:t>
            </a:r>
            <a:endParaRPr lang="en-US" sz="1200" dirty="0"/>
          </a:p>
        </p:txBody>
      </p:sp>
      <p:sp>
        <p:nvSpPr>
          <p:cNvPr id="33" name="Text 25"/>
          <p:cNvSpPr/>
          <p:nvPr/>
        </p:nvSpPr>
        <p:spPr>
          <a:xfrm>
            <a:off x="4708016" y="2748942"/>
            <a:ext cx="1962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46B"/>
                </a:solidFill>
                <a:latin typeface="Arial" pitchFamily="34" charset="0"/>
                <a:ea typeface="Arial" pitchFamily="34" charset="-122"/>
                <a:cs typeface="Arial" pitchFamily="34" charset="-120"/>
              </a:rPr>
              <a:t>submit notifications</a:t>
            </a:r>
            <a:endParaRPr lang="en-US" sz="1200" dirty="0"/>
          </a:p>
        </p:txBody>
      </p:sp>
      <p:sp>
        <p:nvSpPr>
          <p:cNvPr id="34" name="Text 26"/>
          <p:cNvSpPr/>
          <p:nvPr/>
        </p:nvSpPr>
        <p:spPr>
          <a:xfrm rot="20215316">
            <a:off x="7694041" y="2968423"/>
            <a:ext cx="176593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46B"/>
                </a:solidFill>
                <a:latin typeface="Arial" pitchFamily="34" charset="0"/>
                <a:ea typeface="Arial" pitchFamily="34" charset="-122"/>
                <a:cs typeface="Arial" pitchFamily="34" charset="-120"/>
              </a:rPr>
              <a:t>extract / classify</a:t>
            </a:r>
            <a:endParaRPr lang="en-US" sz="1200" dirty="0"/>
          </a:p>
        </p:txBody>
      </p:sp>
      <p:sp>
        <p:nvSpPr>
          <p:cNvPr id="35" name="Text 27"/>
          <p:cNvSpPr/>
          <p:nvPr/>
        </p:nvSpPr>
        <p:spPr>
          <a:xfrm>
            <a:off x="7987987" y="3781849"/>
            <a:ext cx="84200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46B"/>
                </a:solidFill>
                <a:latin typeface="Arial" pitchFamily="34" charset="0"/>
                <a:ea typeface="Arial" pitchFamily="34" charset="-122"/>
                <a:cs typeface="Arial" pitchFamily="34" charset="-120"/>
              </a:rPr>
              <a:t>verify policy</a:t>
            </a:r>
            <a:endParaRPr lang="en-US" sz="1200" dirty="0"/>
          </a:p>
        </p:txBody>
      </p:sp>
      <p:sp>
        <p:nvSpPr>
          <p:cNvPr id="36" name="Text 28"/>
          <p:cNvSpPr/>
          <p:nvPr/>
        </p:nvSpPr>
        <p:spPr>
          <a:xfrm rot="1355328">
            <a:off x="7937895" y="4484274"/>
            <a:ext cx="86916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46B"/>
                </a:solidFill>
                <a:latin typeface="Arial" pitchFamily="34" charset="0"/>
                <a:ea typeface="Arial" pitchFamily="34" charset="-122"/>
                <a:cs typeface="Arial" pitchFamily="34" charset="-120"/>
              </a:rPr>
              <a:t>create claim</a:t>
            </a:r>
            <a:endParaRPr lang="en-US" sz="1200" dirty="0"/>
          </a:p>
        </p:txBody>
      </p:sp>
      <p:sp>
        <p:nvSpPr>
          <p:cNvPr id="37" name="Shape 29"/>
          <p:cNvSpPr/>
          <p:nvPr/>
        </p:nvSpPr>
        <p:spPr>
          <a:xfrm>
            <a:off x="825500" y="5778500"/>
            <a:ext cx="165100" cy="165100"/>
          </a:xfrm>
          <a:prstGeom prst="roundRect">
            <a:avLst>
              <a:gd name="adj" fmla="val 23077"/>
            </a:avLst>
          </a:prstGeom>
          <a:solidFill>
            <a:srgbClr val="083F75"/>
          </a:solidFill>
          <a:ln/>
        </p:spPr>
        <p:txBody>
          <a:bodyPr/>
          <a:lstStyle/>
          <a:p>
            <a:endParaRPr lang="en-US"/>
          </a:p>
        </p:txBody>
      </p:sp>
      <p:sp>
        <p:nvSpPr>
          <p:cNvPr id="38" name="Text 30"/>
          <p:cNvSpPr/>
          <p:nvPr/>
        </p:nvSpPr>
        <p:spPr>
          <a:xfrm>
            <a:off x="1054100" y="5754390"/>
            <a:ext cx="57947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46B"/>
                </a:solidFill>
                <a:latin typeface="Arial" pitchFamily="34" charset="0"/>
                <a:ea typeface="Arial" pitchFamily="34" charset="-122"/>
                <a:cs typeface="Arial" pitchFamily="34" charset="-120"/>
              </a:rPr>
              <a:t>Person</a:t>
            </a:r>
            <a:endParaRPr lang="en-US" sz="1200" dirty="0"/>
          </a:p>
        </p:txBody>
      </p:sp>
      <p:sp>
        <p:nvSpPr>
          <p:cNvPr id="39" name="Shape 31"/>
          <p:cNvSpPr/>
          <p:nvPr/>
        </p:nvSpPr>
        <p:spPr>
          <a:xfrm>
            <a:off x="1790998" y="5778500"/>
            <a:ext cx="165100" cy="165100"/>
          </a:xfrm>
          <a:prstGeom prst="roundRect">
            <a:avLst>
              <a:gd name="adj" fmla="val 23077"/>
            </a:avLst>
          </a:prstGeom>
          <a:solidFill>
            <a:srgbClr val="0E7C66"/>
          </a:solidFill>
          <a:ln/>
        </p:spPr>
        <p:txBody>
          <a:bodyPr/>
          <a:lstStyle/>
          <a:p>
            <a:endParaRPr lang="en-US"/>
          </a:p>
        </p:txBody>
      </p:sp>
      <p:sp>
        <p:nvSpPr>
          <p:cNvPr id="40" name="Text 32"/>
          <p:cNvSpPr/>
          <p:nvPr/>
        </p:nvSpPr>
        <p:spPr>
          <a:xfrm>
            <a:off x="2019598" y="5754390"/>
            <a:ext cx="88427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46B"/>
                </a:solidFill>
                <a:latin typeface="Arial" pitchFamily="34" charset="0"/>
                <a:ea typeface="Arial" pitchFamily="34" charset="-122"/>
                <a:cs typeface="Arial" pitchFamily="34" charset="-120"/>
              </a:rPr>
              <a:t>ClaimSight</a:t>
            </a:r>
            <a:endParaRPr lang="en-US" sz="1200" dirty="0"/>
          </a:p>
        </p:txBody>
      </p:sp>
      <p:sp>
        <p:nvSpPr>
          <p:cNvPr id="41" name="Shape 33"/>
          <p:cNvSpPr/>
          <p:nvPr/>
        </p:nvSpPr>
        <p:spPr>
          <a:xfrm>
            <a:off x="3010495" y="5778500"/>
            <a:ext cx="165100" cy="165100"/>
          </a:xfrm>
          <a:prstGeom prst="roundRect">
            <a:avLst>
              <a:gd name="adj" fmla="val 23077"/>
            </a:avLst>
          </a:prstGeom>
          <a:solidFill>
            <a:srgbClr val="5F6B7A"/>
          </a:solidFill>
          <a:ln/>
        </p:spPr>
        <p:txBody>
          <a:bodyPr/>
          <a:lstStyle/>
          <a:p>
            <a:endParaRPr lang="en-US"/>
          </a:p>
        </p:txBody>
      </p:sp>
      <p:sp>
        <p:nvSpPr>
          <p:cNvPr id="42" name="Text 34"/>
          <p:cNvSpPr/>
          <p:nvPr/>
        </p:nvSpPr>
        <p:spPr>
          <a:xfrm>
            <a:off x="3239095" y="5754390"/>
            <a:ext cx="130087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46B"/>
                </a:solidFill>
                <a:latin typeface="Arial" pitchFamily="34" charset="0"/>
                <a:ea typeface="Arial" pitchFamily="34" charset="-122"/>
                <a:cs typeface="Arial" pitchFamily="34" charset="-120"/>
              </a:rPr>
              <a:t>External system</a:t>
            </a:r>
            <a:endParaRPr lang="en-US" sz="1200" dirty="0"/>
          </a:p>
        </p:txBody>
      </p:sp>
      <p:cxnSp>
        <p:nvCxnSpPr>
          <p:cNvPr id="44" name="Straight Arrow Connector 43">
            <a:extLst>
              <a:ext uri="{FF2B5EF4-FFF2-40B4-BE49-F238E27FC236}">
                <a16:creationId xmlns:a16="http://schemas.microsoft.com/office/drawing/2014/main" id="{A6FCCF94-7C72-E7B2-85FD-870A3DEC6B6F}"/>
              </a:ext>
            </a:extLst>
          </p:cNvPr>
          <p:cNvCxnSpPr>
            <a:cxnSpLocks/>
            <a:stCxn id="13" idx="2"/>
            <a:endCxn id="4" idx="0"/>
          </p:cNvCxnSpPr>
          <p:nvPr/>
        </p:nvCxnSpPr>
        <p:spPr>
          <a:xfrm>
            <a:off x="6032500" y="2534286"/>
            <a:ext cx="0" cy="898525"/>
          </a:xfrm>
          <a:prstGeom prst="straightConnector1">
            <a:avLst/>
          </a:prstGeom>
          <a:ln>
            <a:solidFill>
              <a:srgbClr val="5F6B7A"/>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6E6AEB7F-011B-5134-A8AE-10C9A7E032F4}"/>
              </a:ext>
            </a:extLst>
          </p:cNvPr>
          <p:cNvCxnSpPr>
            <a:cxnSpLocks/>
            <a:endCxn id="16" idx="1"/>
          </p:cNvCxnSpPr>
          <p:nvPr/>
        </p:nvCxnSpPr>
        <p:spPr>
          <a:xfrm flipV="1">
            <a:off x="7419975" y="2883536"/>
            <a:ext cx="1978025" cy="857250"/>
          </a:xfrm>
          <a:prstGeom prst="straightConnector1">
            <a:avLst/>
          </a:prstGeom>
          <a:ln>
            <a:solidFill>
              <a:srgbClr val="5F6B7A"/>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D69EC443-8303-70B4-F8C4-E3E655A770A7}"/>
              </a:ext>
            </a:extLst>
          </p:cNvPr>
          <p:cNvCxnSpPr>
            <a:cxnSpLocks/>
            <a:stCxn id="4" idx="3"/>
            <a:endCxn id="19" idx="1"/>
          </p:cNvCxnSpPr>
          <p:nvPr/>
        </p:nvCxnSpPr>
        <p:spPr>
          <a:xfrm flipV="1">
            <a:off x="7419975" y="4026536"/>
            <a:ext cx="1978025" cy="31750"/>
          </a:xfrm>
          <a:prstGeom prst="straightConnector1">
            <a:avLst/>
          </a:prstGeom>
          <a:ln>
            <a:solidFill>
              <a:srgbClr val="5F6B7A"/>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21025C8D-7F63-A6DF-D49A-D1265853F04C}"/>
              </a:ext>
            </a:extLst>
          </p:cNvPr>
          <p:cNvCxnSpPr>
            <a:cxnSpLocks/>
            <a:endCxn id="22" idx="1"/>
          </p:cNvCxnSpPr>
          <p:nvPr/>
        </p:nvCxnSpPr>
        <p:spPr>
          <a:xfrm>
            <a:off x="7419975" y="4355044"/>
            <a:ext cx="1978025" cy="814492"/>
          </a:xfrm>
          <a:prstGeom prst="straightConnector1">
            <a:avLst/>
          </a:prstGeom>
          <a:ln>
            <a:solidFill>
              <a:srgbClr val="5F6B7A"/>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6B04ECAB-9B1F-2BF8-83DE-DE63BDC26662}"/>
              </a:ext>
            </a:extLst>
          </p:cNvPr>
          <p:cNvCxnSpPr>
            <a:cxnSpLocks/>
          </p:cNvCxnSpPr>
          <p:nvPr/>
        </p:nvCxnSpPr>
        <p:spPr>
          <a:xfrm flipV="1">
            <a:off x="2400300" y="4230331"/>
            <a:ext cx="2244725" cy="723417"/>
          </a:xfrm>
          <a:prstGeom prst="straightConnector1">
            <a:avLst/>
          </a:prstGeom>
          <a:ln>
            <a:solidFill>
              <a:srgbClr val="5F6B7A"/>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BAA40C49-8D8E-0C6B-03CE-760A77804DC6}"/>
              </a:ext>
            </a:extLst>
          </p:cNvPr>
          <p:cNvCxnSpPr>
            <a:cxnSpLocks/>
          </p:cNvCxnSpPr>
          <p:nvPr/>
        </p:nvCxnSpPr>
        <p:spPr>
          <a:xfrm>
            <a:off x="2400300" y="3233020"/>
            <a:ext cx="2244725" cy="520890"/>
          </a:xfrm>
          <a:prstGeom prst="straightConnector1">
            <a:avLst/>
          </a:prstGeom>
          <a:ln>
            <a:solidFill>
              <a:srgbClr val="5F6B7A"/>
            </a:solidFill>
            <a:tailEnd type="triangle"/>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C58D5E92-FE50-4668-9A60-1EC707880A74}"/>
              </a:ext>
            </a:extLst>
          </p:cNvPr>
          <p:cNvGrpSpPr/>
          <p:nvPr/>
        </p:nvGrpSpPr>
        <p:grpSpPr>
          <a:xfrm>
            <a:off x="791085" y="2200111"/>
            <a:ext cx="1722781" cy="1566873"/>
            <a:chOff x="8196397" y="78542"/>
            <a:chExt cx="1722781" cy="1566873"/>
          </a:xfrm>
        </p:grpSpPr>
        <p:pic>
          <p:nvPicPr>
            <p:cNvPr id="66" name="Picture 65">
              <a:extLst>
                <a:ext uri="{FF2B5EF4-FFF2-40B4-BE49-F238E27FC236}">
                  <a16:creationId xmlns:a16="http://schemas.microsoft.com/office/drawing/2014/main" id="{BC5A35E8-8C81-E160-5147-5CAC6A8CEBA3}"/>
                </a:ext>
              </a:extLst>
            </p:cNvPr>
            <p:cNvPicPr>
              <a:picLocks noChangeAspect="1"/>
            </p:cNvPicPr>
            <p:nvPr/>
          </p:nvPicPr>
          <p:blipFill>
            <a:blip r:embed="rId3"/>
            <a:stretch>
              <a:fillRect/>
            </a:stretch>
          </p:blipFill>
          <p:spPr>
            <a:xfrm>
              <a:off x="8196397" y="78542"/>
              <a:ext cx="1722781" cy="1566873"/>
            </a:xfrm>
            <a:prstGeom prst="rect">
              <a:avLst/>
            </a:prstGeom>
          </p:spPr>
        </p:pic>
        <p:sp>
          <p:nvSpPr>
            <p:cNvPr id="67" name="Text 6">
              <a:extLst>
                <a:ext uri="{FF2B5EF4-FFF2-40B4-BE49-F238E27FC236}">
                  <a16:creationId xmlns:a16="http://schemas.microsoft.com/office/drawing/2014/main" id="{84D50DB1-95C4-0C64-BF96-40E338B16B85}"/>
                </a:ext>
              </a:extLst>
            </p:cNvPr>
            <p:cNvSpPr/>
            <p:nvPr/>
          </p:nvSpPr>
          <p:spPr>
            <a:xfrm>
              <a:off x="8471378" y="807029"/>
              <a:ext cx="1447800" cy="410071"/>
            </a:xfrm>
            <a:prstGeom prst="rect">
              <a:avLst/>
            </a:prstGeom>
            <a:noFill/>
            <a:ln/>
          </p:spPr>
          <p:txBody>
            <a:bodyPr wrap="square" lIns="0" tIns="0" rIns="0" bIns="0" rtlCol="0" anchor="t">
              <a:normAutofit/>
            </a:bodyPr>
            <a:lstStyle/>
            <a:p>
              <a:pPr marL="0" indent="0" algn="l">
                <a:lnSpc>
                  <a:spcPts val="1534"/>
                </a:lnSpc>
                <a:buNone/>
              </a:pPr>
              <a:r>
                <a:rPr lang="en-US" sz="1278" b="1" dirty="0">
                  <a:solidFill>
                    <a:srgbClr val="FFFFFF"/>
                  </a:solidFill>
                  <a:latin typeface="Arial" pitchFamily="34" charset="0"/>
                  <a:ea typeface="Arial" pitchFamily="34" charset="-122"/>
                  <a:cs typeface="Arial" pitchFamily="34" charset="-120"/>
                </a:rPr>
                <a:t>Claims intake handler</a:t>
              </a:r>
              <a:endParaRPr lang="en-US" sz="1278" dirty="0"/>
            </a:p>
          </p:txBody>
        </p:sp>
        <p:sp>
          <p:nvSpPr>
            <p:cNvPr id="68" name="Text 7">
              <a:extLst>
                <a:ext uri="{FF2B5EF4-FFF2-40B4-BE49-F238E27FC236}">
                  <a16:creationId xmlns:a16="http://schemas.microsoft.com/office/drawing/2014/main" id="{98474C8F-FB48-9816-F15F-17B818DCE328}"/>
                </a:ext>
              </a:extLst>
            </p:cNvPr>
            <p:cNvSpPr/>
            <p:nvPr/>
          </p:nvSpPr>
          <p:spPr>
            <a:xfrm>
              <a:off x="8471378" y="1242500"/>
              <a:ext cx="1447800" cy="224929"/>
            </a:xfrm>
            <a:prstGeom prst="rect">
              <a:avLst/>
            </a:prstGeom>
            <a:noFill/>
            <a:ln/>
          </p:spPr>
          <p:txBody>
            <a:bodyPr wrap="square" lIns="0" tIns="0" rIns="0" bIns="0" rtlCol="0" anchor="t">
              <a:normAutofit/>
            </a:bodyPr>
            <a:lstStyle/>
            <a:p>
              <a:pPr marL="0" indent="0" algn="l">
                <a:lnSpc>
                  <a:spcPts val="1570"/>
                </a:lnSpc>
                <a:buNone/>
              </a:pPr>
              <a:r>
                <a:rPr lang="en-US" sz="1121" dirty="0">
                  <a:solidFill>
                    <a:srgbClr val="AEBBC9"/>
                  </a:solidFill>
                  <a:latin typeface="Arial" pitchFamily="34" charset="0"/>
                  <a:ea typeface="Arial" pitchFamily="34" charset="-122"/>
                  <a:cs typeface="Arial" pitchFamily="34" charset="-120"/>
                </a:rPr>
                <a:t>[Person]</a:t>
              </a:r>
              <a:endParaRPr lang="en-US" sz="1121" dirty="0"/>
            </a:p>
          </p:txBody>
        </p:sp>
      </p:grpSp>
      <p:grpSp>
        <p:nvGrpSpPr>
          <p:cNvPr id="78" name="Group 77">
            <a:extLst>
              <a:ext uri="{FF2B5EF4-FFF2-40B4-BE49-F238E27FC236}">
                <a16:creationId xmlns:a16="http://schemas.microsoft.com/office/drawing/2014/main" id="{E5E609B8-0B7A-EEC4-2A65-20564587C077}"/>
              </a:ext>
            </a:extLst>
          </p:cNvPr>
          <p:cNvGrpSpPr/>
          <p:nvPr/>
        </p:nvGrpSpPr>
        <p:grpSpPr>
          <a:xfrm>
            <a:off x="766787" y="3854022"/>
            <a:ext cx="1722781" cy="1566873"/>
            <a:chOff x="8536609" y="462177"/>
            <a:chExt cx="1722781" cy="1566873"/>
          </a:xfrm>
        </p:grpSpPr>
        <p:pic>
          <p:nvPicPr>
            <p:cNvPr id="73" name="Picture 72">
              <a:extLst>
                <a:ext uri="{FF2B5EF4-FFF2-40B4-BE49-F238E27FC236}">
                  <a16:creationId xmlns:a16="http://schemas.microsoft.com/office/drawing/2014/main" id="{295DF631-3594-C0E3-E466-1CD68EBE1030}"/>
                </a:ext>
              </a:extLst>
            </p:cNvPr>
            <p:cNvPicPr>
              <a:picLocks noChangeAspect="1"/>
            </p:cNvPicPr>
            <p:nvPr/>
          </p:nvPicPr>
          <p:blipFill>
            <a:blip r:embed="rId3"/>
            <a:stretch>
              <a:fillRect/>
            </a:stretch>
          </p:blipFill>
          <p:spPr>
            <a:xfrm>
              <a:off x="8536609" y="462177"/>
              <a:ext cx="1722781" cy="1566873"/>
            </a:xfrm>
            <a:prstGeom prst="rect">
              <a:avLst/>
            </a:prstGeom>
          </p:spPr>
        </p:pic>
        <p:sp>
          <p:nvSpPr>
            <p:cNvPr id="76" name="Text 9">
              <a:extLst>
                <a:ext uri="{FF2B5EF4-FFF2-40B4-BE49-F238E27FC236}">
                  <a16:creationId xmlns:a16="http://schemas.microsoft.com/office/drawing/2014/main" id="{17D39E94-6CB3-65F4-4C3F-27B20F16F922}"/>
                </a:ext>
              </a:extLst>
            </p:cNvPr>
            <p:cNvSpPr/>
            <p:nvPr/>
          </p:nvSpPr>
          <p:spPr>
            <a:xfrm>
              <a:off x="8746782" y="1271882"/>
              <a:ext cx="1447800" cy="231080"/>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FFFFFF"/>
                  </a:solidFill>
                  <a:latin typeface="Arial" pitchFamily="34" charset="0"/>
                  <a:ea typeface="Arial" pitchFamily="34" charset="-122"/>
                  <a:cs typeface="Arial" pitchFamily="34" charset="-120"/>
                </a:rPr>
                <a:t>Operations lead</a:t>
              </a:r>
              <a:endParaRPr lang="en-US" sz="1350" dirty="0"/>
            </a:p>
          </p:txBody>
        </p:sp>
        <p:sp>
          <p:nvSpPr>
            <p:cNvPr id="77" name="Text 10">
              <a:extLst>
                <a:ext uri="{FF2B5EF4-FFF2-40B4-BE49-F238E27FC236}">
                  <a16:creationId xmlns:a16="http://schemas.microsoft.com/office/drawing/2014/main" id="{6AF62C48-2F28-D988-87F2-03D7CA8B22DE}"/>
                </a:ext>
              </a:extLst>
            </p:cNvPr>
            <p:cNvSpPr/>
            <p:nvPr/>
          </p:nvSpPr>
          <p:spPr>
            <a:xfrm>
              <a:off x="8746782" y="1528362"/>
              <a:ext cx="1447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EBBC9"/>
                  </a:solidFill>
                  <a:latin typeface="Arial" pitchFamily="34" charset="0"/>
                  <a:ea typeface="Arial" pitchFamily="34" charset="-122"/>
                  <a:cs typeface="Arial" pitchFamily="34" charset="-120"/>
                </a:rPr>
                <a:t>[Person]</a:t>
              </a:r>
              <a:endParaRPr lang="en-US" sz="1200"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ARCHITECTURE · C4 CONTAINER VIEW</a:t>
            </a:r>
            <a:endParaRPr lang="en-US" sz="1200" dirty="0"/>
          </a:p>
        </p:txBody>
      </p:sp>
      <p:sp>
        <p:nvSpPr>
          <p:cNvPr id="3" name="Text 1"/>
          <p:cNvSpPr>
            <a:spLocks noGrp="1"/>
          </p:cNvSpPr>
          <p:nvPr>
            <p:ph type="title"/>
          </p:nvPr>
        </p:nvSpPr>
        <p:spPr>
          <a:xfrm>
            <a:off x="812800" y="1102320"/>
            <a:ext cx="10883392"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4233D"/>
                </a:solidFill>
                <a:latin typeface="Georgia" pitchFamily="18" charset="0"/>
                <a:ea typeface="Georgia" pitchFamily="18" charset="-122"/>
                <a:cs typeface="Georgia" pitchFamily="18" charset="-120"/>
              </a:rPr>
              <a:t>Proof of concept — what runs today</a:t>
            </a:r>
            <a:endParaRPr lang="en-US" sz="2600" dirty="0"/>
          </a:p>
        </p:txBody>
      </p:sp>
      <p:sp>
        <p:nvSpPr>
          <p:cNvPr id="4" name="Shape 2"/>
          <p:cNvSpPr/>
          <p:nvPr/>
        </p:nvSpPr>
        <p:spPr>
          <a:xfrm>
            <a:off x="3131957" y="1863030"/>
            <a:ext cx="5003800" cy="3543300"/>
          </a:xfrm>
          <a:prstGeom prst="roundRect">
            <a:avLst>
              <a:gd name="adj" fmla="val 2688"/>
            </a:avLst>
          </a:prstGeom>
          <a:noFill/>
          <a:ln w="12700">
            <a:solidFill>
              <a:srgbClr val="0E7C66"/>
            </a:solidFill>
            <a:prstDash val="dash"/>
          </a:ln>
        </p:spPr>
        <p:txBody>
          <a:bodyPr/>
          <a:lstStyle/>
          <a:p>
            <a:endParaRPr lang="en-US"/>
          </a:p>
        </p:txBody>
      </p:sp>
      <p:sp>
        <p:nvSpPr>
          <p:cNvPr id="5" name="Text 3"/>
          <p:cNvSpPr/>
          <p:nvPr/>
        </p:nvSpPr>
        <p:spPr>
          <a:xfrm>
            <a:off x="3265307" y="1945580"/>
            <a:ext cx="32702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7C66"/>
                </a:solidFill>
                <a:latin typeface="Arial" pitchFamily="34" charset="0"/>
                <a:ea typeface="Arial" pitchFamily="34" charset="-122"/>
                <a:cs typeface="Arial" pitchFamily="34" charset="-120"/>
              </a:rPr>
              <a:t>ClaimSight (POC) · one FastAPI service</a:t>
            </a:r>
            <a:endParaRPr lang="en-US" sz="1200" dirty="0"/>
          </a:p>
        </p:txBody>
      </p:sp>
      <p:sp>
        <p:nvSpPr>
          <p:cNvPr id="7" name="Text 5"/>
          <p:cNvSpPr/>
          <p:nvPr/>
        </p:nvSpPr>
        <p:spPr>
          <a:xfrm>
            <a:off x="1360307" y="3266380"/>
            <a:ext cx="1485900" cy="440234"/>
          </a:xfrm>
          <a:prstGeom prst="rect">
            <a:avLst/>
          </a:prstGeom>
          <a:noFill/>
          <a:ln/>
        </p:spPr>
        <p:txBody>
          <a:bodyPr wrap="square" lIns="0" tIns="0" rIns="0" bIns="0" rtlCol="0" anchor="t">
            <a:normAutofit/>
          </a:bodyPr>
          <a:lstStyle/>
          <a:p>
            <a:pPr marL="0" indent="0" algn="l">
              <a:lnSpc>
                <a:spcPts val="1633"/>
              </a:lnSpc>
              <a:buNone/>
            </a:pPr>
            <a:r>
              <a:rPr lang="en-US" sz="1361" b="1" dirty="0">
                <a:solidFill>
                  <a:srgbClr val="FFFFFF"/>
                </a:solidFill>
                <a:latin typeface="Arial" pitchFamily="34" charset="0"/>
                <a:ea typeface="Arial" pitchFamily="34" charset="-122"/>
                <a:cs typeface="Arial" pitchFamily="34" charset="-120"/>
              </a:rPr>
              <a:t>Claims intake handler</a:t>
            </a:r>
            <a:endParaRPr lang="en-US" sz="1361" dirty="0"/>
          </a:p>
        </p:txBody>
      </p:sp>
      <p:sp>
        <p:nvSpPr>
          <p:cNvPr id="9" name="Shape 7"/>
          <p:cNvSpPr/>
          <p:nvPr/>
        </p:nvSpPr>
        <p:spPr>
          <a:xfrm>
            <a:off x="3379607" y="2237680"/>
            <a:ext cx="2095500" cy="762000"/>
          </a:xfrm>
          <a:prstGeom prst="roundRect">
            <a:avLst>
              <a:gd name="adj" fmla="val 10000"/>
            </a:avLst>
          </a:prstGeom>
          <a:solidFill>
            <a:srgbClr val="0E7C66"/>
          </a:solidFill>
          <a:ln/>
        </p:spPr>
        <p:txBody>
          <a:bodyPr/>
          <a:lstStyle/>
          <a:p>
            <a:endParaRPr lang="en-US"/>
          </a:p>
        </p:txBody>
      </p:sp>
      <p:sp>
        <p:nvSpPr>
          <p:cNvPr id="10" name="Text 8"/>
          <p:cNvSpPr/>
          <p:nvPr/>
        </p:nvSpPr>
        <p:spPr>
          <a:xfrm>
            <a:off x="3519307" y="2386310"/>
            <a:ext cx="18705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FFFFF"/>
                </a:solidFill>
                <a:latin typeface="Arial" pitchFamily="34" charset="0"/>
                <a:ea typeface="Arial" pitchFamily="34" charset="-122"/>
                <a:cs typeface="Arial" pitchFamily="34" charset="-120"/>
              </a:rPr>
              <a:t>Review UI</a:t>
            </a:r>
            <a:endParaRPr lang="en-US" sz="1400" dirty="0"/>
          </a:p>
        </p:txBody>
      </p:sp>
      <p:sp>
        <p:nvSpPr>
          <p:cNvPr id="11" name="Text 9"/>
          <p:cNvSpPr/>
          <p:nvPr/>
        </p:nvSpPr>
        <p:spPr>
          <a:xfrm>
            <a:off x="3519307" y="2637730"/>
            <a:ext cx="18705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DEDE4"/>
                </a:solidFill>
                <a:latin typeface="Arial" pitchFamily="34" charset="0"/>
                <a:ea typeface="Arial" pitchFamily="34" charset="-122"/>
                <a:cs typeface="Arial" pitchFamily="34" charset="-120"/>
              </a:rPr>
              <a:t>[HTML / JS]</a:t>
            </a:r>
            <a:endParaRPr lang="en-US" sz="1200" dirty="0"/>
          </a:p>
        </p:txBody>
      </p:sp>
      <p:sp>
        <p:nvSpPr>
          <p:cNvPr id="12" name="Shape 10"/>
          <p:cNvSpPr/>
          <p:nvPr/>
        </p:nvSpPr>
        <p:spPr>
          <a:xfrm>
            <a:off x="3379607" y="3253680"/>
            <a:ext cx="2095500" cy="825500"/>
          </a:xfrm>
          <a:prstGeom prst="roundRect">
            <a:avLst>
              <a:gd name="adj" fmla="val 9231"/>
            </a:avLst>
          </a:prstGeom>
          <a:solidFill>
            <a:srgbClr val="0E7C66"/>
          </a:solidFill>
          <a:ln/>
        </p:spPr>
        <p:txBody>
          <a:bodyPr/>
          <a:lstStyle/>
          <a:p>
            <a:endParaRPr lang="en-US"/>
          </a:p>
        </p:txBody>
      </p:sp>
      <p:sp>
        <p:nvSpPr>
          <p:cNvPr id="13" name="Text 11"/>
          <p:cNvSpPr/>
          <p:nvPr/>
        </p:nvSpPr>
        <p:spPr>
          <a:xfrm>
            <a:off x="3519307" y="3434060"/>
            <a:ext cx="18705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FFFFF"/>
                </a:solidFill>
                <a:latin typeface="Arial" pitchFamily="34" charset="0"/>
                <a:ea typeface="Arial" pitchFamily="34" charset="-122"/>
                <a:cs typeface="Arial" pitchFamily="34" charset="-120"/>
              </a:rPr>
              <a:t>Intake &amp; triage API</a:t>
            </a:r>
            <a:endParaRPr lang="en-US" sz="1400" dirty="0"/>
          </a:p>
        </p:txBody>
      </p:sp>
      <p:sp>
        <p:nvSpPr>
          <p:cNvPr id="14" name="Text 12"/>
          <p:cNvSpPr/>
          <p:nvPr/>
        </p:nvSpPr>
        <p:spPr>
          <a:xfrm>
            <a:off x="3519307" y="3685480"/>
            <a:ext cx="18705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DEDE4"/>
                </a:solidFill>
                <a:latin typeface="Arial" pitchFamily="34" charset="0"/>
                <a:ea typeface="Arial" pitchFamily="34" charset="-122"/>
                <a:cs typeface="Arial" pitchFamily="34" charset="-120"/>
              </a:rPr>
              <a:t>[Python · FastAPI]</a:t>
            </a:r>
            <a:endParaRPr lang="en-US" sz="1200" dirty="0"/>
          </a:p>
        </p:txBody>
      </p:sp>
      <p:sp>
        <p:nvSpPr>
          <p:cNvPr id="15" name="Shape 13"/>
          <p:cNvSpPr/>
          <p:nvPr/>
        </p:nvSpPr>
        <p:spPr>
          <a:xfrm>
            <a:off x="3379607" y="4396680"/>
            <a:ext cx="2095500" cy="762000"/>
          </a:xfrm>
          <a:prstGeom prst="roundRect">
            <a:avLst>
              <a:gd name="adj" fmla="val 10000"/>
            </a:avLst>
          </a:prstGeom>
          <a:solidFill>
            <a:srgbClr val="0B5D4E"/>
          </a:solidFill>
          <a:ln/>
        </p:spPr>
        <p:txBody>
          <a:bodyPr/>
          <a:lstStyle/>
          <a:p>
            <a:endParaRPr lang="en-US"/>
          </a:p>
        </p:txBody>
      </p:sp>
      <p:sp>
        <p:nvSpPr>
          <p:cNvPr id="16" name="Text 14"/>
          <p:cNvSpPr/>
          <p:nvPr/>
        </p:nvSpPr>
        <p:spPr>
          <a:xfrm>
            <a:off x="3519307" y="4545310"/>
            <a:ext cx="187058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FFFFF"/>
                </a:solidFill>
                <a:latin typeface="Arial" pitchFamily="34" charset="0"/>
                <a:ea typeface="Arial" pitchFamily="34" charset="-122"/>
                <a:cs typeface="Arial" pitchFamily="34" charset="-120"/>
              </a:rPr>
              <a:t>Database</a:t>
            </a:r>
            <a:endParaRPr lang="en-US" sz="1400" dirty="0"/>
          </a:p>
        </p:txBody>
      </p:sp>
      <p:sp>
        <p:nvSpPr>
          <p:cNvPr id="17" name="Text 15"/>
          <p:cNvSpPr/>
          <p:nvPr/>
        </p:nvSpPr>
        <p:spPr>
          <a:xfrm>
            <a:off x="3519307" y="4796730"/>
            <a:ext cx="18705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DEDE4"/>
                </a:solidFill>
                <a:latin typeface="Arial" pitchFamily="34" charset="0"/>
                <a:ea typeface="Arial" pitchFamily="34" charset="-122"/>
                <a:cs typeface="Arial" pitchFamily="34" charset="-120"/>
              </a:rPr>
              <a:t>[SQLite file]</a:t>
            </a:r>
            <a:endParaRPr lang="en-US" sz="1200" dirty="0"/>
          </a:p>
        </p:txBody>
      </p:sp>
      <p:sp>
        <p:nvSpPr>
          <p:cNvPr id="18" name="Shape 16"/>
          <p:cNvSpPr/>
          <p:nvPr/>
        </p:nvSpPr>
        <p:spPr>
          <a:xfrm>
            <a:off x="8650107" y="2237680"/>
            <a:ext cx="2286000" cy="889000"/>
          </a:xfrm>
          <a:prstGeom prst="roundRect">
            <a:avLst>
              <a:gd name="adj" fmla="val 8571"/>
            </a:avLst>
          </a:prstGeom>
          <a:solidFill>
            <a:srgbClr val="5F6B7A"/>
          </a:solidFill>
          <a:ln/>
        </p:spPr>
        <p:txBody>
          <a:bodyPr/>
          <a:lstStyle/>
          <a:p>
            <a:endParaRPr lang="en-US"/>
          </a:p>
        </p:txBody>
      </p:sp>
      <p:sp>
        <p:nvSpPr>
          <p:cNvPr id="19" name="Text 17"/>
          <p:cNvSpPr/>
          <p:nvPr/>
        </p:nvSpPr>
        <p:spPr>
          <a:xfrm>
            <a:off x="8789807" y="2377380"/>
            <a:ext cx="2066798" cy="215900"/>
          </a:xfrm>
          <a:prstGeom prst="rect">
            <a:avLst/>
          </a:prstGeom>
          <a:noFill/>
          <a:ln/>
        </p:spPr>
        <p:txBody>
          <a:bodyPr wrap="square" lIns="0" tIns="0" rIns="0" bIns="0" rtlCol="0" anchor="t">
            <a:normAutofit/>
          </a:bodyPr>
          <a:lstStyle/>
          <a:p>
            <a:pPr marL="0" indent="0" algn="l">
              <a:lnSpc>
                <a:spcPts val="1523"/>
              </a:lnSpc>
              <a:buNone/>
            </a:pPr>
            <a:r>
              <a:rPr lang="en-US" sz="1269" b="1" dirty="0">
                <a:solidFill>
                  <a:srgbClr val="FFFFFF"/>
                </a:solidFill>
                <a:latin typeface="Arial" pitchFamily="34" charset="0"/>
                <a:ea typeface="Arial" pitchFamily="34" charset="-122"/>
                <a:cs typeface="Arial" pitchFamily="34" charset="-120"/>
              </a:rPr>
              <a:t>OpenAI gpt-5-mini</a:t>
            </a:r>
            <a:endParaRPr lang="en-US" sz="1269" dirty="0"/>
          </a:p>
        </p:txBody>
      </p:sp>
      <p:sp>
        <p:nvSpPr>
          <p:cNvPr id="20" name="Text 18"/>
          <p:cNvSpPr/>
          <p:nvPr/>
        </p:nvSpPr>
        <p:spPr>
          <a:xfrm>
            <a:off x="8789807" y="2605980"/>
            <a:ext cx="2146300" cy="406400"/>
          </a:xfrm>
          <a:prstGeom prst="rect">
            <a:avLst/>
          </a:prstGeom>
          <a:noFill/>
          <a:ln/>
        </p:spPr>
        <p:txBody>
          <a:bodyPr wrap="square" lIns="0" tIns="0" rIns="0" bIns="0" rtlCol="0" anchor="t">
            <a:normAutofit/>
          </a:bodyPr>
          <a:lstStyle/>
          <a:p>
            <a:pPr marL="0" indent="0" algn="l">
              <a:lnSpc>
                <a:spcPts val="1664"/>
              </a:lnSpc>
              <a:buNone/>
            </a:pPr>
            <a:r>
              <a:rPr lang="en-US" sz="1189" dirty="0">
                <a:solidFill>
                  <a:srgbClr val="D5DAE0"/>
                </a:solidFill>
                <a:latin typeface="Arial" pitchFamily="34" charset="0"/>
                <a:ea typeface="Arial" pitchFamily="34" charset="-122"/>
                <a:cs typeface="Arial" pitchFamily="34" charset="-120"/>
              </a:rPr>
              <a:t>[External · vision + structured]</a:t>
            </a:r>
            <a:endParaRPr lang="en-US" sz="1189" dirty="0"/>
          </a:p>
        </p:txBody>
      </p:sp>
      <p:sp>
        <p:nvSpPr>
          <p:cNvPr id="21" name="Shape 19"/>
          <p:cNvSpPr/>
          <p:nvPr/>
        </p:nvSpPr>
        <p:spPr>
          <a:xfrm>
            <a:off x="8650107" y="3888680"/>
            <a:ext cx="2286000" cy="1016000"/>
          </a:xfrm>
          <a:prstGeom prst="roundRect">
            <a:avLst>
              <a:gd name="adj" fmla="val 7500"/>
            </a:avLst>
          </a:prstGeom>
          <a:solidFill>
            <a:srgbClr val="5F6B7A"/>
          </a:solidFill>
          <a:ln/>
        </p:spPr>
        <p:txBody>
          <a:bodyPr/>
          <a:lstStyle/>
          <a:p>
            <a:endParaRPr lang="en-US"/>
          </a:p>
        </p:txBody>
      </p:sp>
      <p:sp>
        <p:nvSpPr>
          <p:cNvPr id="22" name="Text 20"/>
          <p:cNvSpPr/>
          <p:nvPr/>
        </p:nvSpPr>
        <p:spPr>
          <a:xfrm>
            <a:off x="8789807" y="4057650"/>
            <a:ext cx="2066798" cy="452041"/>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FFFFF"/>
                </a:solidFill>
                <a:latin typeface="Arial" pitchFamily="34" charset="0"/>
                <a:ea typeface="Arial" pitchFamily="34" charset="-122"/>
                <a:cs typeface="Arial" pitchFamily="34" charset="-120"/>
              </a:rPr>
              <a:t>Policy &amp; claims systems</a:t>
            </a:r>
            <a:endParaRPr lang="en-US" sz="1400" dirty="0"/>
          </a:p>
        </p:txBody>
      </p:sp>
      <p:sp>
        <p:nvSpPr>
          <p:cNvPr id="23" name="Text 21"/>
          <p:cNvSpPr/>
          <p:nvPr/>
        </p:nvSpPr>
        <p:spPr>
          <a:xfrm>
            <a:off x="8789807" y="4522390"/>
            <a:ext cx="2146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5DAE0"/>
                </a:solidFill>
                <a:latin typeface="Arial" pitchFamily="34" charset="0"/>
                <a:ea typeface="Arial" pitchFamily="34" charset="-122"/>
                <a:cs typeface="Arial" pitchFamily="34" charset="-120"/>
              </a:rPr>
              <a:t>[External · simulated in POC]</a:t>
            </a:r>
            <a:endParaRPr lang="en-US" sz="1200" dirty="0"/>
          </a:p>
        </p:txBody>
      </p:sp>
      <p:pic>
        <p:nvPicPr>
          <p:cNvPr id="25" name="Image 1" descr="connector"/>
          <p:cNvPicPr>
            <a:picLocks noChangeAspect="1"/>
          </p:cNvPicPr>
          <p:nvPr/>
        </p:nvPicPr>
        <p:blipFill>
          <a:blip r:embed="rId3"/>
          <a:srcRect/>
          <a:stretch/>
        </p:blipFill>
        <p:spPr>
          <a:xfrm>
            <a:off x="4389257" y="2961580"/>
            <a:ext cx="76200" cy="330200"/>
          </a:xfrm>
          <a:prstGeom prst="rect">
            <a:avLst/>
          </a:prstGeom>
        </p:spPr>
      </p:pic>
      <p:pic>
        <p:nvPicPr>
          <p:cNvPr id="26" name="Image 2" descr="connector"/>
          <p:cNvPicPr>
            <a:picLocks noChangeAspect="1"/>
          </p:cNvPicPr>
          <p:nvPr/>
        </p:nvPicPr>
        <p:blipFill>
          <a:blip r:embed="rId4"/>
          <a:srcRect/>
          <a:stretch/>
        </p:blipFill>
        <p:spPr>
          <a:xfrm>
            <a:off x="4389257" y="4041080"/>
            <a:ext cx="76200" cy="393700"/>
          </a:xfrm>
          <a:prstGeom prst="rect">
            <a:avLst/>
          </a:prstGeom>
        </p:spPr>
      </p:pic>
      <p:sp>
        <p:nvSpPr>
          <p:cNvPr id="29" name="Text 22"/>
          <p:cNvSpPr/>
          <p:nvPr/>
        </p:nvSpPr>
        <p:spPr>
          <a:xfrm rot="20776988">
            <a:off x="6312985" y="2689819"/>
            <a:ext cx="1962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46B"/>
                </a:solidFill>
                <a:latin typeface="Arial" pitchFamily="34" charset="0"/>
                <a:ea typeface="Arial" pitchFamily="34" charset="-122"/>
                <a:cs typeface="Arial" pitchFamily="34" charset="-120"/>
              </a:rPr>
              <a:t>extract / classify</a:t>
            </a:r>
            <a:endParaRPr lang="en-US" sz="1200" dirty="0"/>
          </a:p>
        </p:txBody>
      </p:sp>
      <p:sp>
        <p:nvSpPr>
          <p:cNvPr id="30" name="Text 23"/>
          <p:cNvSpPr/>
          <p:nvPr/>
        </p:nvSpPr>
        <p:spPr>
          <a:xfrm rot="631544">
            <a:off x="6247368" y="3861939"/>
            <a:ext cx="20929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46B"/>
                </a:solidFill>
                <a:latin typeface="Arial" pitchFamily="34" charset="0"/>
                <a:ea typeface="Arial" pitchFamily="34" charset="-122"/>
                <a:cs typeface="Arial" pitchFamily="34" charset="-120"/>
              </a:rPr>
              <a:t>verify / create (in-process)</a:t>
            </a:r>
            <a:endParaRPr lang="en-US" sz="1200" dirty="0"/>
          </a:p>
        </p:txBody>
      </p:sp>
      <p:sp>
        <p:nvSpPr>
          <p:cNvPr id="31" name="Shape 24"/>
          <p:cNvSpPr/>
          <p:nvPr/>
        </p:nvSpPr>
        <p:spPr>
          <a:xfrm>
            <a:off x="825500" y="5778500"/>
            <a:ext cx="165100" cy="165100"/>
          </a:xfrm>
          <a:prstGeom prst="roundRect">
            <a:avLst>
              <a:gd name="adj" fmla="val 23077"/>
            </a:avLst>
          </a:prstGeom>
          <a:solidFill>
            <a:srgbClr val="083F75"/>
          </a:solidFill>
          <a:ln/>
        </p:spPr>
        <p:txBody>
          <a:bodyPr/>
          <a:lstStyle/>
          <a:p>
            <a:endParaRPr lang="en-US"/>
          </a:p>
        </p:txBody>
      </p:sp>
      <p:sp>
        <p:nvSpPr>
          <p:cNvPr id="32" name="Text 25"/>
          <p:cNvSpPr/>
          <p:nvPr/>
        </p:nvSpPr>
        <p:spPr>
          <a:xfrm>
            <a:off x="1054100" y="5754390"/>
            <a:ext cx="42683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46B"/>
                </a:solidFill>
                <a:latin typeface="Arial" pitchFamily="34" charset="0"/>
                <a:ea typeface="Arial" pitchFamily="34" charset="-122"/>
                <a:cs typeface="Arial" pitchFamily="34" charset="-120"/>
              </a:rPr>
              <a:t>Actor</a:t>
            </a:r>
            <a:endParaRPr lang="en-US" sz="1200" dirty="0"/>
          </a:p>
        </p:txBody>
      </p:sp>
      <p:sp>
        <p:nvSpPr>
          <p:cNvPr id="33" name="Shape 26"/>
          <p:cNvSpPr/>
          <p:nvPr/>
        </p:nvSpPr>
        <p:spPr>
          <a:xfrm>
            <a:off x="1663799" y="5778500"/>
            <a:ext cx="165100" cy="165100"/>
          </a:xfrm>
          <a:prstGeom prst="roundRect">
            <a:avLst>
              <a:gd name="adj" fmla="val 23077"/>
            </a:avLst>
          </a:prstGeom>
          <a:solidFill>
            <a:srgbClr val="0E7C66"/>
          </a:solidFill>
          <a:ln/>
        </p:spPr>
        <p:txBody>
          <a:bodyPr/>
          <a:lstStyle/>
          <a:p>
            <a:endParaRPr lang="en-US"/>
          </a:p>
        </p:txBody>
      </p:sp>
      <p:sp>
        <p:nvSpPr>
          <p:cNvPr id="34" name="Text 27"/>
          <p:cNvSpPr/>
          <p:nvPr/>
        </p:nvSpPr>
        <p:spPr>
          <a:xfrm>
            <a:off x="1892399" y="5754390"/>
            <a:ext cx="16601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46B"/>
                </a:solidFill>
                <a:latin typeface="Arial" pitchFamily="34" charset="0"/>
                <a:ea typeface="Arial" pitchFamily="34" charset="-122"/>
                <a:cs typeface="Arial" pitchFamily="34" charset="-120"/>
              </a:rPr>
              <a:t>ClaimSight container</a:t>
            </a:r>
            <a:endParaRPr lang="en-US" sz="1200" dirty="0"/>
          </a:p>
        </p:txBody>
      </p:sp>
      <p:sp>
        <p:nvSpPr>
          <p:cNvPr id="35" name="Shape 28"/>
          <p:cNvSpPr/>
          <p:nvPr/>
        </p:nvSpPr>
        <p:spPr>
          <a:xfrm>
            <a:off x="3552527" y="5778500"/>
            <a:ext cx="165100" cy="165100"/>
          </a:xfrm>
          <a:prstGeom prst="roundRect">
            <a:avLst>
              <a:gd name="adj" fmla="val 23077"/>
            </a:avLst>
          </a:prstGeom>
          <a:solidFill>
            <a:srgbClr val="5F6B7A"/>
          </a:solidFill>
          <a:ln/>
        </p:spPr>
        <p:txBody>
          <a:bodyPr/>
          <a:lstStyle/>
          <a:p>
            <a:endParaRPr lang="en-US"/>
          </a:p>
        </p:txBody>
      </p:sp>
      <p:sp>
        <p:nvSpPr>
          <p:cNvPr id="36" name="Text 29"/>
          <p:cNvSpPr/>
          <p:nvPr/>
        </p:nvSpPr>
        <p:spPr>
          <a:xfrm>
            <a:off x="3781127" y="5754390"/>
            <a:ext cx="130087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46B"/>
                </a:solidFill>
                <a:latin typeface="Arial" pitchFamily="34" charset="0"/>
                <a:ea typeface="Arial" pitchFamily="34" charset="-122"/>
                <a:cs typeface="Arial" pitchFamily="34" charset="-120"/>
              </a:rPr>
              <a:t>External system</a:t>
            </a:r>
            <a:endParaRPr lang="en-US" sz="1200" dirty="0"/>
          </a:p>
        </p:txBody>
      </p:sp>
      <p:grpSp>
        <p:nvGrpSpPr>
          <p:cNvPr id="37" name="Group 36">
            <a:extLst>
              <a:ext uri="{FF2B5EF4-FFF2-40B4-BE49-F238E27FC236}">
                <a16:creationId xmlns:a16="http://schemas.microsoft.com/office/drawing/2014/main" id="{026D9A67-35D5-72CA-CED2-188682920028}"/>
              </a:ext>
            </a:extLst>
          </p:cNvPr>
          <p:cNvGrpSpPr/>
          <p:nvPr/>
        </p:nvGrpSpPr>
        <p:grpSpPr>
          <a:xfrm>
            <a:off x="802408" y="2579635"/>
            <a:ext cx="1722781" cy="1566873"/>
            <a:chOff x="8196397" y="78542"/>
            <a:chExt cx="1722781" cy="1566873"/>
          </a:xfrm>
        </p:grpSpPr>
        <p:pic>
          <p:nvPicPr>
            <p:cNvPr id="38" name="Picture 37">
              <a:extLst>
                <a:ext uri="{FF2B5EF4-FFF2-40B4-BE49-F238E27FC236}">
                  <a16:creationId xmlns:a16="http://schemas.microsoft.com/office/drawing/2014/main" id="{75C2B846-976B-7CC2-5DB8-16A4D4D6251D}"/>
                </a:ext>
              </a:extLst>
            </p:cNvPr>
            <p:cNvPicPr>
              <a:picLocks noChangeAspect="1"/>
            </p:cNvPicPr>
            <p:nvPr/>
          </p:nvPicPr>
          <p:blipFill>
            <a:blip r:embed="rId5"/>
            <a:stretch>
              <a:fillRect/>
            </a:stretch>
          </p:blipFill>
          <p:spPr>
            <a:xfrm>
              <a:off x="8196397" y="78542"/>
              <a:ext cx="1722781" cy="1566873"/>
            </a:xfrm>
            <a:prstGeom prst="rect">
              <a:avLst/>
            </a:prstGeom>
          </p:spPr>
        </p:pic>
        <p:sp>
          <p:nvSpPr>
            <p:cNvPr id="39" name="Text 6">
              <a:extLst>
                <a:ext uri="{FF2B5EF4-FFF2-40B4-BE49-F238E27FC236}">
                  <a16:creationId xmlns:a16="http://schemas.microsoft.com/office/drawing/2014/main" id="{1114B0B5-3A8C-94B0-C94D-E59806F5AC8A}"/>
                </a:ext>
              </a:extLst>
            </p:cNvPr>
            <p:cNvSpPr/>
            <p:nvPr/>
          </p:nvSpPr>
          <p:spPr>
            <a:xfrm>
              <a:off x="8471378" y="807029"/>
              <a:ext cx="1447800" cy="410071"/>
            </a:xfrm>
            <a:prstGeom prst="rect">
              <a:avLst/>
            </a:prstGeom>
            <a:noFill/>
            <a:ln/>
          </p:spPr>
          <p:txBody>
            <a:bodyPr wrap="square" lIns="0" tIns="0" rIns="0" bIns="0" rtlCol="0" anchor="t">
              <a:normAutofit/>
            </a:bodyPr>
            <a:lstStyle/>
            <a:p>
              <a:pPr marL="0" indent="0" algn="l">
                <a:lnSpc>
                  <a:spcPts val="1534"/>
                </a:lnSpc>
                <a:buNone/>
              </a:pPr>
              <a:r>
                <a:rPr lang="en-US" sz="1278" b="1" dirty="0">
                  <a:solidFill>
                    <a:srgbClr val="FFFFFF"/>
                  </a:solidFill>
                  <a:latin typeface="Arial" pitchFamily="34" charset="0"/>
                  <a:ea typeface="Arial" pitchFamily="34" charset="-122"/>
                  <a:cs typeface="Arial" pitchFamily="34" charset="-120"/>
                </a:rPr>
                <a:t>Claims intake handler</a:t>
              </a:r>
              <a:endParaRPr lang="en-US" sz="1278" dirty="0"/>
            </a:p>
          </p:txBody>
        </p:sp>
        <p:sp>
          <p:nvSpPr>
            <p:cNvPr id="40" name="Text 7">
              <a:extLst>
                <a:ext uri="{FF2B5EF4-FFF2-40B4-BE49-F238E27FC236}">
                  <a16:creationId xmlns:a16="http://schemas.microsoft.com/office/drawing/2014/main" id="{CCABF476-62CF-2A50-E631-53285C34C2E9}"/>
                </a:ext>
              </a:extLst>
            </p:cNvPr>
            <p:cNvSpPr/>
            <p:nvPr/>
          </p:nvSpPr>
          <p:spPr>
            <a:xfrm>
              <a:off x="8471378" y="1242500"/>
              <a:ext cx="1447800" cy="224929"/>
            </a:xfrm>
            <a:prstGeom prst="rect">
              <a:avLst/>
            </a:prstGeom>
            <a:noFill/>
            <a:ln/>
          </p:spPr>
          <p:txBody>
            <a:bodyPr wrap="square" lIns="0" tIns="0" rIns="0" bIns="0" rtlCol="0" anchor="t">
              <a:normAutofit/>
            </a:bodyPr>
            <a:lstStyle/>
            <a:p>
              <a:pPr marL="0" indent="0" algn="l">
                <a:lnSpc>
                  <a:spcPts val="1570"/>
                </a:lnSpc>
                <a:buNone/>
              </a:pPr>
              <a:r>
                <a:rPr lang="en-US" sz="1121" dirty="0">
                  <a:solidFill>
                    <a:srgbClr val="AEBBC9"/>
                  </a:solidFill>
                  <a:latin typeface="Arial" pitchFamily="34" charset="0"/>
                  <a:ea typeface="Arial" pitchFamily="34" charset="-122"/>
                  <a:cs typeface="Arial" pitchFamily="34" charset="-120"/>
                </a:rPr>
                <a:t>[Person]</a:t>
              </a:r>
              <a:endParaRPr lang="en-US" sz="1121" dirty="0"/>
            </a:p>
          </p:txBody>
        </p:sp>
      </p:grpSp>
      <p:cxnSp>
        <p:nvCxnSpPr>
          <p:cNvPr id="41" name="Straight Arrow Connector 40">
            <a:extLst>
              <a:ext uri="{FF2B5EF4-FFF2-40B4-BE49-F238E27FC236}">
                <a16:creationId xmlns:a16="http://schemas.microsoft.com/office/drawing/2014/main" id="{6C380229-3F53-E41E-2ABB-82D5CAFA7C12}"/>
              </a:ext>
            </a:extLst>
          </p:cNvPr>
          <p:cNvCxnSpPr>
            <a:cxnSpLocks/>
            <a:endCxn id="9" idx="1"/>
          </p:cNvCxnSpPr>
          <p:nvPr/>
        </p:nvCxnSpPr>
        <p:spPr>
          <a:xfrm flipV="1">
            <a:off x="2438887" y="2618680"/>
            <a:ext cx="940720" cy="972195"/>
          </a:xfrm>
          <a:prstGeom prst="straightConnector1">
            <a:avLst/>
          </a:prstGeom>
          <a:ln>
            <a:solidFill>
              <a:srgbClr val="5F6B7A"/>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ECC0147E-9BAE-84AA-743D-E12F2F876466}"/>
              </a:ext>
            </a:extLst>
          </p:cNvPr>
          <p:cNvCxnSpPr>
            <a:cxnSpLocks/>
            <a:endCxn id="18" idx="1"/>
          </p:cNvCxnSpPr>
          <p:nvPr/>
        </p:nvCxnSpPr>
        <p:spPr>
          <a:xfrm flipV="1">
            <a:off x="5468757" y="2682180"/>
            <a:ext cx="3181350" cy="804317"/>
          </a:xfrm>
          <a:prstGeom prst="straightConnector1">
            <a:avLst/>
          </a:prstGeom>
          <a:ln>
            <a:solidFill>
              <a:srgbClr val="5F6B7A"/>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DF5256E4-D845-0DC4-73FB-BCE53FFEDEA8}"/>
              </a:ext>
            </a:extLst>
          </p:cNvPr>
          <p:cNvCxnSpPr>
            <a:cxnSpLocks/>
            <a:endCxn id="21" idx="1"/>
          </p:cNvCxnSpPr>
          <p:nvPr/>
        </p:nvCxnSpPr>
        <p:spPr>
          <a:xfrm>
            <a:off x="5475107" y="3845621"/>
            <a:ext cx="3175000" cy="551059"/>
          </a:xfrm>
          <a:prstGeom prst="straightConnector1">
            <a:avLst/>
          </a:prstGeom>
          <a:ln>
            <a:solidFill>
              <a:srgbClr val="5F6B7A"/>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ARCHITECTURE · C4 CONTAINER VIEW</a:t>
            </a:r>
            <a:endParaRPr lang="en-US" sz="1200" dirty="0"/>
          </a:p>
        </p:txBody>
      </p:sp>
      <p:sp>
        <p:nvSpPr>
          <p:cNvPr id="3" name="Text 1"/>
          <p:cNvSpPr>
            <a:spLocks noGrp="1"/>
          </p:cNvSpPr>
          <p:nvPr>
            <p:ph type="title"/>
          </p:nvPr>
        </p:nvSpPr>
        <p:spPr>
          <a:xfrm>
            <a:off x="812800" y="1102320"/>
            <a:ext cx="10883392" cy="388541"/>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4233D"/>
                </a:solidFill>
                <a:latin typeface="Georgia" pitchFamily="18" charset="0"/>
                <a:ea typeface="Georgia" pitchFamily="18" charset="-122"/>
                <a:cs typeface="Georgia" pitchFamily="18" charset="-120"/>
              </a:rPr>
              <a:t>Target — production on Kubernetes</a:t>
            </a:r>
            <a:endParaRPr lang="en-US" sz="2600" dirty="0"/>
          </a:p>
        </p:txBody>
      </p:sp>
      <p:sp>
        <p:nvSpPr>
          <p:cNvPr id="4" name="Shape 2"/>
          <p:cNvSpPr/>
          <p:nvPr/>
        </p:nvSpPr>
        <p:spPr>
          <a:xfrm>
            <a:off x="4324350" y="1911350"/>
            <a:ext cx="4686300" cy="3797300"/>
          </a:xfrm>
          <a:prstGeom prst="roundRect">
            <a:avLst>
              <a:gd name="adj" fmla="val 2508"/>
            </a:avLst>
          </a:prstGeom>
          <a:noFill/>
          <a:ln w="12700">
            <a:solidFill>
              <a:srgbClr val="0E7C66"/>
            </a:solidFill>
            <a:prstDash val="dash"/>
          </a:ln>
        </p:spPr>
        <p:txBody>
          <a:bodyPr/>
          <a:lstStyle/>
          <a:p>
            <a:endParaRPr lang="en-US"/>
          </a:p>
        </p:txBody>
      </p:sp>
      <p:sp>
        <p:nvSpPr>
          <p:cNvPr id="5" name="Text 3"/>
          <p:cNvSpPr/>
          <p:nvPr/>
        </p:nvSpPr>
        <p:spPr>
          <a:xfrm>
            <a:off x="4445000" y="1993900"/>
            <a:ext cx="3924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7C66"/>
                </a:solidFill>
                <a:latin typeface="Arial" pitchFamily="34" charset="0"/>
                <a:ea typeface="Arial" pitchFamily="34" charset="-122"/>
                <a:cs typeface="Arial" pitchFamily="34" charset="-120"/>
              </a:rPr>
              <a:t>ClaimSight on Kubernetes · autoscaled</a:t>
            </a:r>
            <a:endParaRPr lang="en-US" sz="1200" dirty="0"/>
          </a:p>
        </p:txBody>
      </p:sp>
      <p:sp>
        <p:nvSpPr>
          <p:cNvPr id="7" name="Text 5"/>
          <p:cNvSpPr/>
          <p:nvPr/>
        </p:nvSpPr>
        <p:spPr>
          <a:xfrm>
            <a:off x="939800" y="3257550"/>
            <a:ext cx="1320800" cy="231080"/>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FFFFFF"/>
                </a:solidFill>
                <a:latin typeface="Arial" pitchFamily="34" charset="0"/>
                <a:ea typeface="Arial" pitchFamily="34" charset="-122"/>
                <a:cs typeface="Arial" pitchFamily="34" charset="-120"/>
              </a:rPr>
              <a:t>Intake handler</a:t>
            </a:r>
            <a:endParaRPr lang="en-US" sz="1350" dirty="0"/>
          </a:p>
        </p:txBody>
      </p:sp>
      <p:sp>
        <p:nvSpPr>
          <p:cNvPr id="9" name="Shape 7"/>
          <p:cNvSpPr/>
          <p:nvPr/>
        </p:nvSpPr>
        <p:spPr>
          <a:xfrm>
            <a:off x="2603500" y="3048000"/>
            <a:ext cx="1460500" cy="889000"/>
          </a:xfrm>
          <a:prstGeom prst="roundRect">
            <a:avLst>
              <a:gd name="adj" fmla="val 8571"/>
            </a:avLst>
          </a:prstGeom>
          <a:solidFill>
            <a:srgbClr val="14233D"/>
          </a:solidFill>
          <a:ln/>
        </p:spPr>
        <p:txBody>
          <a:bodyPr/>
          <a:lstStyle/>
          <a:p>
            <a:endParaRPr lang="en-US"/>
          </a:p>
        </p:txBody>
      </p:sp>
      <p:sp>
        <p:nvSpPr>
          <p:cNvPr id="10" name="Text 8"/>
          <p:cNvSpPr/>
          <p:nvPr/>
        </p:nvSpPr>
        <p:spPr>
          <a:xfrm>
            <a:off x="2730500" y="3175000"/>
            <a:ext cx="1295400" cy="312142"/>
          </a:xfrm>
          <a:prstGeom prst="rect">
            <a:avLst/>
          </a:prstGeom>
          <a:noFill/>
          <a:ln/>
        </p:spPr>
        <p:txBody>
          <a:bodyPr wrap="square" lIns="0" tIns="0" rIns="0" bIns="0" rtlCol="0" anchor="t">
            <a:normAutofit/>
          </a:bodyPr>
          <a:lstStyle/>
          <a:p>
            <a:pPr marL="0" indent="0" algn="l">
              <a:lnSpc>
                <a:spcPts val="1412"/>
              </a:lnSpc>
              <a:buNone/>
            </a:pPr>
            <a:r>
              <a:rPr lang="en-US" sz="1177" b="1" dirty="0">
                <a:solidFill>
                  <a:srgbClr val="FFFFFF"/>
                </a:solidFill>
                <a:latin typeface="Arial" pitchFamily="34" charset="0"/>
                <a:ea typeface="Arial" pitchFamily="34" charset="-122"/>
                <a:cs typeface="Arial" pitchFamily="34" charset="-120"/>
              </a:rPr>
              <a:t>API Management</a:t>
            </a:r>
            <a:endParaRPr lang="en-US" sz="1177" dirty="0"/>
          </a:p>
        </p:txBody>
      </p:sp>
      <p:sp>
        <p:nvSpPr>
          <p:cNvPr id="11" name="Text 9"/>
          <p:cNvSpPr/>
          <p:nvPr/>
        </p:nvSpPr>
        <p:spPr>
          <a:xfrm>
            <a:off x="2730500" y="3512542"/>
            <a:ext cx="1295400" cy="322858"/>
          </a:xfrm>
          <a:prstGeom prst="rect">
            <a:avLst/>
          </a:prstGeom>
          <a:noFill/>
          <a:ln/>
        </p:spPr>
        <p:txBody>
          <a:bodyPr wrap="square" lIns="0" tIns="0" rIns="0" bIns="0" rtlCol="0" anchor="t">
            <a:normAutofit/>
          </a:bodyPr>
          <a:lstStyle/>
          <a:p>
            <a:pPr marL="0" indent="0" algn="l">
              <a:lnSpc>
                <a:spcPts val="1486"/>
              </a:lnSpc>
              <a:buNone/>
            </a:pPr>
            <a:r>
              <a:rPr lang="en-US" sz="1061" dirty="0">
                <a:solidFill>
                  <a:srgbClr val="AEBBC9"/>
                </a:solidFill>
                <a:latin typeface="Arial" pitchFamily="34" charset="0"/>
                <a:ea typeface="Arial" pitchFamily="34" charset="-122"/>
                <a:cs typeface="Arial" pitchFamily="34" charset="-120"/>
              </a:rPr>
              <a:t>[Edge · SSO/RBAC]</a:t>
            </a:r>
            <a:endParaRPr lang="en-US" sz="1061" dirty="0"/>
          </a:p>
        </p:txBody>
      </p:sp>
      <p:sp>
        <p:nvSpPr>
          <p:cNvPr id="12" name="Shape 10"/>
          <p:cNvSpPr/>
          <p:nvPr/>
        </p:nvSpPr>
        <p:spPr>
          <a:xfrm>
            <a:off x="4572000" y="2222500"/>
            <a:ext cx="1905000" cy="698500"/>
          </a:xfrm>
          <a:prstGeom prst="roundRect">
            <a:avLst>
              <a:gd name="adj" fmla="val 10909"/>
            </a:avLst>
          </a:prstGeom>
          <a:solidFill>
            <a:srgbClr val="0E7C66"/>
          </a:solidFill>
          <a:ln/>
        </p:spPr>
        <p:txBody>
          <a:bodyPr/>
          <a:lstStyle/>
          <a:p>
            <a:endParaRPr lang="en-US"/>
          </a:p>
        </p:txBody>
      </p:sp>
      <p:sp>
        <p:nvSpPr>
          <p:cNvPr id="13" name="Text 11"/>
          <p:cNvSpPr/>
          <p:nvPr/>
        </p:nvSpPr>
        <p:spPr>
          <a:xfrm>
            <a:off x="4699000" y="2353370"/>
            <a:ext cx="170180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FFFFFF"/>
                </a:solidFill>
                <a:latin typeface="Arial" pitchFamily="34" charset="0"/>
                <a:ea typeface="Arial" pitchFamily="34" charset="-122"/>
                <a:cs typeface="Arial" pitchFamily="34" charset="-120"/>
              </a:rPr>
              <a:t>Review UI</a:t>
            </a:r>
            <a:endParaRPr lang="en-US" sz="1300" dirty="0"/>
          </a:p>
        </p:txBody>
      </p:sp>
      <p:sp>
        <p:nvSpPr>
          <p:cNvPr id="14" name="Text 12"/>
          <p:cNvSpPr/>
          <p:nvPr/>
        </p:nvSpPr>
        <p:spPr>
          <a:xfrm>
            <a:off x="4699000" y="2576810"/>
            <a:ext cx="170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DEDE4"/>
                </a:solidFill>
                <a:latin typeface="Arial" pitchFamily="34" charset="0"/>
                <a:ea typeface="Arial" pitchFamily="34" charset="-122"/>
                <a:cs typeface="Arial" pitchFamily="34" charset="-120"/>
              </a:rPr>
              <a:t>[SPA / CDN]</a:t>
            </a:r>
            <a:endParaRPr lang="en-US" sz="1200" dirty="0"/>
          </a:p>
        </p:txBody>
      </p:sp>
      <p:sp>
        <p:nvSpPr>
          <p:cNvPr id="15" name="Shape 13"/>
          <p:cNvSpPr/>
          <p:nvPr/>
        </p:nvSpPr>
        <p:spPr>
          <a:xfrm>
            <a:off x="4572000" y="3175000"/>
            <a:ext cx="1905000" cy="698500"/>
          </a:xfrm>
          <a:prstGeom prst="roundRect">
            <a:avLst>
              <a:gd name="adj" fmla="val 10909"/>
            </a:avLst>
          </a:prstGeom>
          <a:solidFill>
            <a:srgbClr val="0E7C66"/>
          </a:solidFill>
          <a:ln/>
        </p:spPr>
        <p:txBody>
          <a:bodyPr/>
          <a:lstStyle/>
          <a:p>
            <a:endParaRPr lang="en-US"/>
          </a:p>
        </p:txBody>
      </p:sp>
      <p:sp>
        <p:nvSpPr>
          <p:cNvPr id="16" name="Text 14"/>
          <p:cNvSpPr/>
          <p:nvPr/>
        </p:nvSpPr>
        <p:spPr>
          <a:xfrm>
            <a:off x="4699000" y="3305870"/>
            <a:ext cx="170180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FFFFFF"/>
                </a:solidFill>
                <a:latin typeface="Arial" pitchFamily="34" charset="0"/>
                <a:ea typeface="Arial" pitchFamily="34" charset="-122"/>
                <a:cs typeface="Arial" pitchFamily="34" charset="-120"/>
              </a:rPr>
              <a:t>Intake API</a:t>
            </a:r>
            <a:endParaRPr lang="en-US" sz="1300" dirty="0"/>
          </a:p>
        </p:txBody>
      </p:sp>
      <p:sp>
        <p:nvSpPr>
          <p:cNvPr id="17" name="Text 15"/>
          <p:cNvSpPr/>
          <p:nvPr/>
        </p:nvSpPr>
        <p:spPr>
          <a:xfrm>
            <a:off x="4699000" y="3529310"/>
            <a:ext cx="170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DEDE4"/>
                </a:solidFill>
                <a:latin typeface="Arial" pitchFamily="34" charset="0"/>
                <a:ea typeface="Arial" pitchFamily="34" charset="-122"/>
                <a:cs typeface="Arial" pitchFamily="34" charset="-120"/>
              </a:rPr>
              <a:t>[stateless · HPA]</a:t>
            </a:r>
            <a:endParaRPr lang="en-US" sz="1200" dirty="0"/>
          </a:p>
        </p:txBody>
      </p:sp>
      <p:sp>
        <p:nvSpPr>
          <p:cNvPr id="18" name="Shape 16"/>
          <p:cNvSpPr/>
          <p:nvPr/>
        </p:nvSpPr>
        <p:spPr>
          <a:xfrm>
            <a:off x="4572000" y="4191000"/>
            <a:ext cx="1905000" cy="698500"/>
          </a:xfrm>
          <a:prstGeom prst="roundRect">
            <a:avLst>
              <a:gd name="adj" fmla="val 10909"/>
            </a:avLst>
          </a:prstGeom>
          <a:solidFill>
            <a:srgbClr val="0E7C66"/>
          </a:solidFill>
          <a:ln/>
        </p:spPr>
        <p:txBody>
          <a:bodyPr/>
          <a:lstStyle/>
          <a:p>
            <a:endParaRPr lang="en-US"/>
          </a:p>
        </p:txBody>
      </p:sp>
      <p:sp>
        <p:nvSpPr>
          <p:cNvPr id="19" name="Text 17"/>
          <p:cNvSpPr/>
          <p:nvPr/>
        </p:nvSpPr>
        <p:spPr>
          <a:xfrm>
            <a:off x="4699000" y="4321870"/>
            <a:ext cx="170180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FFFFFF"/>
                </a:solidFill>
                <a:latin typeface="Arial" pitchFamily="34" charset="0"/>
                <a:ea typeface="Arial" pitchFamily="34" charset="-122"/>
                <a:cs typeface="Arial" pitchFamily="34" charset="-120"/>
              </a:rPr>
              <a:t>Message queue</a:t>
            </a:r>
            <a:endParaRPr lang="en-US" sz="1300" dirty="0"/>
          </a:p>
        </p:txBody>
      </p:sp>
      <p:sp>
        <p:nvSpPr>
          <p:cNvPr id="20" name="Text 18"/>
          <p:cNvSpPr/>
          <p:nvPr/>
        </p:nvSpPr>
        <p:spPr>
          <a:xfrm>
            <a:off x="4699000" y="4545310"/>
            <a:ext cx="170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DEDE4"/>
                </a:solidFill>
                <a:latin typeface="Arial" pitchFamily="34" charset="0"/>
                <a:ea typeface="Arial" pitchFamily="34" charset="-122"/>
                <a:cs typeface="Arial" pitchFamily="34" charset="-120"/>
              </a:rPr>
              <a:t>[Kafka / Bus]</a:t>
            </a:r>
            <a:endParaRPr lang="en-US" sz="1200" dirty="0"/>
          </a:p>
        </p:txBody>
      </p:sp>
      <p:sp>
        <p:nvSpPr>
          <p:cNvPr id="21" name="Shape 19"/>
          <p:cNvSpPr/>
          <p:nvPr/>
        </p:nvSpPr>
        <p:spPr>
          <a:xfrm>
            <a:off x="6794500" y="3175000"/>
            <a:ext cx="1968500" cy="698500"/>
          </a:xfrm>
          <a:prstGeom prst="roundRect">
            <a:avLst>
              <a:gd name="adj" fmla="val 10909"/>
            </a:avLst>
          </a:prstGeom>
          <a:solidFill>
            <a:srgbClr val="0E7C66"/>
          </a:solidFill>
          <a:ln/>
        </p:spPr>
        <p:txBody>
          <a:bodyPr/>
          <a:lstStyle/>
          <a:p>
            <a:endParaRPr lang="en-US"/>
          </a:p>
        </p:txBody>
      </p:sp>
      <p:sp>
        <p:nvSpPr>
          <p:cNvPr id="22" name="Text 20"/>
          <p:cNvSpPr/>
          <p:nvPr/>
        </p:nvSpPr>
        <p:spPr>
          <a:xfrm>
            <a:off x="6921500" y="3305870"/>
            <a:ext cx="1765935"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FFFFFF"/>
                </a:solidFill>
                <a:latin typeface="Arial" pitchFamily="34" charset="0"/>
                <a:ea typeface="Arial" pitchFamily="34" charset="-122"/>
                <a:cs typeface="Arial" pitchFamily="34" charset="-120"/>
              </a:rPr>
              <a:t>Triage workers</a:t>
            </a:r>
            <a:endParaRPr lang="en-US" sz="1300" dirty="0"/>
          </a:p>
        </p:txBody>
      </p:sp>
      <p:sp>
        <p:nvSpPr>
          <p:cNvPr id="23" name="Text 21"/>
          <p:cNvSpPr/>
          <p:nvPr/>
        </p:nvSpPr>
        <p:spPr>
          <a:xfrm>
            <a:off x="6921500" y="3529310"/>
            <a:ext cx="176593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DEDE4"/>
                </a:solidFill>
                <a:latin typeface="Arial" pitchFamily="34" charset="0"/>
                <a:ea typeface="Arial" pitchFamily="34" charset="-122"/>
                <a:cs typeface="Arial" pitchFamily="34" charset="-120"/>
              </a:rPr>
              <a:t>[KEDA autoscale]</a:t>
            </a:r>
            <a:endParaRPr lang="en-US" sz="1200" dirty="0"/>
          </a:p>
        </p:txBody>
      </p:sp>
      <p:sp>
        <p:nvSpPr>
          <p:cNvPr id="24" name="Shape 22"/>
          <p:cNvSpPr/>
          <p:nvPr/>
        </p:nvSpPr>
        <p:spPr>
          <a:xfrm>
            <a:off x="6794500" y="4191000"/>
            <a:ext cx="1968500" cy="698500"/>
          </a:xfrm>
          <a:prstGeom prst="roundRect">
            <a:avLst>
              <a:gd name="adj" fmla="val 10909"/>
            </a:avLst>
          </a:prstGeom>
          <a:solidFill>
            <a:srgbClr val="0B5D4E"/>
          </a:solidFill>
          <a:ln/>
        </p:spPr>
        <p:txBody>
          <a:bodyPr/>
          <a:lstStyle/>
          <a:p>
            <a:endParaRPr lang="en-US"/>
          </a:p>
        </p:txBody>
      </p:sp>
      <p:sp>
        <p:nvSpPr>
          <p:cNvPr id="25" name="Text 23"/>
          <p:cNvSpPr/>
          <p:nvPr/>
        </p:nvSpPr>
        <p:spPr>
          <a:xfrm>
            <a:off x="6921500" y="4321870"/>
            <a:ext cx="1765935"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FFFFFF"/>
                </a:solidFill>
                <a:latin typeface="Arial" pitchFamily="34" charset="0"/>
                <a:ea typeface="Arial" pitchFamily="34" charset="-122"/>
                <a:cs typeface="Arial" pitchFamily="34" charset="-120"/>
              </a:rPr>
              <a:t>Data stores</a:t>
            </a:r>
            <a:endParaRPr lang="en-US" sz="1300" dirty="0"/>
          </a:p>
        </p:txBody>
      </p:sp>
      <p:sp>
        <p:nvSpPr>
          <p:cNvPr id="26" name="Text 24"/>
          <p:cNvSpPr/>
          <p:nvPr/>
        </p:nvSpPr>
        <p:spPr>
          <a:xfrm>
            <a:off x="6921500" y="4545310"/>
            <a:ext cx="176593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DEDE4"/>
                </a:solidFill>
                <a:latin typeface="Arial" pitchFamily="34" charset="0"/>
                <a:ea typeface="Arial" pitchFamily="34" charset="-122"/>
                <a:cs typeface="Arial" pitchFamily="34" charset="-120"/>
              </a:rPr>
              <a:t>[Postgres · Redis · blob]</a:t>
            </a:r>
            <a:endParaRPr lang="en-US" sz="1200" dirty="0"/>
          </a:p>
        </p:txBody>
      </p:sp>
      <p:sp>
        <p:nvSpPr>
          <p:cNvPr id="27" name="Shape 25"/>
          <p:cNvSpPr/>
          <p:nvPr/>
        </p:nvSpPr>
        <p:spPr>
          <a:xfrm>
            <a:off x="9525000" y="2222500"/>
            <a:ext cx="1778000" cy="762000"/>
          </a:xfrm>
          <a:prstGeom prst="roundRect">
            <a:avLst>
              <a:gd name="adj" fmla="val 10000"/>
            </a:avLst>
          </a:prstGeom>
          <a:solidFill>
            <a:srgbClr val="5F6B7A"/>
          </a:solidFill>
          <a:ln/>
        </p:spPr>
        <p:txBody>
          <a:bodyPr/>
          <a:lstStyle/>
          <a:p>
            <a:endParaRPr lang="en-US"/>
          </a:p>
        </p:txBody>
      </p:sp>
      <p:sp>
        <p:nvSpPr>
          <p:cNvPr id="28" name="Text 26"/>
          <p:cNvSpPr/>
          <p:nvPr/>
        </p:nvSpPr>
        <p:spPr>
          <a:xfrm>
            <a:off x="9652000" y="2349500"/>
            <a:ext cx="1574800" cy="178395"/>
          </a:xfrm>
          <a:prstGeom prst="rect">
            <a:avLst/>
          </a:prstGeom>
          <a:noFill/>
          <a:ln/>
        </p:spPr>
        <p:txBody>
          <a:bodyPr wrap="square" lIns="0" tIns="0" rIns="0" bIns="0" rtlCol="0" anchor="t">
            <a:normAutofit/>
          </a:bodyPr>
          <a:lstStyle/>
          <a:p>
            <a:pPr marL="0" indent="0" algn="l">
              <a:lnSpc>
                <a:spcPts val="1224"/>
              </a:lnSpc>
              <a:buNone/>
            </a:pPr>
            <a:r>
              <a:rPr lang="en-US" sz="1020" b="1" dirty="0">
                <a:solidFill>
                  <a:srgbClr val="FFFFFF"/>
                </a:solidFill>
                <a:latin typeface="Arial" pitchFamily="34" charset="0"/>
                <a:ea typeface="Arial" pitchFamily="34" charset="-122"/>
                <a:cs typeface="Arial" pitchFamily="34" charset="-120"/>
              </a:rPr>
              <a:t>Azure OpenAI (EU)</a:t>
            </a:r>
            <a:endParaRPr lang="en-US" sz="1020" dirty="0"/>
          </a:p>
        </p:txBody>
      </p:sp>
      <p:sp>
        <p:nvSpPr>
          <p:cNvPr id="29" name="Text 27"/>
          <p:cNvSpPr/>
          <p:nvPr/>
        </p:nvSpPr>
        <p:spPr>
          <a:xfrm>
            <a:off x="9652000" y="2527895"/>
            <a:ext cx="1651000" cy="355005"/>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D5DAE0"/>
                </a:solidFill>
                <a:latin typeface="Arial" pitchFamily="34" charset="0"/>
                <a:ea typeface="Arial" pitchFamily="34" charset="-122"/>
                <a:cs typeface="Arial" pitchFamily="34" charset="-120"/>
              </a:rPr>
              <a:t>[External · or on-prem]</a:t>
            </a:r>
            <a:endParaRPr lang="en-US" sz="1196" dirty="0"/>
          </a:p>
        </p:txBody>
      </p:sp>
      <p:sp>
        <p:nvSpPr>
          <p:cNvPr id="30" name="Shape 28"/>
          <p:cNvSpPr/>
          <p:nvPr/>
        </p:nvSpPr>
        <p:spPr>
          <a:xfrm>
            <a:off x="9525000" y="3302000"/>
            <a:ext cx="1778000" cy="762000"/>
          </a:xfrm>
          <a:prstGeom prst="roundRect">
            <a:avLst>
              <a:gd name="adj" fmla="val 10000"/>
            </a:avLst>
          </a:prstGeom>
          <a:solidFill>
            <a:srgbClr val="5F6B7A"/>
          </a:solidFill>
          <a:ln/>
        </p:spPr>
        <p:txBody>
          <a:bodyPr/>
          <a:lstStyle/>
          <a:p>
            <a:endParaRPr lang="en-US"/>
          </a:p>
        </p:txBody>
      </p:sp>
      <p:sp>
        <p:nvSpPr>
          <p:cNvPr id="31" name="Text 29"/>
          <p:cNvSpPr/>
          <p:nvPr/>
        </p:nvSpPr>
        <p:spPr>
          <a:xfrm>
            <a:off x="9652000" y="3464620"/>
            <a:ext cx="157480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FFFFFF"/>
                </a:solidFill>
                <a:latin typeface="Arial" pitchFamily="34" charset="0"/>
                <a:ea typeface="Arial" pitchFamily="34" charset="-122"/>
                <a:cs typeface="Arial" pitchFamily="34" charset="-120"/>
              </a:rPr>
              <a:t>Policy &amp; claims</a:t>
            </a:r>
            <a:endParaRPr lang="en-US" sz="1300" dirty="0"/>
          </a:p>
        </p:txBody>
      </p:sp>
      <p:sp>
        <p:nvSpPr>
          <p:cNvPr id="32" name="Text 30"/>
          <p:cNvSpPr/>
          <p:nvPr/>
        </p:nvSpPr>
        <p:spPr>
          <a:xfrm>
            <a:off x="9652000" y="3688060"/>
            <a:ext cx="157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5DAE0"/>
                </a:solidFill>
                <a:latin typeface="Arial" pitchFamily="34" charset="0"/>
                <a:ea typeface="Arial" pitchFamily="34" charset="-122"/>
                <a:cs typeface="Arial" pitchFamily="34" charset="-120"/>
              </a:rPr>
              <a:t>[Guidewire]</a:t>
            </a:r>
            <a:endParaRPr lang="en-US" sz="1200" dirty="0"/>
          </a:p>
        </p:txBody>
      </p:sp>
      <p:sp>
        <p:nvSpPr>
          <p:cNvPr id="33" name="Shape 31"/>
          <p:cNvSpPr/>
          <p:nvPr/>
        </p:nvSpPr>
        <p:spPr>
          <a:xfrm>
            <a:off x="9525000" y="4381500"/>
            <a:ext cx="1778000" cy="762000"/>
          </a:xfrm>
          <a:prstGeom prst="roundRect">
            <a:avLst>
              <a:gd name="adj" fmla="val 10000"/>
            </a:avLst>
          </a:prstGeom>
          <a:solidFill>
            <a:srgbClr val="5F6B7A"/>
          </a:solidFill>
          <a:ln/>
        </p:spPr>
        <p:txBody>
          <a:bodyPr/>
          <a:lstStyle/>
          <a:p>
            <a:endParaRPr lang="en-US"/>
          </a:p>
        </p:txBody>
      </p:sp>
      <p:sp>
        <p:nvSpPr>
          <p:cNvPr id="34" name="Text 32"/>
          <p:cNvSpPr/>
          <p:nvPr/>
        </p:nvSpPr>
        <p:spPr>
          <a:xfrm>
            <a:off x="9652000" y="4544120"/>
            <a:ext cx="157480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FFFFFF"/>
                </a:solidFill>
                <a:latin typeface="Arial" pitchFamily="34" charset="0"/>
                <a:ea typeface="Arial" pitchFamily="34" charset="-122"/>
                <a:cs typeface="Arial" pitchFamily="34" charset="-120"/>
              </a:rPr>
              <a:t>Observability</a:t>
            </a:r>
            <a:endParaRPr lang="en-US" sz="1300" dirty="0"/>
          </a:p>
        </p:txBody>
      </p:sp>
      <p:sp>
        <p:nvSpPr>
          <p:cNvPr id="35" name="Text 33"/>
          <p:cNvSpPr/>
          <p:nvPr/>
        </p:nvSpPr>
        <p:spPr>
          <a:xfrm>
            <a:off x="9652000" y="4767560"/>
            <a:ext cx="157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5DAE0"/>
                </a:solidFill>
                <a:latin typeface="Arial" pitchFamily="34" charset="0"/>
                <a:ea typeface="Arial" pitchFamily="34" charset="-122"/>
                <a:cs typeface="Arial" pitchFamily="34" charset="-120"/>
              </a:rPr>
              <a:t>[Grafana / OTel]</a:t>
            </a:r>
            <a:endParaRPr lang="en-US" sz="1200" dirty="0"/>
          </a:p>
        </p:txBody>
      </p:sp>
      <p:sp>
        <p:nvSpPr>
          <p:cNvPr id="45" name="Text 34"/>
          <p:cNvSpPr/>
          <p:nvPr/>
        </p:nvSpPr>
        <p:spPr>
          <a:xfrm>
            <a:off x="825500" y="5810250"/>
            <a:ext cx="1085723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46B"/>
                </a:solidFill>
                <a:latin typeface="Arial" pitchFamily="34" charset="0"/>
                <a:ea typeface="Arial" pitchFamily="34" charset="-122"/>
                <a:cs typeface="Arial" pitchFamily="34" charset="-120"/>
              </a:rPr>
              <a:t>KEDA autoscales workers on queue lag; a shared </a:t>
            </a:r>
            <a:r>
              <a:rPr lang="en-US" sz="1200" b="1" dirty="0">
                <a:solidFill>
                  <a:srgbClr val="47546B"/>
                </a:solidFill>
                <a:latin typeface="Arial" pitchFamily="34" charset="0"/>
                <a:ea typeface="Arial" pitchFamily="34" charset="-122"/>
                <a:cs typeface="Arial" pitchFamily="34" charset="-120"/>
              </a:rPr>
              <a:t>Redis token-bucket</a:t>
            </a:r>
            <a:r>
              <a:rPr lang="en-US" sz="1200" dirty="0">
                <a:solidFill>
                  <a:srgbClr val="47546B"/>
                </a:solidFill>
                <a:latin typeface="Arial" pitchFamily="34" charset="0"/>
                <a:ea typeface="Arial" pitchFamily="34" charset="-122"/>
                <a:cs typeface="Arial" pitchFamily="34" charset="-120"/>
              </a:rPr>
              <a:t> limiter paces calls to the model's quota — backpressure flows back into the queue, never forward as 429s. Model, policy and claims are external. (Legend as previous slide.)</a:t>
            </a:r>
            <a:endParaRPr lang="en-US" sz="1200" dirty="0"/>
          </a:p>
        </p:txBody>
      </p:sp>
      <p:grpSp>
        <p:nvGrpSpPr>
          <p:cNvPr id="46" name="Group 45">
            <a:extLst>
              <a:ext uri="{FF2B5EF4-FFF2-40B4-BE49-F238E27FC236}">
                <a16:creationId xmlns:a16="http://schemas.microsoft.com/office/drawing/2014/main" id="{CACF45B0-EA11-D875-1B13-C464360D5950}"/>
              </a:ext>
            </a:extLst>
          </p:cNvPr>
          <p:cNvGrpSpPr/>
          <p:nvPr/>
        </p:nvGrpSpPr>
        <p:grpSpPr>
          <a:xfrm>
            <a:off x="644404" y="2453674"/>
            <a:ext cx="1722781" cy="1566873"/>
            <a:chOff x="8196397" y="78542"/>
            <a:chExt cx="1722781" cy="1566873"/>
          </a:xfrm>
        </p:grpSpPr>
        <p:pic>
          <p:nvPicPr>
            <p:cNvPr id="47" name="Picture 46">
              <a:extLst>
                <a:ext uri="{FF2B5EF4-FFF2-40B4-BE49-F238E27FC236}">
                  <a16:creationId xmlns:a16="http://schemas.microsoft.com/office/drawing/2014/main" id="{B7D2B2C8-4ACA-D230-E789-9AD88720F500}"/>
                </a:ext>
              </a:extLst>
            </p:cNvPr>
            <p:cNvPicPr>
              <a:picLocks noChangeAspect="1"/>
            </p:cNvPicPr>
            <p:nvPr/>
          </p:nvPicPr>
          <p:blipFill>
            <a:blip r:embed="rId3"/>
            <a:stretch>
              <a:fillRect/>
            </a:stretch>
          </p:blipFill>
          <p:spPr>
            <a:xfrm>
              <a:off x="8196397" y="78542"/>
              <a:ext cx="1722781" cy="1566873"/>
            </a:xfrm>
            <a:prstGeom prst="rect">
              <a:avLst/>
            </a:prstGeom>
          </p:spPr>
        </p:pic>
        <p:sp>
          <p:nvSpPr>
            <p:cNvPr id="48" name="Text 6">
              <a:extLst>
                <a:ext uri="{FF2B5EF4-FFF2-40B4-BE49-F238E27FC236}">
                  <a16:creationId xmlns:a16="http://schemas.microsoft.com/office/drawing/2014/main" id="{E17A2AEF-2D58-5DF9-BD58-54ABC0BC8C65}"/>
                </a:ext>
              </a:extLst>
            </p:cNvPr>
            <p:cNvSpPr/>
            <p:nvPr/>
          </p:nvSpPr>
          <p:spPr>
            <a:xfrm>
              <a:off x="8471378" y="807029"/>
              <a:ext cx="1447800" cy="410071"/>
            </a:xfrm>
            <a:prstGeom prst="rect">
              <a:avLst/>
            </a:prstGeom>
            <a:noFill/>
            <a:ln/>
          </p:spPr>
          <p:txBody>
            <a:bodyPr wrap="square" lIns="0" tIns="0" rIns="0" bIns="0" rtlCol="0" anchor="t">
              <a:normAutofit/>
            </a:bodyPr>
            <a:lstStyle/>
            <a:p>
              <a:pPr marL="0" indent="0" algn="l">
                <a:lnSpc>
                  <a:spcPts val="1534"/>
                </a:lnSpc>
                <a:buNone/>
              </a:pPr>
              <a:r>
                <a:rPr lang="en-US" sz="1278" b="1" dirty="0">
                  <a:solidFill>
                    <a:srgbClr val="FFFFFF"/>
                  </a:solidFill>
                  <a:latin typeface="Arial" pitchFamily="34" charset="0"/>
                  <a:ea typeface="Arial" pitchFamily="34" charset="-122"/>
                  <a:cs typeface="Arial" pitchFamily="34" charset="-120"/>
                </a:rPr>
                <a:t>Claims intake handler</a:t>
              </a:r>
              <a:endParaRPr lang="en-US" sz="1278" dirty="0"/>
            </a:p>
          </p:txBody>
        </p:sp>
        <p:sp>
          <p:nvSpPr>
            <p:cNvPr id="49" name="Text 7">
              <a:extLst>
                <a:ext uri="{FF2B5EF4-FFF2-40B4-BE49-F238E27FC236}">
                  <a16:creationId xmlns:a16="http://schemas.microsoft.com/office/drawing/2014/main" id="{6CB39825-E309-D332-2978-769FD3F8FF2B}"/>
                </a:ext>
              </a:extLst>
            </p:cNvPr>
            <p:cNvSpPr/>
            <p:nvPr/>
          </p:nvSpPr>
          <p:spPr>
            <a:xfrm>
              <a:off x="8471378" y="1242500"/>
              <a:ext cx="1447800" cy="224929"/>
            </a:xfrm>
            <a:prstGeom prst="rect">
              <a:avLst/>
            </a:prstGeom>
            <a:noFill/>
            <a:ln/>
          </p:spPr>
          <p:txBody>
            <a:bodyPr wrap="square" lIns="0" tIns="0" rIns="0" bIns="0" rtlCol="0" anchor="t">
              <a:normAutofit/>
            </a:bodyPr>
            <a:lstStyle/>
            <a:p>
              <a:pPr marL="0" indent="0" algn="l">
                <a:lnSpc>
                  <a:spcPts val="1570"/>
                </a:lnSpc>
                <a:buNone/>
              </a:pPr>
              <a:r>
                <a:rPr lang="en-US" sz="1121" dirty="0">
                  <a:solidFill>
                    <a:srgbClr val="AEBBC9"/>
                  </a:solidFill>
                  <a:latin typeface="Arial" pitchFamily="34" charset="0"/>
                  <a:ea typeface="Arial" pitchFamily="34" charset="-122"/>
                  <a:cs typeface="Arial" pitchFamily="34" charset="-120"/>
                </a:rPr>
                <a:t>[Person]</a:t>
              </a:r>
              <a:endParaRPr lang="en-US" sz="1121" dirty="0"/>
            </a:p>
          </p:txBody>
        </p:sp>
      </p:grpSp>
      <p:cxnSp>
        <p:nvCxnSpPr>
          <p:cNvPr id="51" name="Straight Arrow Connector 50">
            <a:extLst>
              <a:ext uri="{FF2B5EF4-FFF2-40B4-BE49-F238E27FC236}">
                <a16:creationId xmlns:a16="http://schemas.microsoft.com/office/drawing/2014/main" id="{3C0E95BB-E806-2FE0-3E57-E327445003C5}"/>
              </a:ext>
            </a:extLst>
          </p:cNvPr>
          <p:cNvCxnSpPr>
            <a:cxnSpLocks/>
            <a:endCxn id="9" idx="1"/>
          </p:cNvCxnSpPr>
          <p:nvPr/>
        </p:nvCxnSpPr>
        <p:spPr>
          <a:xfrm>
            <a:off x="2260600" y="3486150"/>
            <a:ext cx="342900" cy="6350"/>
          </a:xfrm>
          <a:prstGeom prst="straightConnector1">
            <a:avLst/>
          </a:prstGeom>
          <a:ln>
            <a:solidFill>
              <a:srgbClr val="5F6B7A"/>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3382B690-CDB0-368B-E063-E2AE53AA6CA2}"/>
              </a:ext>
            </a:extLst>
          </p:cNvPr>
          <p:cNvCxnSpPr>
            <a:cxnSpLocks/>
            <a:endCxn id="12" idx="1"/>
          </p:cNvCxnSpPr>
          <p:nvPr/>
        </p:nvCxnSpPr>
        <p:spPr>
          <a:xfrm flipV="1">
            <a:off x="4064000" y="2571750"/>
            <a:ext cx="508000" cy="623378"/>
          </a:xfrm>
          <a:prstGeom prst="straightConnector1">
            <a:avLst/>
          </a:prstGeom>
          <a:ln>
            <a:solidFill>
              <a:srgbClr val="5F6B7A"/>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FEC72B7F-E19B-399B-16C2-4D4855E56E9E}"/>
              </a:ext>
            </a:extLst>
          </p:cNvPr>
          <p:cNvCxnSpPr>
            <a:cxnSpLocks/>
            <a:stCxn id="9" idx="3"/>
            <a:endCxn id="15" idx="1"/>
          </p:cNvCxnSpPr>
          <p:nvPr/>
        </p:nvCxnSpPr>
        <p:spPr>
          <a:xfrm>
            <a:off x="4064000" y="3492500"/>
            <a:ext cx="508000" cy="31750"/>
          </a:xfrm>
          <a:prstGeom prst="straightConnector1">
            <a:avLst/>
          </a:prstGeom>
          <a:ln>
            <a:solidFill>
              <a:srgbClr val="5F6B7A"/>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9F125E76-A76A-D4EA-455B-4EC280B73323}"/>
              </a:ext>
            </a:extLst>
          </p:cNvPr>
          <p:cNvCxnSpPr>
            <a:cxnSpLocks/>
            <a:stCxn id="15" idx="2"/>
            <a:endCxn id="18" idx="0"/>
          </p:cNvCxnSpPr>
          <p:nvPr/>
        </p:nvCxnSpPr>
        <p:spPr>
          <a:xfrm>
            <a:off x="5524500" y="3873500"/>
            <a:ext cx="0" cy="317500"/>
          </a:xfrm>
          <a:prstGeom prst="straightConnector1">
            <a:avLst/>
          </a:prstGeom>
          <a:ln>
            <a:solidFill>
              <a:srgbClr val="5F6B7A"/>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FBD82EC7-C4B3-A38B-C0AD-527B19F92E35}"/>
              </a:ext>
            </a:extLst>
          </p:cNvPr>
          <p:cNvCxnSpPr>
            <a:cxnSpLocks/>
            <a:stCxn id="18" idx="3"/>
            <a:endCxn id="21" idx="1"/>
          </p:cNvCxnSpPr>
          <p:nvPr/>
        </p:nvCxnSpPr>
        <p:spPr>
          <a:xfrm flipV="1">
            <a:off x="6477000" y="3524250"/>
            <a:ext cx="317500" cy="1016000"/>
          </a:xfrm>
          <a:prstGeom prst="straightConnector1">
            <a:avLst/>
          </a:prstGeom>
          <a:ln>
            <a:solidFill>
              <a:srgbClr val="5F6B7A"/>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985E2C1F-82EB-AE2D-6641-460819D517A0}"/>
              </a:ext>
            </a:extLst>
          </p:cNvPr>
          <p:cNvCxnSpPr>
            <a:cxnSpLocks/>
            <a:stCxn id="21" idx="2"/>
            <a:endCxn id="24" idx="0"/>
          </p:cNvCxnSpPr>
          <p:nvPr/>
        </p:nvCxnSpPr>
        <p:spPr>
          <a:xfrm>
            <a:off x="7778750" y="3873500"/>
            <a:ext cx="0" cy="317500"/>
          </a:xfrm>
          <a:prstGeom prst="straightConnector1">
            <a:avLst/>
          </a:prstGeom>
          <a:ln>
            <a:solidFill>
              <a:srgbClr val="5F6B7A"/>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353104FC-C9E8-D1EE-B06E-8794252B6860}"/>
              </a:ext>
            </a:extLst>
          </p:cNvPr>
          <p:cNvCxnSpPr>
            <a:cxnSpLocks/>
            <a:endCxn id="27" idx="1"/>
          </p:cNvCxnSpPr>
          <p:nvPr/>
        </p:nvCxnSpPr>
        <p:spPr>
          <a:xfrm flipV="1">
            <a:off x="8763000" y="2603500"/>
            <a:ext cx="762000" cy="765770"/>
          </a:xfrm>
          <a:prstGeom prst="straightConnector1">
            <a:avLst/>
          </a:prstGeom>
          <a:ln>
            <a:solidFill>
              <a:srgbClr val="5F6B7A"/>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AD67D355-4CEE-4CA0-07B0-CB83BB8AFBAF}"/>
              </a:ext>
            </a:extLst>
          </p:cNvPr>
          <p:cNvCxnSpPr>
            <a:cxnSpLocks/>
            <a:endCxn id="33" idx="1"/>
          </p:cNvCxnSpPr>
          <p:nvPr/>
        </p:nvCxnSpPr>
        <p:spPr>
          <a:xfrm>
            <a:off x="8763000" y="3768030"/>
            <a:ext cx="762000" cy="994470"/>
          </a:xfrm>
          <a:prstGeom prst="straightConnector1">
            <a:avLst/>
          </a:prstGeom>
          <a:ln>
            <a:solidFill>
              <a:srgbClr val="5F6B7A"/>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7162DA49-3E2D-F40C-C469-AF67CD49FF88}"/>
              </a:ext>
            </a:extLst>
          </p:cNvPr>
          <p:cNvCxnSpPr>
            <a:cxnSpLocks/>
            <a:stCxn id="21" idx="3"/>
            <a:endCxn id="30" idx="1"/>
          </p:cNvCxnSpPr>
          <p:nvPr/>
        </p:nvCxnSpPr>
        <p:spPr>
          <a:xfrm>
            <a:off x="8763000" y="3524250"/>
            <a:ext cx="762000" cy="158750"/>
          </a:xfrm>
          <a:prstGeom prst="straightConnector1">
            <a:avLst/>
          </a:prstGeom>
          <a:ln>
            <a:solidFill>
              <a:srgbClr val="5F6B7A"/>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SCALABILITY MINDSET</a:t>
            </a:r>
            <a:endParaRPr lang="en-US" sz="1200" dirty="0"/>
          </a:p>
        </p:txBody>
      </p:sp>
      <p:sp>
        <p:nvSpPr>
          <p:cNvPr id="3" name="Text 1"/>
          <p:cNvSpPr>
            <a:spLocks noGrp="1"/>
          </p:cNvSpPr>
          <p:nvPr>
            <p:ph type="title"/>
          </p:nvPr>
        </p:nvSpPr>
        <p:spPr>
          <a:xfrm>
            <a:off x="812800" y="112772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4233D"/>
                </a:solidFill>
                <a:latin typeface="Georgia" pitchFamily="18" charset="0"/>
                <a:ea typeface="Georgia" pitchFamily="18" charset="-122"/>
                <a:cs typeface="Georgia" pitchFamily="18" charset="-120"/>
              </a:rPr>
              <a:t>Scale the bottleneck, not everything</a:t>
            </a:r>
            <a:endParaRPr lang="en-US" sz="3400" dirty="0"/>
          </a:p>
        </p:txBody>
      </p:sp>
      <p:sp>
        <p:nvSpPr>
          <p:cNvPr id="4" name="Shape 2"/>
          <p:cNvSpPr/>
          <p:nvPr/>
        </p:nvSpPr>
        <p:spPr>
          <a:xfrm>
            <a:off x="815975" y="1885255"/>
            <a:ext cx="3414117" cy="1712913"/>
          </a:xfrm>
          <a:prstGeom prst="roundRect">
            <a:avLst>
              <a:gd name="adj" fmla="val 5746"/>
            </a:avLst>
          </a:prstGeom>
          <a:solidFill>
            <a:srgbClr val="FFFFFF"/>
          </a:solidFill>
          <a:ln w="6350">
            <a:solidFill>
              <a:srgbClr val="E3E6E4"/>
            </a:solidFill>
            <a:prstDash val="solid"/>
          </a:ln>
        </p:spPr>
        <p:txBody>
          <a:bodyPr/>
          <a:lstStyle/>
          <a:p>
            <a:endParaRPr lang="en-US"/>
          </a:p>
        </p:txBody>
      </p:sp>
      <p:sp>
        <p:nvSpPr>
          <p:cNvPr id="5" name="Text 3"/>
          <p:cNvSpPr/>
          <p:nvPr/>
        </p:nvSpPr>
        <p:spPr>
          <a:xfrm>
            <a:off x="1047750" y="2117030"/>
            <a:ext cx="3039084" cy="261541"/>
          </a:xfrm>
          <a:prstGeom prst="rect">
            <a:avLst/>
          </a:prstGeom>
          <a:noFill/>
          <a:ln/>
        </p:spPr>
        <p:txBody>
          <a:bodyPr wrap="square" lIns="0" tIns="0" rIns="0" bIns="0" rtlCol="0" anchor="t">
            <a:normAutofit/>
          </a:bodyPr>
          <a:lstStyle/>
          <a:p>
            <a:pPr marL="0" indent="0" algn="l">
              <a:lnSpc>
                <a:spcPts val="1860"/>
              </a:lnSpc>
              <a:buNone/>
            </a:pPr>
            <a:r>
              <a:rPr lang="en-US" sz="1550" b="1" dirty="0">
                <a:solidFill>
                  <a:srgbClr val="14233D"/>
                </a:solidFill>
                <a:latin typeface="Arial" pitchFamily="34" charset="0"/>
                <a:ea typeface="Arial" pitchFamily="34" charset="-122"/>
                <a:cs typeface="Arial" pitchFamily="34" charset="-120"/>
              </a:rPr>
              <a:t>The bottleneck</a:t>
            </a:r>
            <a:endParaRPr lang="en-US" sz="1550" dirty="0"/>
          </a:p>
        </p:txBody>
      </p:sp>
      <p:sp>
        <p:nvSpPr>
          <p:cNvPr id="6" name="Text 4"/>
          <p:cNvSpPr/>
          <p:nvPr/>
        </p:nvSpPr>
        <p:spPr>
          <a:xfrm>
            <a:off x="1047750" y="2442071"/>
            <a:ext cx="3039084"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46B"/>
                </a:solidFill>
                <a:latin typeface="Arial" pitchFamily="34" charset="0"/>
                <a:ea typeface="Arial" pitchFamily="34" charset="-122"/>
                <a:cs typeface="Arial" pitchFamily="34" charset="-120"/>
              </a:rPr>
              <a:t>The model call: ~13 s, external, </a:t>
            </a:r>
            <a:r>
              <a:rPr lang="en-US" sz="1300" b="1" dirty="0">
                <a:solidFill>
                  <a:srgbClr val="47546B"/>
                </a:solidFill>
                <a:latin typeface="Arial" pitchFamily="34" charset="0"/>
                <a:ea typeface="Arial" pitchFamily="34" charset="-122"/>
                <a:cs typeface="Arial" pitchFamily="34" charset="-120"/>
              </a:rPr>
              <a:t>rate-limited</a:t>
            </a:r>
            <a:r>
              <a:rPr lang="en-US" sz="1300" dirty="0">
                <a:solidFill>
                  <a:srgbClr val="47546B"/>
                </a:solidFill>
                <a:latin typeface="Arial" pitchFamily="34" charset="0"/>
                <a:ea typeface="Arial" pitchFamily="34" charset="-122"/>
                <a:cs typeface="Arial" pitchFamily="34" charset="-120"/>
              </a:rPr>
              <a:t> (requests/min + tokens/min). Not the database — adding machines can't beat a shared quota.</a:t>
            </a:r>
            <a:endParaRPr lang="en-US" sz="1300" dirty="0"/>
          </a:p>
        </p:txBody>
      </p:sp>
      <p:sp>
        <p:nvSpPr>
          <p:cNvPr id="7" name="Shape 5"/>
          <p:cNvSpPr/>
          <p:nvPr/>
        </p:nvSpPr>
        <p:spPr>
          <a:xfrm>
            <a:off x="4388842" y="1885255"/>
            <a:ext cx="3414216" cy="1712913"/>
          </a:xfrm>
          <a:prstGeom prst="roundRect">
            <a:avLst>
              <a:gd name="adj" fmla="val 5746"/>
            </a:avLst>
          </a:prstGeom>
          <a:solidFill>
            <a:srgbClr val="FFFFFF"/>
          </a:solidFill>
          <a:ln w="6350">
            <a:solidFill>
              <a:srgbClr val="E3E6E4"/>
            </a:solidFill>
            <a:prstDash val="solid"/>
          </a:ln>
        </p:spPr>
        <p:txBody>
          <a:bodyPr/>
          <a:lstStyle/>
          <a:p>
            <a:endParaRPr lang="en-US"/>
          </a:p>
        </p:txBody>
      </p:sp>
      <p:sp>
        <p:nvSpPr>
          <p:cNvPr id="8" name="Text 6"/>
          <p:cNvSpPr/>
          <p:nvPr/>
        </p:nvSpPr>
        <p:spPr>
          <a:xfrm>
            <a:off x="4620617" y="2117030"/>
            <a:ext cx="3039186" cy="261541"/>
          </a:xfrm>
          <a:prstGeom prst="rect">
            <a:avLst/>
          </a:prstGeom>
          <a:noFill/>
          <a:ln/>
        </p:spPr>
        <p:txBody>
          <a:bodyPr wrap="square" lIns="0" tIns="0" rIns="0" bIns="0" rtlCol="0" anchor="t">
            <a:normAutofit/>
          </a:bodyPr>
          <a:lstStyle/>
          <a:p>
            <a:pPr marL="0" indent="0" algn="l">
              <a:lnSpc>
                <a:spcPts val="1860"/>
              </a:lnSpc>
              <a:buNone/>
            </a:pPr>
            <a:r>
              <a:rPr lang="en-US" sz="1550" b="1" dirty="0">
                <a:solidFill>
                  <a:srgbClr val="14233D"/>
                </a:solidFill>
                <a:latin typeface="Arial" pitchFamily="34" charset="0"/>
                <a:ea typeface="Arial" pitchFamily="34" charset="-122"/>
                <a:cs typeface="Arial" pitchFamily="34" charset="-120"/>
              </a:rPr>
              <a:t>How we measure</a:t>
            </a:r>
            <a:endParaRPr lang="en-US" sz="1550" dirty="0"/>
          </a:p>
        </p:txBody>
      </p:sp>
      <p:sp>
        <p:nvSpPr>
          <p:cNvPr id="9" name="Text 7"/>
          <p:cNvSpPr/>
          <p:nvPr/>
        </p:nvSpPr>
        <p:spPr>
          <a:xfrm>
            <a:off x="4620617" y="2442071"/>
            <a:ext cx="3039186"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46B"/>
                </a:solidFill>
                <a:latin typeface="Arial" pitchFamily="34" charset="0"/>
                <a:ea typeface="Arial" pitchFamily="34" charset="-122"/>
                <a:cs typeface="Arial" pitchFamily="34" charset="-120"/>
              </a:rPr>
              <a:t>Queue lag, p50 / p95 end-to-end, tokens/min vs the plan ceiling, 429 rate, cost per day, override rate.</a:t>
            </a:r>
            <a:endParaRPr lang="en-US" sz="1300" dirty="0"/>
          </a:p>
        </p:txBody>
      </p:sp>
      <p:sp>
        <p:nvSpPr>
          <p:cNvPr id="10" name="Shape 8"/>
          <p:cNvSpPr/>
          <p:nvPr/>
        </p:nvSpPr>
        <p:spPr>
          <a:xfrm>
            <a:off x="7961809" y="1885255"/>
            <a:ext cx="3414216" cy="1712913"/>
          </a:xfrm>
          <a:prstGeom prst="roundRect">
            <a:avLst>
              <a:gd name="adj" fmla="val 5746"/>
            </a:avLst>
          </a:prstGeom>
          <a:solidFill>
            <a:srgbClr val="FFFFFF"/>
          </a:solidFill>
          <a:ln w="6350">
            <a:solidFill>
              <a:srgbClr val="E3E6E4"/>
            </a:solidFill>
            <a:prstDash val="solid"/>
          </a:ln>
        </p:spPr>
        <p:txBody>
          <a:bodyPr/>
          <a:lstStyle/>
          <a:p>
            <a:endParaRPr lang="en-US"/>
          </a:p>
        </p:txBody>
      </p:sp>
      <p:sp>
        <p:nvSpPr>
          <p:cNvPr id="11" name="Text 9"/>
          <p:cNvSpPr/>
          <p:nvPr/>
        </p:nvSpPr>
        <p:spPr>
          <a:xfrm>
            <a:off x="8193584" y="2117030"/>
            <a:ext cx="3039186" cy="261541"/>
          </a:xfrm>
          <a:prstGeom prst="rect">
            <a:avLst/>
          </a:prstGeom>
          <a:noFill/>
          <a:ln/>
        </p:spPr>
        <p:txBody>
          <a:bodyPr wrap="square" lIns="0" tIns="0" rIns="0" bIns="0" rtlCol="0" anchor="t">
            <a:normAutofit/>
          </a:bodyPr>
          <a:lstStyle/>
          <a:p>
            <a:pPr marL="0" indent="0" algn="l">
              <a:lnSpc>
                <a:spcPts val="1860"/>
              </a:lnSpc>
              <a:buNone/>
            </a:pPr>
            <a:r>
              <a:rPr lang="en-US" sz="1550" b="1" dirty="0">
                <a:solidFill>
                  <a:srgbClr val="14233D"/>
                </a:solidFill>
                <a:latin typeface="Arial" pitchFamily="34" charset="0"/>
                <a:ea typeface="Arial" pitchFamily="34" charset="-122"/>
                <a:cs typeface="Arial" pitchFamily="34" charset="-120"/>
              </a:rPr>
              <a:t>How we scale</a:t>
            </a:r>
            <a:endParaRPr lang="en-US" sz="1550" dirty="0"/>
          </a:p>
        </p:txBody>
      </p:sp>
      <p:sp>
        <p:nvSpPr>
          <p:cNvPr id="12" name="Text 10"/>
          <p:cNvSpPr/>
          <p:nvPr/>
        </p:nvSpPr>
        <p:spPr>
          <a:xfrm>
            <a:off x="8193584" y="2442071"/>
            <a:ext cx="3039186"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46B"/>
                </a:solidFill>
                <a:latin typeface="Arial" pitchFamily="34" charset="0"/>
                <a:ea typeface="Arial" pitchFamily="34" charset="-122"/>
                <a:cs typeface="Arial" pitchFamily="34" charset="-120"/>
              </a:rPr>
              <a:t>Async queue + stateless workers on K8s; </a:t>
            </a:r>
            <a:r>
              <a:rPr lang="en-US" sz="1300" b="1" dirty="0">
                <a:solidFill>
                  <a:srgbClr val="47546B"/>
                </a:solidFill>
                <a:latin typeface="Arial" pitchFamily="34" charset="0"/>
                <a:ea typeface="Arial" pitchFamily="34" charset="-122"/>
                <a:cs typeface="Arial" pitchFamily="34" charset="-120"/>
              </a:rPr>
              <a:t>KEDA</a:t>
            </a:r>
            <a:r>
              <a:rPr lang="en-US" sz="1300" dirty="0">
                <a:solidFill>
                  <a:srgbClr val="47546B"/>
                </a:solidFill>
                <a:latin typeface="Arial" pitchFamily="34" charset="0"/>
                <a:ea typeface="Arial" pitchFamily="34" charset="-122"/>
                <a:cs typeface="Arial" pitchFamily="34" charset="-120"/>
              </a:rPr>
              <a:t> autoscales on queue lag; a shared </a:t>
            </a:r>
            <a:r>
              <a:rPr lang="en-US" sz="1300" b="1" dirty="0">
                <a:solidFill>
                  <a:srgbClr val="47546B"/>
                </a:solidFill>
                <a:latin typeface="Arial" pitchFamily="34" charset="0"/>
                <a:ea typeface="Arial" pitchFamily="34" charset="-122"/>
                <a:cs typeface="Arial" pitchFamily="34" charset="-120"/>
              </a:rPr>
              <a:t>Redis token-bucket</a:t>
            </a:r>
            <a:r>
              <a:rPr lang="en-US" sz="1300" dirty="0">
                <a:solidFill>
                  <a:srgbClr val="47546B"/>
                </a:solidFill>
                <a:latin typeface="Arial" pitchFamily="34" charset="0"/>
                <a:ea typeface="Arial" pitchFamily="34" charset="-122"/>
                <a:cs typeface="Arial" pitchFamily="34" charset="-120"/>
              </a:rPr>
              <a:t> limiter paces calls to the model's quota.</a:t>
            </a:r>
            <a:endParaRPr lang="en-US" sz="1300" dirty="0"/>
          </a:p>
        </p:txBody>
      </p:sp>
      <p:sp>
        <p:nvSpPr>
          <p:cNvPr id="13" name="Shape 11"/>
          <p:cNvSpPr/>
          <p:nvPr/>
        </p:nvSpPr>
        <p:spPr>
          <a:xfrm>
            <a:off x="812800" y="3880743"/>
            <a:ext cx="10566400" cy="1467247"/>
          </a:xfrm>
          <a:prstGeom prst="roundRect">
            <a:avLst>
              <a:gd name="adj" fmla="val 6925"/>
            </a:avLst>
          </a:prstGeom>
          <a:solidFill>
            <a:srgbClr val="14233D"/>
          </a:solidFill>
          <a:ln/>
        </p:spPr>
        <p:txBody>
          <a:bodyPr/>
          <a:lstStyle/>
          <a:p>
            <a:endParaRPr lang="en-US"/>
          </a:p>
        </p:txBody>
      </p:sp>
      <p:sp>
        <p:nvSpPr>
          <p:cNvPr id="14" name="Text 12"/>
          <p:cNvSpPr/>
          <p:nvPr/>
        </p:nvSpPr>
        <p:spPr>
          <a:xfrm>
            <a:off x="1066800" y="4096643"/>
            <a:ext cx="1036015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7FD1BE"/>
                </a:solidFill>
                <a:latin typeface="Arial" pitchFamily="34" charset="0"/>
                <a:ea typeface="Arial" pitchFamily="34" charset="-122"/>
                <a:cs typeface="Arial" pitchFamily="34" charset="-120"/>
              </a:rPr>
              <a:t>Backpressure — the glue that keeps a surge from breaking us</a:t>
            </a:r>
            <a:endParaRPr lang="en-US" sz="1500" dirty="0"/>
          </a:p>
        </p:txBody>
      </p:sp>
      <p:sp>
        <p:nvSpPr>
          <p:cNvPr id="15" name="Text 13"/>
          <p:cNvSpPr/>
          <p:nvPr/>
        </p:nvSpPr>
        <p:spPr>
          <a:xfrm>
            <a:off x="1066800" y="4414143"/>
            <a:ext cx="10360152"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7DCE6"/>
                </a:solidFill>
                <a:latin typeface="Arial" pitchFamily="34" charset="0"/>
                <a:ea typeface="Arial" pitchFamily="34" charset="-122"/>
                <a:cs typeface="Arial" pitchFamily="34" charset="-120"/>
              </a:rPr>
              <a:t>When the model can't keep up, the </a:t>
            </a:r>
            <a:r>
              <a:rPr lang="en-US" sz="1300" b="1" dirty="0">
                <a:solidFill>
                  <a:srgbClr val="D7DCE6"/>
                </a:solidFill>
                <a:latin typeface="Arial" pitchFamily="34" charset="0"/>
                <a:ea typeface="Arial" pitchFamily="34" charset="-122"/>
                <a:cs typeface="Arial" pitchFamily="34" charset="-120"/>
              </a:rPr>
              <a:t>Redis limiter</a:t>
            </a:r>
            <a:r>
              <a:rPr lang="en-US" sz="1300" dirty="0">
                <a:solidFill>
                  <a:srgbClr val="D7DCE6"/>
                </a:solidFill>
                <a:latin typeface="Arial" pitchFamily="34" charset="0"/>
                <a:ea typeface="Arial" pitchFamily="34" charset="-122"/>
                <a:cs typeface="Arial" pitchFamily="34" charset="-120"/>
              </a:rPr>
              <a:t> withholds tokens → workers slow → </a:t>
            </a:r>
            <a:r>
              <a:rPr lang="en-US" sz="1300" b="1" dirty="0">
                <a:solidFill>
                  <a:srgbClr val="D7DCE6"/>
                </a:solidFill>
                <a:latin typeface="Arial" pitchFamily="34" charset="0"/>
                <a:ea typeface="Arial" pitchFamily="34" charset="-122"/>
                <a:cs typeface="Arial" pitchFamily="34" charset="-120"/>
              </a:rPr>
              <a:t>lag builds in the queue</a:t>
            </a:r>
            <a:r>
              <a:rPr lang="en-US" sz="1300" dirty="0">
                <a:solidFill>
                  <a:srgbClr val="D7DCE6"/>
                </a:solidFill>
                <a:latin typeface="Arial" pitchFamily="34" charset="0"/>
                <a:ea typeface="Arial" pitchFamily="34" charset="-122"/>
                <a:cs typeface="Arial" pitchFamily="34" charset="-120"/>
              </a:rPr>
              <a:t> → </a:t>
            </a:r>
            <a:r>
              <a:rPr lang="en-US" sz="1300" b="1" dirty="0">
                <a:solidFill>
                  <a:srgbClr val="D7DCE6"/>
                </a:solidFill>
                <a:latin typeface="Arial" pitchFamily="34" charset="0"/>
                <a:ea typeface="Arial" pitchFamily="34" charset="-122"/>
                <a:cs typeface="Arial" pitchFamily="34" charset="-120"/>
              </a:rPr>
              <a:t>KEDA</a:t>
            </a:r>
            <a:r>
              <a:rPr lang="en-US" sz="1300" dirty="0">
                <a:solidFill>
                  <a:srgbClr val="D7DCE6"/>
                </a:solidFill>
                <a:latin typeface="Arial" pitchFamily="34" charset="0"/>
                <a:ea typeface="Arial" pitchFamily="34" charset="-122"/>
                <a:cs typeface="Arial" pitchFamily="34" charset="-120"/>
              </a:rPr>
              <a:t> adds pods. Pressure is pushed </a:t>
            </a:r>
            <a:r>
              <a:rPr lang="en-US" sz="1300" i="1" dirty="0">
                <a:solidFill>
                  <a:srgbClr val="D7DCE6"/>
                </a:solidFill>
                <a:latin typeface="Arial" pitchFamily="34" charset="0"/>
                <a:ea typeface="Arial" pitchFamily="34" charset="-122"/>
                <a:cs typeface="Arial" pitchFamily="34" charset="-120"/>
              </a:rPr>
              <a:t>back</a:t>
            </a:r>
            <a:r>
              <a:rPr lang="en-US" sz="1300" dirty="0">
                <a:solidFill>
                  <a:srgbClr val="D7DCE6"/>
                </a:solidFill>
                <a:latin typeface="Arial" pitchFamily="34" charset="0"/>
                <a:ea typeface="Arial" pitchFamily="34" charset="-122"/>
                <a:cs typeface="Arial" pitchFamily="34" charset="-120"/>
              </a:rPr>
              <a:t> to the queue (built to hold it), not forward as a flood of 429s or dropped claims. A </a:t>
            </a:r>
            <a:r>
              <a:rPr lang="en-US" sz="1300" b="1" dirty="0">
                <a:solidFill>
                  <a:srgbClr val="D7DCE6"/>
                </a:solidFill>
                <a:latin typeface="Arial" pitchFamily="34" charset="0"/>
                <a:ea typeface="Arial" pitchFamily="34" charset="-122"/>
                <a:cs typeface="Arial" pitchFamily="34" charset="-120"/>
              </a:rPr>
              <a:t>concurrency cap</a:t>
            </a:r>
            <a:r>
              <a:rPr lang="en-US" sz="1300" dirty="0">
                <a:solidFill>
                  <a:srgbClr val="D7DCE6"/>
                </a:solidFill>
                <a:latin typeface="Arial" pitchFamily="34" charset="0"/>
                <a:ea typeface="Arial" pitchFamily="34" charset="-122"/>
                <a:cs typeface="Arial" pitchFamily="34" charset="-120"/>
              </a:rPr>
              <a:t> keeps in-flight calls under the plan; a </a:t>
            </a:r>
            <a:r>
              <a:rPr lang="en-US" sz="1300" b="1" dirty="0">
                <a:solidFill>
                  <a:srgbClr val="D7DCE6"/>
                </a:solidFill>
                <a:latin typeface="Arial" pitchFamily="34" charset="0"/>
                <a:ea typeface="Arial" pitchFamily="34" charset="-122"/>
                <a:cs typeface="Arial" pitchFamily="34" charset="-120"/>
              </a:rPr>
              <a:t>circuit breaker</a:t>
            </a:r>
            <a:r>
              <a:rPr lang="en-US" sz="1300" dirty="0">
                <a:solidFill>
                  <a:srgbClr val="D7DCE6"/>
                </a:solidFill>
                <a:latin typeface="Arial" pitchFamily="34" charset="0"/>
                <a:ea typeface="Arial" pitchFamily="34" charset="-122"/>
                <a:cs typeface="Arial" pitchFamily="34" charset="-120"/>
              </a:rPr>
              <a:t> fails fast to manual intake on a real outage (not on rate limits).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GOVERNANCE &amp; DATA</a:t>
            </a:r>
            <a:endParaRPr lang="en-US" sz="1200" dirty="0"/>
          </a:p>
        </p:txBody>
      </p:sp>
      <p:sp>
        <p:nvSpPr>
          <p:cNvPr id="3" name="Text 1"/>
          <p:cNvSpPr>
            <a:spLocks noGrp="1"/>
          </p:cNvSpPr>
          <p:nvPr>
            <p:ph type="title"/>
          </p:nvPr>
        </p:nvSpPr>
        <p:spPr>
          <a:xfrm>
            <a:off x="812800" y="112772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4233D"/>
                </a:solidFill>
                <a:latin typeface="Georgia" pitchFamily="18" charset="0"/>
                <a:ea typeface="Georgia" pitchFamily="18" charset="-122"/>
                <a:cs typeface="Georgia" pitchFamily="18" charset="-120"/>
              </a:rPr>
              <a:t>Compliant and private by design</a:t>
            </a:r>
            <a:endParaRPr lang="en-US" sz="3400" dirty="0"/>
          </a:p>
        </p:txBody>
      </p:sp>
      <p:sp>
        <p:nvSpPr>
          <p:cNvPr id="4" name="Shape 2"/>
          <p:cNvSpPr/>
          <p:nvPr/>
        </p:nvSpPr>
        <p:spPr>
          <a:xfrm>
            <a:off x="815975" y="1961455"/>
            <a:ext cx="5175250" cy="1804591"/>
          </a:xfrm>
          <a:prstGeom prst="roundRect">
            <a:avLst>
              <a:gd name="adj" fmla="val 5454"/>
            </a:avLst>
          </a:prstGeom>
          <a:solidFill>
            <a:srgbClr val="FFFFFF"/>
          </a:solidFill>
          <a:ln w="6350">
            <a:solidFill>
              <a:srgbClr val="E3E6E4"/>
            </a:solidFill>
            <a:prstDash val="solid"/>
          </a:ln>
        </p:spPr>
        <p:txBody>
          <a:bodyPr/>
          <a:lstStyle/>
          <a:p>
            <a:endParaRPr lang="en-US"/>
          </a:p>
        </p:txBody>
      </p:sp>
      <p:sp>
        <p:nvSpPr>
          <p:cNvPr id="5" name="Text 3"/>
          <p:cNvSpPr/>
          <p:nvPr/>
        </p:nvSpPr>
        <p:spPr>
          <a:xfrm>
            <a:off x="1123950" y="2269430"/>
            <a:ext cx="469607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33D"/>
                </a:solidFill>
                <a:latin typeface="Arial" pitchFamily="34" charset="0"/>
                <a:ea typeface="Arial" pitchFamily="34" charset="-122"/>
                <a:cs typeface="Arial" pitchFamily="34" charset="-120"/>
              </a:rPr>
              <a:t>Regulatory — EU AI Act</a:t>
            </a:r>
            <a:endParaRPr lang="en-US" sz="1800" dirty="0"/>
          </a:p>
        </p:txBody>
      </p:sp>
      <p:sp>
        <p:nvSpPr>
          <p:cNvPr id="6" name="Text 4"/>
          <p:cNvSpPr/>
          <p:nvPr/>
        </p:nvSpPr>
        <p:spPr>
          <a:xfrm>
            <a:off x="1170432" y="2657971"/>
            <a:ext cx="4643501" cy="825500"/>
          </a:xfrm>
          <a:prstGeom prst="rect">
            <a:avLst/>
          </a:prstGeom>
          <a:noFill/>
          <a:ln/>
        </p:spPr>
        <p:txBody>
          <a:bodyPr wrap="square" lIns="0" tIns="0" rIns="0" bIns="0" rtlCol="0" anchor="t">
            <a:normAutofit/>
          </a:bodyPr>
          <a:lstStyle/>
          <a:p>
            <a:pPr marL="156718" indent="-156718" algn="l">
              <a:lnSpc>
                <a:spcPts val="2100"/>
              </a:lnSpc>
              <a:buSzPct val="100000"/>
              <a:buChar char="•"/>
            </a:pPr>
            <a:r>
              <a:rPr lang="en-US" sz="1400" dirty="0">
                <a:solidFill>
                  <a:srgbClr val="47546B"/>
                </a:solidFill>
                <a:latin typeface="Arial" pitchFamily="34" charset="0"/>
                <a:ea typeface="Arial" pitchFamily="34" charset="-122"/>
                <a:cs typeface="Arial" pitchFamily="34" charset="-120"/>
              </a:rPr>
              <a:t>Human oversight built into the design</a:t>
            </a:r>
            <a:endParaRPr lang="en-US" sz="1400" dirty="0"/>
          </a:p>
          <a:p>
            <a:pPr marL="156718" indent="-156718" algn="l">
              <a:lnSpc>
                <a:spcPts val="2100"/>
              </a:lnSpc>
              <a:buSzPct val="100000"/>
              <a:buChar char="•"/>
            </a:pPr>
            <a:r>
              <a:rPr lang="en-US" sz="1400" dirty="0">
                <a:solidFill>
                  <a:srgbClr val="47546B"/>
                </a:solidFill>
                <a:latin typeface="Arial" pitchFamily="34" charset="0"/>
                <a:ea typeface="Arial" pitchFamily="34" charset="-122"/>
                <a:cs typeface="Arial" pitchFamily="34" charset="-120"/>
              </a:rPr>
              <a:t>Transparency, logging and accuracy monitoring</a:t>
            </a:r>
            <a:endParaRPr lang="en-US" sz="1400" dirty="0"/>
          </a:p>
          <a:p>
            <a:pPr marL="156718" indent="-156718" algn="l">
              <a:lnSpc>
                <a:spcPts val="2100"/>
              </a:lnSpc>
              <a:buSzPct val="100000"/>
              <a:buChar char="•"/>
            </a:pPr>
            <a:r>
              <a:rPr lang="en-US" sz="1400" dirty="0">
                <a:solidFill>
                  <a:srgbClr val="47546B"/>
                </a:solidFill>
                <a:latin typeface="Arial" pitchFamily="34" charset="0"/>
                <a:ea typeface="Arial" pitchFamily="34" charset="-122"/>
                <a:cs typeface="Arial" pitchFamily="34" charset="-120"/>
              </a:rPr>
              <a:t>No automated eligibility or payout decision</a:t>
            </a:r>
            <a:endParaRPr lang="en-US" sz="1400" dirty="0"/>
          </a:p>
        </p:txBody>
      </p:sp>
      <p:sp>
        <p:nvSpPr>
          <p:cNvPr id="7" name="Shape 5"/>
          <p:cNvSpPr/>
          <p:nvPr/>
        </p:nvSpPr>
        <p:spPr>
          <a:xfrm>
            <a:off x="6200775" y="1961455"/>
            <a:ext cx="5175250" cy="1804591"/>
          </a:xfrm>
          <a:prstGeom prst="roundRect">
            <a:avLst>
              <a:gd name="adj" fmla="val 5454"/>
            </a:avLst>
          </a:prstGeom>
          <a:solidFill>
            <a:srgbClr val="FFFFFF"/>
          </a:solidFill>
          <a:ln w="6350">
            <a:solidFill>
              <a:srgbClr val="E3E6E4"/>
            </a:solidFill>
            <a:prstDash val="solid"/>
          </a:ln>
        </p:spPr>
        <p:txBody>
          <a:bodyPr/>
          <a:lstStyle/>
          <a:p>
            <a:endParaRPr lang="en-US"/>
          </a:p>
        </p:txBody>
      </p:sp>
      <p:sp>
        <p:nvSpPr>
          <p:cNvPr id="8" name="Text 6"/>
          <p:cNvSpPr/>
          <p:nvPr/>
        </p:nvSpPr>
        <p:spPr>
          <a:xfrm>
            <a:off x="6508750" y="2269430"/>
            <a:ext cx="469607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33D"/>
                </a:solidFill>
                <a:latin typeface="Arial" pitchFamily="34" charset="0"/>
                <a:ea typeface="Arial" pitchFamily="34" charset="-122"/>
                <a:cs typeface="Arial" pitchFamily="34" charset="-120"/>
              </a:rPr>
              <a:t>Data — GDPR</a:t>
            </a:r>
            <a:endParaRPr lang="en-US" sz="1800" dirty="0"/>
          </a:p>
        </p:txBody>
      </p:sp>
      <p:sp>
        <p:nvSpPr>
          <p:cNvPr id="9" name="Text 7"/>
          <p:cNvSpPr/>
          <p:nvPr/>
        </p:nvSpPr>
        <p:spPr>
          <a:xfrm>
            <a:off x="6555232" y="2657971"/>
            <a:ext cx="4643501" cy="825500"/>
          </a:xfrm>
          <a:prstGeom prst="rect">
            <a:avLst/>
          </a:prstGeom>
          <a:noFill/>
          <a:ln/>
        </p:spPr>
        <p:txBody>
          <a:bodyPr wrap="square" lIns="0" tIns="0" rIns="0" bIns="0" rtlCol="0" anchor="t">
            <a:normAutofit/>
          </a:bodyPr>
          <a:lstStyle/>
          <a:p>
            <a:pPr marL="156718" indent="-156718" algn="l">
              <a:lnSpc>
                <a:spcPts val="2100"/>
              </a:lnSpc>
              <a:buSzPct val="100000"/>
              <a:buChar char="•"/>
            </a:pPr>
            <a:r>
              <a:rPr lang="en-US" sz="1400" dirty="0">
                <a:solidFill>
                  <a:srgbClr val="47546B"/>
                </a:solidFill>
                <a:latin typeface="Arial" pitchFamily="34" charset="0"/>
                <a:ea typeface="Arial" pitchFamily="34" charset="-122"/>
                <a:cs typeface="Arial" pitchFamily="34" charset="-120"/>
              </a:rPr>
              <a:t>Model-agnostic: run in-EU or on-prem</a:t>
            </a:r>
            <a:endParaRPr lang="en-US" sz="1400" dirty="0"/>
          </a:p>
          <a:p>
            <a:pPr marL="156718" indent="-156718" algn="l">
              <a:lnSpc>
                <a:spcPts val="2100"/>
              </a:lnSpc>
              <a:buSzPct val="100000"/>
              <a:buChar char="•"/>
            </a:pPr>
            <a:r>
              <a:rPr lang="en-US" sz="1400" dirty="0">
                <a:solidFill>
                  <a:srgbClr val="47546B"/>
                </a:solidFill>
                <a:latin typeface="Arial" pitchFamily="34" charset="0"/>
                <a:ea typeface="Arial" pitchFamily="34" charset="-122"/>
                <a:cs typeface="Arial" pitchFamily="34" charset="-120"/>
              </a:rPr>
              <a:t>We do not train on the data</a:t>
            </a:r>
            <a:endParaRPr lang="en-US" sz="1400" dirty="0"/>
          </a:p>
          <a:p>
            <a:pPr marL="156718" indent="-156718" algn="l">
              <a:lnSpc>
                <a:spcPts val="2100"/>
              </a:lnSpc>
              <a:buSzPct val="100000"/>
              <a:buChar char="•"/>
            </a:pPr>
            <a:r>
              <a:rPr lang="en-US" sz="1400" dirty="0">
                <a:solidFill>
                  <a:srgbClr val="47546B"/>
                </a:solidFill>
                <a:latin typeface="Arial" pitchFamily="34" charset="0"/>
                <a:ea typeface="Arial" pitchFamily="34" charset="-122"/>
                <a:cs typeface="Arial" pitchFamily="34" charset="-120"/>
              </a:rPr>
              <a:t>Retention, residency and a full audit trail</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INTEGRATION &amp; ROLLOUT</a:t>
            </a:r>
            <a:endParaRPr lang="en-US" sz="1200" dirty="0"/>
          </a:p>
        </p:txBody>
      </p:sp>
      <p:sp>
        <p:nvSpPr>
          <p:cNvPr id="3" name="Text 1"/>
          <p:cNvSpPr>
            <a:spLocks noGrp="1"/>
          </p:cNvSpPr>
          <p:nvPr>
            <p:ph type="title"/>
          </p:nvPr>
        </p:nvSpPr>
        <p:spPr>
          <a:xfrm>
            <a:off x="812800" y="112772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4233D"/>
                </a:solidFill>
                <a:latin typeface="Georgia" pitchFamily="18" charset="0"/>
                <a:ea typeface="Georgia" pitchFamily="18" charset="-122"/>
                <a:cs typeface="Georgia" pitchFamily="18" charset="-120"/>
              </a:rPr>
              <a:t>Fits your systems. Rolls out safely.</a:t>
            </a:r>
            <a:endParaRPr lang="en-US" sz="3400" dirty="0"/>
          </a:p>
        </p:txBody>
      </p:sp>
      <p:sp>
        <p:nvSpPr>
          <p:cNvPr id="4" name="Shape 2"/>
          <p:cNvSpPr/>
          <p:nvPr/>
        </p:nvSpPr>
        <p:spPr>
          <a:xfrm>
            <a:off x="815975" y="1961455"/>
            <a:ext cx="3041650" cy="1314351"/>
          </a:xfrm>
          <a:prstGeom prst="roundRect">
            <a:avLst>
              <a:gd name="adj" fmla="val 7488"/>
            </a:avLst>
          </a:prstGeom>
          <a:solidFill>
            <a:srgbClr val="FFFFFF"/>
          </a:solidFill>
          <a:ln w="6350">
            <a:solidFill>
              <a:srgbClr val="E3E6E4"/>
            </a:solidFill>
            <a:prstDash val="solid"/>
          </a:ln>
        </p:spPr>
        <p:txBody>
          <a:bodyPr/>
          <a:lstStyle/>
          <a:p>
            <a:endParaRPr lang="en-US"/>
          </a:p>
        </p:txBody>
      </p:sp>
      <p:sp>
        <p:nvSpPr>
          <p:cNvPr id="5" name="Text 3"/>
          <p:cNvSpPr/>
          <p:nvPr/>
        </p:nvSpPr>
        <p:spPr>
          <a:xfrm>
            <a:off x="1073150" y="2218630"/>
            <a:ext cx="260311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33D"/>
                </a:solidFill>
                <a:latin typeface="Arial" pitchFamily="34" charset="0"/>
                <a:ea typeface="Arial" pitchFamily="34" charset="-122"/>
                <a:cs typeface="Arial" pitchFamily="34" charset="-120"/>
              </a:rPr>
              <a:t>1 · Shadow</a:t>
            </a:r>
            <a:endParaRPr lang="en-US" sz="1600" dirty="0"/>
          </a:p>
        </p:txBody>
      </p:sp>
      <p:sp>
        <p:nvSpPr>
          <p:cNvPr id="6" name="Text 4"/>
          <p:cNvSpPr/>
          <p:nvPr/>
        </p:nvSpPr>
        <p:spPr>
          <a:xfrm>
            <a:off x="1073150" y="2538611"/>
            <a:ext cx="2603119" cy="50542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7546B"/>
                </a:solidFill>
                <a:latin typeface="Arial" pitchFamily="34" charset="0"/>
                <a:ea typeface="Arial" pitchFamily="34" charset="-122"/>
                <a:cs typeface="Arial" pitchFamily="34" charset="-120"/>
              </a:rPr>
              <a:t>AI proposes on live claims; the team reviews everything.</a:t>
            </a:r>
            <a:endParaRPr lang="en-US" sz="1350" dirty="0"/>
          </a:p>
        </p:txBody>
      </p:sp>
      <p:pic>
        <p:nvPicPr>
          <p:cNvPr id="7" name="Image 0" descr="arrow-right"/>
          <p:cNvPicPr>
            <a:picLocks noChangeAspect="1"/>
          </p:cNvPicPr>
          <p:nvPr/>
        </p:nvPicPr>
        <p:blipFill>
          <a:blip r:embed="rId3"/>
          <a:srcRect/>
          <a:stretch/>
        </p:blipFill>
        <p:spPr>
          <a:xfrm>
            <a:off x="4038600" y="2523331"/>
            <a:ext cx="355600" cy="190500"/>
          </a:xfrm>
          <a:prstGeom prst="rect">
            <a:avLst/>
          </a:prstGeom>
        </p:spPr>
      </p:pic>
      <p:sp>
        <p:nvSpPr>
          <p:cNvPr id="8" name="Shape 5"/>
          <p:cNvSpPr/>
          <p:nvPr/>
        </p:nvSpPr>
        <p:spPr>
          <a:xfrm>
            <a:off x="4575175" y="1961455"/>
            <a:ext cx="3041650" cy="1314351"/>
          </a:xfrm>
          <a:prstGeom prst="roundRect">
            <a:avLst>
              <a:gd name="adj" fmla="val 7488"/>
            </a:avLst>
          </a:prstGeom>
          <a:solidFill>
            <a:srgbClr val="FFFFFF"/>
          </a:solidFill>
          <a:ln w="6350">
            <a:solidFill>
              <a:srgbClr val="E3E6E4"/>
            </a:solidFill>
            <a:prstDash val="solid"/>
          </a:ln>
        </p:spPr>
        <p:txBody>
          <a:bodyPr/>
          <a:lstStyle/>
          <a:p>
            <a:endParaRPr lang="en-US"/>
          </a:p>
        </p:txBody>
      </p:sp>
      <p:sp>
        <p:nvSpPr>
          <p:cNvPr id="9" name="Text 6"/>
          <p:cNvSpPr/>
          <p:nvPr/>
        </p:nvSpPr>
        <p:spPr>
          <a:xfrm>
            <a:off x="4832350" y="2218630"/>
            <a:ext cx="260311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33D"/>
                </a:solidFill>
                <a:latin typeface="Arial" pitchFamily="34" charset="0"/>
                <a:ea typeface="Arial" pitchFamily="34" charset="-122"/>
                <a:cs typeface="Arial" pitchFamily="34" charset="-120"/>
              </a:rPr>
              <a:t>2 · Assist</a:t>
            </a:r>
            <a:endParaRPr lang="en-US" sz="1600" dirty="0"/>
          </a:p>
        </p:txBody>
      </p:sp>
      <p:sp>
        <p:nvSpPr>
          <p:cNvPr id="10" name="Text 7"/>
          <p:cNvSpPr/>
          <p:nvPr/>
        </p:nvSpPr>
        <p:spPr>
          <a:xfrm>
            <a:off x="4832350" y="2538611"/>
            <a:ext cx="2603119" cy="50542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7546B"/>
                </a:solidFill>
                <a:latin typeface="Arial" pitchFamily="34" charset="0"/>
                <a:ea typeface="Arial" pitchFamily="34" charset="-122"/>
                <a:cs typeface="Arial" pitchFamily="34" charset="-120"/>
              </a:rPr>
              <a:t>Confident cases pre-filled; the override rate builds trust.</a:t>
            </a:r>
            <a:endParaRPr lang="en-US" sz="1350" dirty="0"/>
          </a:p>
        </p:txBody>
      </p:sp>
      <p:pic>
        <p:nvPicPr>
          <p:cNvPr id="11" name="Image 1" descr="arrow-right"/>
          <p:cNvPicPr>
            <a:picLocks noChangeAspect="1"/>
          </p:cNvPicPr>
          <p:nvPr/>
        </p:nvPicPr>
        <p:blipFill>
          <a:blip r:embed="rId3"/>
          <a:srcRect/>
          <a:stretch/>
        </p:blipFill>
        <p:spPr>
          <a:xfrm>
            <a:off x="7797800" y="2523331"/>
            <a:ext cx="355600" cy="190500"/>
          </a:xfrm>
          <a:prstGeom prst="rect">
            <a:avLst/>
          </a:prstGeom>
        </p:spPr>
      </p:pic>
      <p:sp>
        <p:nvSpPr>
          <p:cNvPr id="12" name="Shape 8"/>
          <p:cNvSpPr/>
          <p:nvPr/>
        </p:nvSpPr>
        <p:spPr>
          <a:xfrm>
            <a:off x="8334375" y="1961455"/>
            <a:ext cx="3041650" cy="1314351"/>
          </a:xfrm>
          <a:prstGeom prst="roundRect">
            <a:avLst>
              <a:gd name="adj" fmla="val 7488"/>
            </a:avLst>
          </a:prstGeom>
          <a:solidFill>
            <a:srgbClr val="FFFFFF"/>
          </a:solidFill>
          <a:ln w="6350">
            <a:solidFill>
              <a:srgbClr val="E3E6E4"/>
            </a:solidFill>
            <a:prstDash val="solid"/>
          </a:ln>
        </p:spPr>
        <p:txBody>
          <a:bodyPr/>
          <a:lstStyle/>
          <a:p>
            <a:endParaRPr lang="en-US"/>
          </a:p>
        </p:txBody>
      </p:sp>
      <p:sp>
        <p:nvSpPr>
          <p:cNvPr id="13" name="Text 9"/>
          <p:cNvSpPr/>
          <p:nvPr/>
        </p:nvSpPr>
        <p:spPr>
          <a:xfrm>
            <a:off x="8591550" y="2218630"/>
            <a:ext cx="260311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33D"/>
                </a:solidFill>
                <a:latin typeface="Arial" pitchFamily="34" charset="0"/>
                <a:ea typeface="Arial" pitchFamily="34" charset="-122"/>
                <a:cs typeface="Arial" pitchFamily="34" charset="-120"/>
              </a:rPr>
              <a:t>3 · Scale</a:t>
            </a:r>
            <a:endParaRPr lang="en-US" sz="1600" dirty="0"/>
          </a:p>
        </p:txBody>
      </p:sp>
      <p:sp>
        <p:nvSpPr>
          <p:cNvPr id="14" name="Text 10"/>
          <p:cNvSpPr/>
          <p:nvPr/>
        </p:nvSpPr>
        <p:spPr>
          <a:xfrm>
            <a:off x="8591550" y="2538611"/>
            <a:ext cx="2603119" cy="50542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47546B"/>
                </a:solidFill>
                <a:latin typeface="Arial" pitchFamily="34" charset="0"/>
                <a:ea typeface="Arial" pitchFamily="34" charset="-122"/>
                <a:cs typeface="Arial" pitchFamily="34" charset="-120"/>
              </a:rPr>
              <a:t>Raise autonomy where the data says it's earned.</a:t>
            </a:r>
            <a:endParaRPr lang="en-US" sz="1350" dirty="0"/>
          </a:p>
        </p:txBody>
      </p:sp>
      <p:sp>
        <p:nvSpPr>
          <p:cNvPr id="15" name="Text 11"/>
          <p:cNvSpPr/>
          <p:nvPr/>
        </p:nvSpPr>
        <p:spPr>
          <a:xfrm>
            <a:off x="812800" y="3634581"/>
            <a:ext cx="10137775"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33D"/>
                </a:solidFill>
                <a:latin typeface="Arial" pitchFamily="34" charset="0"/>
                <a:ea typeface="Arial" pitchFamily="34" charset="-122"/>
                <a:cs typeface="Arial" pitchFamily="34" charset="-120"/>
              </a:rPr>
              <a:t>Integrates via a clean API (idempotent, Camunda/BPM-friendly). The </a:t>
            </a:r>
            <a:r>
              <a:rPr lang="en-US" sz="1500" b="1" dirty="0">
                <a:solidFill>
                  <a:srgbClr val="14233D"/>
                </a:solidFill>
                <a:latin typeface="Arial" pitchFamily="34" charset="0"/>
                <a:ea typeface="Arial" pitchFamily="34" charset="-122"/>
                <a:cs typeface="Arial" pitchFamily="34" charset="-120"/>
              </a:rPr>
              <a:t>override rate</a:t>
            </a:r>
            <a:r>
              <a:rPr lang="en-US" sz="1500" dirty="0">
                <a:solidFill>
                  <a:srgbClr val="14233D"/>
                </a:solidFill>
                <a:latin typeface="Arial" pitchFamily="34" charset="0"/>
                <a:ea typeface="Arial" pitchFamily="34" charset="-122"/>
                <a:cs typeface="Arial" pitchFamily="34" charset="-120"/>
              </a:rPr>
              <a:t> is the live trust signal that tells you when to let go of the wheel.</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E7C66"/>
                </a:solidFill>
                <a:latin typeface="Arial" pitchFamily="34" charset="0"/>
                <a:ea typeface="Arial" pitchFamily="34" charset="-122"/>
                <a:cs typeface="Arial" pitchFamily="34" charset="-120"/>
              </a:rPr>
              <a:t>Q&amp;A READY</a:t>
            </a:r>
            <a:endParaRPr lang="en-US" sz="1200" dirty="0"/>
          </a:p>
        </p:txBody>
      </p:sp>
      <p:sp>
        <p:nvSpPr>
          <p:cNvPr id="3" name="Text 1"/>
          <p:cNvSpPr>
            <a:spLocks noGrp="1"/>
          </p:cNvSpPr>
          <p:nvPr>
            <p:ph type="title"/>
          </p:nvPr>
        </p:nvSpPr>
        <p:spPr>
          <a:xfrm>
            <a:off x="812800" y="1102320"/>
            <a:ext cx="10883392" cy="50036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4233D"/>
                </a:solidFill>
                <a:latin typeface="Georgia" pitchFamily="18" charset="0"/>
                <a:ea typeface="Georgia" pitchFamily="18" charset="-122"/>
                <a:cs typeface="Georgia" pitchFamily="18" charset="-120"/>
              </a:rPr>
              <a:t>Your concerns, answered</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43980"/>
          <a:ext cx="10553700" cy="3486150"/>
        </p:xfrm>
        <a:graphic>
          <a:graphicData uri="http://schemas.openxmlformats.org/drawingml/2006/table">
            <a:tbl>
              <a:tblPr/>
              <a:tblGrid>
                <a:gridCol w="4221480">
                  <a:extLst>
                    <a:ext uri="{9D8B030D-6E8A-4147-A177-3AD203B41FA5}">
                      <a16:colId xmlns:a16="http://schemas.microsoft.com/office/drawing/2014/main" val="20000"/>
                    </a:ext>
                  </a:extLst>
                </a:gridCol>
                <a:gridCol w="6332220">
                  <a:extLst>
                    <a:ext uri="{9D8B030D-6E8A-4147-A177-3AD203B41FA5}">
                      <a16:colId xmlns:a16="http://schemas.microsoft.com/office/drawing/2014/main" val="20001"/>
                    </a:ext>
                  </a:extLst>
                </a:gridCol>
              </a:tblGrid>
              <a:tr h="387350">
                <a:tc>
                  <a:txBody>
                    <a:bodyPr/>
                    <a:lstStyle/>
                    <a:p>
                      <a:pPr marL="0" indent="0">
                        <a:lnSpc>
                          <a:spcPts val="1750"/>
                        </a:lnSpc>
                        <a:buNone/>
                      </a:pPr>
                      <a:r>
                        <a:rPr lang="en-US" sz="1250" b="1" dirty="0">
                          <a:solidFill>
                            <a:srgbClr val="FFFFFF"/>
                          </a:solidFill>
                          <a:latin typeface="Arial" pitchFamily="34" charset="0"/>
                          <a:ea typeface="Arial" pitchFamily="34" charset="-122"/>
                          <a:cs typeface="Arial" pitchFamily="34" charset="-120"/>
                        </a:rPr>
                        <a:t>Your concern</a:t>
                      </a:r>
                      <a:endParaRPr lang="en-US" sz="1250" dirty="0">
                        <a:latin typeface="Arial" charset="0"/>
                        <a:ea typeface="Arial" charset="0"/>
                        <a:cs typeface="Arial" charset="0"/>
                      </a:endParaRPr>
                    </a:p>
                  </a:txBody>
                  <a:tcPr marL="139700" marR="139700" marT="76200" marB="76200">
                    <a:lnL w="12700" cap="flat" cmpd="sng" algn="ctr">
                      <a:solidFill>
                        <a:srgbClr val="C8C8C6"/>
                      </a:solidFill>
                      <a:prstDash val="solid"/>
                      <a:round/>
                      <a:headEnd type="none" w="med" len="med"/>
                      <a:tailEnd type="none" w="med" len="med"/>
                    </a:lnL>
                    <a:lnR w="12700" cap="flat" cmpd="sng" algn="ctr">
                      <a:solidFill>
                        <a:srgbClr val="1420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2034"/>
                      </a:solidFill>
                      <a:prstDash val="solid"/>
                      <a:round/>
                      <a:headEnd type="none" w="med" len="med"/>
                      <a:tailEnd type="none" w="med" len="med"/>
                    </a:lnB>
                    <a:solidFill>
                      <a:srgbClr val="14233D"/>
                    </a:solidFill>
                  </a:tcPr>
                </a:tc>
                <a:tc>
                  <a:txBody>
                    <a:bodyPr/>
                    <a:lstStyle/>
                    <a:p>
                      <a:pPr marL="0" indent="0">
                        <a:lnSpc>
                          <a:spcPts val="1750"/>
                        </a:lnSpc>
                        <a:buNone/>
                      </a:pPr>
                      <a:r>
                        <a:rPr lang="en-US" sz="1250" b="1" dirty="0">
                          <a:solidFill>
                            <a:srgbClr val="FFFFFF"/>
                          </a:solidFill>
                          <a:latin typeface="Arial" pitchFamily="34" charset="0"/>
                          <a:ea typeface="Arial" pitchFamily="34" charset="-122"/>
                          <a:cs typeface="Arial" pitchFamily="34" charset="-120"/>
                        </a:rPr>
                        <a:t>Our answer</a:t>
                      </a:r>
                      <a:endParaRPr lang="en-US" sz="1250" dirty="0">
                        <a:latin typeface="Arial" charset="0"/>
                        <a:ea typeface="Arial" charset="0"/>
                        <a:cs typeface="Arial" charset="0"/>
                      </a:endParaRPr>
                    </a:p>
                  </a:txBody>
                  <a:tcPr marL="139700" marR="139700" marT="76200" marB="76200">
                    <a:lnL w="12700" cap="flat" cmpd="sng" algn="ctr">
                      <a:solidFill>
                        <a:srgbClr val="142034"/>
                      </a:solidFill>
                      <a:prstDash val="solid"/>
                      <a:round/>
                      <a:headEnd type="none" w="med" len="med"/>
                      <a:tailEnd type="none" w="med" len="med"/>
                    </a:lnL>
                    <a:lnR w="12700" cap="flat" cmpd="sng" algn="ctr">
                      <a:solidFill>
                        <a:srgbClr val="1420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2034"/>
                      </a:solidFill>
                      <a:prstDash val="solid"/>
                      <a:round/>
                      <a:headEnd type="none" w="med" len="med"/>
                      <a:tailEnd type="none" w="med" len="med"/>
                    </a:lnB>
                    <a:solidFill>
                      <a:srgbClr val="14233D"/>
                    </a:solidFill>
                  </a:tcPr>
                </a:tc>
                <a:extLst>
                  <a:ext uri="{0D108BD9-81ED-4DB2-BD59-A6C34878D82A}">
                    <a16:rowId xmlns:a16="http://schemas.microsoft.com/office/drawing/2014/main" val="10000"/>
                  </a:ext>
                </a:extLst>
              </a:tr>
              <a:tr h="387350">
                <a:tc>
                  <a:txBody>
                    <a:bodyPr/>
                    <a:lstStyle/>
                    <a:p>
                      <a:pPr marL="0" indent="0">
                        <a:lnSpc>
                          <a:spcPts val="1750"/>
                        </a:lnSpc>
                        <a:buNone/>
                      </a:pPr>
                      <a:r>
                        <a:rPr lang="en-US" sz="1250" dirty="0">
                          <a:solidFill>
                            <a:srgbClr val="14233D"/>
                          </a:solidFill>
                          <a:latin typeface="Arial" pitchFamily="34" charset="0"/>
                          <a:ea typeface="Arial" pitchFamily="34" charset="-122"/>
                          <a:cs typeface="Arial" pitchFamily="34" charset="-120"/>
                        </a:rPr>
                        <a:t>AI approves something wrong</a:t>
                      </a:r>
                      <a:endParaRPr lang="en-US" sz="1250" dirty="0">
                        <a:latin typeface="Arial" charset="0"/>
                        <a:ea typeface="Arial" charset="0"/>
                        <a:cs typeface="Arial" charset="0"/>
                      </a:endParaRPr>
                    </a:p>
                  </a:txBody>
                  <a:tcPr marL="139700" marR="139700" marT="76200" marB="76200">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20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750"/>
                        </a:lnSpc>
                        <a:buNone/>
                      </a:pPr>
                      <a:r>
                        <a:rPr lang="en-US" sz="1250" dirty="0">
                          <a:solidFill>
                            <a:srgbClr val="47546B"/>
                          </a:solidFill>
                          <a:latin typeface="Arial" pitchFamily="34" charset="0"/>
                          <a:ea typeface="Arial" pitchFamily="34" charset="-122"/>
                          <a:cs typeface="Arial" pitchFamily="34" charset="-120"/>
                        </a:rPr>
                        <a:t>Human-in-the-loop; AI never acts; zero false auto-approvals</a:t>
                      </a:r>
                      <a:endParaRPr lang="en-US" sz="1250" dirty="0">
                        <a:latin typeface="Arial" charset="0"/>
                        <a:ea typeface="Arial" charset="0"/>
                        <a:cs typeface="Arial" charset="0"/>
                      </a:endParaRPr>
                    </a:p>
                  </a:txBody>
                  <a:tcPr marL="139700" marR="139700" marT="76200" marB="762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20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7350">
                <a:tc>
                  <a:txBody>
                    <a:bodyPr/>
                    <a:lstStyle/>
                    <a:p>
                      <a:pPr marL="0" indent="0">
                        <a:lnSpc>
                          <a:spcPts val="1750"/>
                        </a:lnSpc>
                        <a:buNone/>
                      </a:pPr>
                      <a:r>
                        <a:rPr lang="en-US" sz="1250" dirty="0">
                          <a:solidFill>
                            <a:srgbClr val="14233D"/>
                          </a:solidFill>
                          <a:latin typeface="Arial" pitchFamily="34" charset="0"/>
                          <a:ea typeface="Arial" pitchFamily="34" charset="-122"/>
                          <a:cs typeface="Arial" pitchFamily="34" charset="-120"/>
                        </a:rPr>
                        <a:t>We lose control of the rules</a:t>
                      </a:r>
                      <a:endParaRPr lang="en-US" sz="1250" dirty="0">
                        <a:latin typeface="Arial" charset="0"/>
                        <a:ea typeface="Arial" charset="0"/>
                        <a:cs typeface="Arial" charset="0"/>
                      </a:endParaRPr>
                    </a:p>
                  </a:txBody>
                  <a:tcPr marL="139700" marR="139700" marT="76200" marB="76200">
                    <a:lnL w="12700" cap="flat" cmpd="sng" algn="ctr">
                      <a:solidFill>
                        <a:srgbClr val="C8C8C6"/>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1750"/>
                        </a:lnSpc>
                        <a:buNone/>
                      </a:pPr>
                      <a:r>
                        <a:rPr lang="en-US" sz="1250" dirty="0">
                          <a:solidFill>
                            <a:srgbClr val="47546B"/>
                          </a:solidFill>
                          <a:latin typeface="Arial" pitchFamily="34" charset="0"/>
                          <a:ea typeface="Arial" pitchFamily="34" charset="-122"/>
                          <a:cs typeface="Arial" pitchFamily="34" charset="-120"/>
                        </a:rPr>
                        <a:t>Business owns the config; preview + rollback</a:t>
                      </a:r>
                      <a:endParaRPr lang="en-US" sz="1250" dirty="0">
                        <a:latin typeface="Arial" charset="0"/>
                        <a:ea typeface="Arial" charset="0"/>
                        <a:cs typeface="Arial" charset="0"/>
                      </a:endParaRPr>
                    </a:p>
                  </a:txBody>
                  <a:tcPr marL="139700" marR="1397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extLst>
                  <a:ext uri="{0D108BD9-81ED-4DB2-BD59-A6C34878D82A}">
                    <a16:rowId xmlns:a16="http://schemas.microsoft.com/office/drawing/2014/main" val="10002"/>
                  </a:ext>
                </a:extLst>
              </a:tr>
              <a:tr h="387350">
                <a:tc>
                  <a:txBody>
                    <a:bodyPr/>
                    <a:lstStyle/>
                    <a:p>
                      <a:pPr marL="0" indent="0">
                        <a:lnSpc>
                          <a:spcPts val="1750"/>
                        </a:lnSpc>
                        <a:buNone/>
                      </a:pPr>
                      <a:r>
                        <a:rPr lang="en-US" sz="1250" dirty="0">
                          <a:solidFill>
                            <a:srgbClr val="14233D"/>
                          </a:solidFill>
                          <a:latin typeface="Arial" pitchFamily="34" charset="0"/>
                          <a:ea typeface="Arial" pitchFamily="34" charset="-122"/>
                          <a:cs typeface="Arial" pitchFamily="34" charset="-120"/>
                        </a:rPr>
                        <a:t>EU AI Act / GDPR</a:t>
                      </a:r>
                      <a:endParaRPr lang="en-US" sz="1250" dirty="0">
                        <a:latin typeface="Arial" charset="0"/>
                        <a:ea typeface="Arial" charset="0"/>
                        <a:cs typeface="Arial" charset="0"/>
                      </a:endParaRPr>
                    </a:p>
                  </a:txBody>
                  <a:tcPr marL="139700" marR="139700" marT="76200" marB="76200">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750"/>
                        </a:lnSpc>
                        <a:buNone/>
                      </a:pPr>
                      <a:r>
                        <a:rPr lang="en-US" sz="1250" dirty="0">
                          <a:solidFill>
                            <a:srgbClr val="47546B"/>
                          </a:solidFill>
                          <a:latin typeface="Arial" pitchFamily="34" charset="0"/>
                          <a:ea typeface="Arial" pitchFamily="34" charset="-122"/>
                          <a:cs typeface="Arial" pitchFamily="34" charset="-120"/>
                        </a:rPr>
                        <a:t>Human oversight, explainability, audit trail</a:t>
                      </a:r>
                      <a:endParaRPr lang="en-US" sz="1250" dirty="0">
                        <a:latin typeface="Arial" charset="0"/>
                        <a:ea typeface="Arial" charset="0"/>
                        <a:cs typeface="Arial" charset="0"/>
                      </a:endParaRPr>
                    </a:p>
                  </a:txBody>
                  <a:tcPr marL="139700" marR="139700" marT="76200" marB="762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7350">
                <a:tc>
                  <a:txBody>
                    <a:bodyPr/>
                    <a:lstStyle/>
                    <a:p>
                      <a:pPr marL="0" indent="0">
                        <a:lnSpc>
                          <a:spcPts val="1750"/>
                        </a:lnSpc>
                        <a:buNone/>
                      </a:pPr>
                      <a:r>
                        <a:rPr lang="en-US" sz="1250" dirty="0">
                          <a:solidFill>
                            <a:srgbClr val="14233D"/>
                          </a:solidFill>
                          <a:latin typeface="Arial" pitchFamily="34" charset="0"/>
                          <a:ea typeface="Arial" pitchFamily="34" charset="-122"/>
                          <a:cs typeface="Arial" pitchFamily="34" charset="-120"/>
                        </a:rPr>
                        <a:t>Our data in the cloud</a:t>
                      </a:r>
                      <a:endParaRPr lang="en-US" sz="1250" dirty="0">
                        <a:latin typeface="Arial" charset="0"/>
                        <a:ea typeface="Arial" charset="0"/>
                        <a:cs typeface="Arial" charset="0"/>
                      </a:endParaRPr>
                    </a:p>
                  </a:txBody>
                  <a:tcPr marL="139700" marR="139700" marT="76200" marB="76200">
                    <a:lnL w="12700" cap="flat" cmpd="sng" algn="ctr">
                      <a:solidFill>
                        <a:srgbClr val="C8C8C6"/>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1750"/>
                        </a:lnSpc>
                        <a:buNone/>
                      </a:pPr>
                      <a:r>
                        <a:rPr lang="en-US" sz="1250" dirty="0">
                          <a:solidFill>
                            <a:srgbClr val="47546B"/>
                          </a:solidFill>
                          <a:latin typeface="Arial" pitchFamily="34" charset="0"/>
                          <a:ea typeface="Arial" pitchFamily="34" charset="-122"/>
                          <a:cs typeface="Arial" pitchFamily="34" charset="-120"/>
                        </a:rPr>
                        <a:t>Model-agnostic; on-prem / EU; no training on your data</a:t>
                      </a:r>
                      <a:endParaRPr lang="en-US" sz="1250" dirty="0">
                        <a:latin typeface="Arial" charset="0"/>
                        <a:ea typeface="Arial" charset="0"/>
                        <a:cs typeface="Arial" charset="0"/>
                      </a:endParaRPr>
                    </a:p>
                  </a:txBody>
                  <a:tcPr marL="139700" marR="1397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extLst>
                  <a:ext uri="{0D108BD9-81ED-4DB2-BD59-A6C34878D82A}">
                    <a16:rowId xmlns:a16="http://schemas.microsoft.com/office/drawing/2014/main" val="10004"/>
                  </a:ext>
                </a:extLst>
              </a:tr>
              <a:tr h="387350">
                <a:tc>
                  <a:txBody>
                    <a:bodyPr/>
                    <a:lstStyle/>
                    <a:p>
                      <a:pPr marL="0" indent="0">
                        <a:lnSpc>
                          <a:spcPts val="1750"/>
                        </a:lnSpc>
                        <a:buNone/>
                      </a:pPr>
                      <a:r>
                        <a:rPr lang="en-US" sz="1250" dirty="0">
                          <a:solidFill>
                            <a:srgbClr val="14233D"/>
                          </a:solidFill>
                          <a:latin typeface="Arial" pitchFamily="34" charset="0"/>
                          <a:ea typeface="Arial" pitchFamily="34" charset="-122"/>
                          <a:cs typeface="Arial" pitchFamily="34" charset="-120"/>
                        </a:rPr>
                        <a:t>What if the AI is down?</a:t>
                      </a:r>
                      <a:endParaRPr lang="en-US" sz="1250" dirty="0">
                        <a:latin typeface="Arial" charset="0"/>
                        <a:ea typeface="Arial" charset="0"/>
                        <a:cs typeface="Arial" charset="0"/>
                      </a:endParaRPr>
                    </a:p>
                  </a:txBody>
                  <a:tcPr marL="139700" marR="139700" marT="76200" marB="76200">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750"/>
                        </a:lnSpc>
                        <a:buNone/>
                      </a:pPr>
                      <a:r>
                        <a:rPr lang="en-US" sz="1250" dirty="0">
                          <a:solidFill>
                            <a:srgbClr val="47546B"/>
                          </a:solidFill>
                          <a:latin typeface="Arial" pitchFamily="34" charset="0"/>
                          <a:ea typeface="Arial" pitchFamily="34" charset="-122"/>
                          <a:cs typeface="Arial" pitchFamily="34" charset="-120"/>
                        </a:rPr>
                        <a:t>Fallback to manual / baseline; breaker + queue on the roadmap</a:t>
                      </a:r>
                      <a:endParaRPr lang="en-US" sz="1250" dirty="0">
                        <a:latin typeface="Arial" charset="0"/>
                        <a:ea typeface="Arial" charset="0"/>
                        <a:cs typeface="Arial" charset="0"/>
                      </a:endParaRPr>
                    </a:p>
                  </a:txBody>
                  <a:tcPr marL="139700" marR="139700" marT="76200" marB="762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7350">
                <a:tc>
                  <a:txBody>
                    <a:bodyPr/>
                    <a:lstStyle/>
                    <a:p>
                      <a:pPr marL="0" indent="0">
                        <a:lnSpc>
                          <a:spcPts val="1750"/>
                        </a:lnSpc>
                        <a:buNone/>
                      </a:pPr>
                      <a:r>
                        <a:rPr lang="en-US" sz="1250" dirty="0">
                          <a:solidFill>
                            <a:srgbClr val="14233D"/>
                          </a:solidFill>
                          <a:latin typeface="Arial" pitchFamily="34" charset="0"/>
                          <a:ea typeface="Arial" pitchFamily="34" charset="-122"/>
                          <a:cs typeface="Arial" pitchFamily="34" charset="-120"/>
                        </a:rPr>
                        <a:t>Cost at scale</a:t>
                      </a:r>
                      <a:endParaRPr lang="en-US" sz="1250" dirty="0">
                        <a:latin typeface="Arial" charset="0"/>
                        <a:ea typeface="Arial" charset="0"/>
                        <a:cs typeface="Arial" charset="0"/>
                      </a:endParaRPr>
                    </a:p>
                  </a:txBody>
                  <a:tcPr marL="139700" marR="139700" marT="76200" marB="76200">
                    <a:lnL w="12700" cap="flat" cmpd="sng" algn="ctr">
                      <a:solidFill>
                        <a:srgbClr val="C8C8C6"/>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1750"/>
                        </a:lnSpc>
                        <a:buNone/>
                      </a:pPr>
                      <a:r>
                        <a:rPr lang="en-US" sz="1250" dirty="0">
                          <a:solidFill>
                            <a:srgbClr val="47546B"/>
                          </a:solidFill>
                          <a:latin typeface="Arial" pitchFamily="34" charset="0"/>
                          <a:ea typeface="Arial" pitchFamily="34" charset="-122"/>
                          <a:cs typeface="Arial" pitchFamily="34" charset="-120"/>
                        </a:rPr>
                        <a:t>~$0.004 per claim; model configurable</a:t>
                      </a:r>
                      <a:endParaRPr lang="en-US" sz="1250" dirty="0">
                        <a:latin typeface="Arial" charset="0"/>
                        <a:ea typeface="Arial" charset="0"/>
                        <a:cs typeface="Arial" charset="0"/>
                      </a:endParaRPr>
                    </a:p>
                  </a:txBody>
                  <a:tcPr marL="139700" marR="1397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extLst>
                  <a:ext uri="{0D108BD9-81ED-4DB2-BD59-A6C34878D82A}">
                    <a16:rowId xmlns:a16="http://schemas.microsoft.com/office/drawing/2014/main" val="10006"/>
                  </a:ext>
                </a:extLst>
              </a:tr>
              <a:tr h="387350">
                <a:tc>
                  <a:txBody>
                    <a:bodyPr/>
                    <a:lstStyle/>
                    <a:p>
                      <a:pPr marL="0" indent="0">
                        <a:lnSpc>
                          <a:spcPts val="1750"/>
                        </a:lnSpc>
                        <a:buNone/>
                      </a:pPr>
                      <a:r>
                        <a:rPr lang="en-US" sz="1250" dirty="0">
                          <a:solidFill>
                            <a:srgbClr val="14233D"/>
                          </a:solidFill>
                          <a:latin typeface="Arial" pitchFamily="34" charset="0"/>
                          <a:ea typeface="Arial" pitchFamily="34" charset="-122"/>
                          <a:cs typeface="Arial" pitchFamily="34" charset="-120"/>
                        </a:rPr>
                        <a:t>Fits our platform?</a:t>
                      </a:r>
                      <a:endParaRPr lang="en-US" sz="1250" dirty="0">
                        <a:latin typeface="Arial" charset="0"/>
                        <a:ea typeface="Arial" charset="0"/>
                        <a:cs typeface="Arial" charset="0"/>
                      </a:endParaRPr>
                    </a:p>
                  </a:txBody>
                  <a:tcPr marL="139700" marR="139700" marT="76200" marB="76200">
                    <a:lnL w="12700" cap="flat" cmpd="sng" algn="ctr">
                      <a:solidFill>
                        <a:srgbClr val="C8C8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750"/>
                        </a:lnSpc>
                        <a:buNone/>
                      </a:pPr>
                      <a:r>
                        <a:rPr lang="en-US" sz="1250" dirty="0">
                          <a:solidFill>
                            <a:srgbClr val="47546B"/>
                          </a:solidFill>
                          <a:latin typeface="Arial" pitchFamily="34" charset="0"/>
                          <a:ea typeface="Arial" pitchFamily="34" charset="-122"/>
                          <a:cs typeface="Arial" pitchFamily="34" charset="-120"/>
                        </a:rPr>
                        <a:t>Clean API, idempotent; Camunda / DMN</a:t>
                      </a:r>
                      <a:endParaRPr lang="en-US" sz="1250" dirty="0">
                        <a:latin typeface="Arial" charset="0"/>
                        <a:ea typeface="Arial" charset="0"/>
                        <a:cs typeface="Arial" charset="0"/>
                      </a:endParaRPr>
                    </a:p>
                  </a:txBody>
                  <a:tcPr marL="139700" marR="139700" marT="76200" marB="762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7350">
                <a:tc>
                  <a:txBody>
                    <a:bodyPr/>
                    <a:lstStyle/>
                    <a:p>
                      <a:pPr marL="0" indent="0">
                        <a:lnSpc>
                          <a:spcPts val="1750"/>
                        </a:lnSpc>
                        <a:buNone/>
                      </a:pPr>
                      <a:r>
                        <a:rPr lang="en-US" sz="1250" dirty="0">
                          <a:solidFill>
                            <a:srgbClr val="14233D"/>
                          </a:solidFill>
                          <a:latin typeface="Arial" pitchFamily="34" charset="0"/>
                          <a:ea typeface="Arial" pitchFamily="34" charset="-122"/>
                          <a:cs typeface="Arial" pitchFamily="34" charset="-120"/>
                        </a:rPr>
                        <a:t>Only property &amp; life?</a:t>
                      </a:r>
                      <a:endParaRPr lang="en-US" sz="1250" dirty="0">
                        <a:latin typeface="Arial" charset="0"/>
                        <a:ea typeface="Arial" charset="0"/>
                        <a:cs typeface="Arial" charset="0"/>
                      </a:endParaRPr>
                    </a:p>
                  </a:txBody>
                  <a:tcPr marL="139700" marR="139700" marT="76200" marB="76200">
                    <a:lnL w="12700" cap="flat" cmpd="sng" algn="ctr">
                      <a:solidFill>
                        <a:srgbClr val="C8C8C6"/>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tc>
                  <a:txBody>
                    <a:bodyPr/>
                    <a:lstStyle/>
                    <a:p>
                      <a:pPr marL="0" indent="0">
                        <a:lnSpc>
                          <a:spcPts val="1750"/>
                        </a:lnSpc>
                        <a:buNone/>
                      </a:pPr>
                      <a:r>
                        <a:rPr lang="en-US" sz="1250" dirty="0">
                          <a:solidFill>
                            <a:srgbClr val="47546B"/>
                          </a:solidFill>
                          <a:latin typeface="Arial" pitchFamily="34" charset="0"/>
                          <a:ea typeface="Arial" pitchFamily="34" charset="-122"/>
                          <a:cs typeface="Arial" pitchFamily="34" charset="-120"/>
                        </a:rPr>
                        <a:t>Config-driven taxonomy; new lines are additive</a:t>
                      </a:r>
                      <a:endParaRPr lang="en-US" sz="1250" dirty="0">
                        <a:latin typeface="Arial" charset="0"/>
                        <a:ea typeface="Arial" charset="0"/>
                        <a:cs typeface="Arial" charset="0"/>
                      </a:endParaRPr>
                    </a:p>
                  </a:txBody>
                  <a:tcPr marL="139700" marR="139700" marT="76200" marB="76200">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F6F7F4"/>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3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EC8B0"/>
                </a:solidFill>
                <a:latin typeface="Arial" pitchFamily="34" charset="0"/>
                <a:ea typeface="Arial" pitchFamily="34" charset="-122"/>
                <a:cs typeface="Arial" pitchFamily="34" charset="-120"/>
              </a:rPr>
              <a:t>NEXT STEP</a:t>
            </a:r>
            <a:endParaRPr lang="en-US" sz="1200" dirty="0"/>
          </a:p>
        </p:txBody>
      </p:sp>
      <p:sp>
        <p:nvSpPr>
          <p:cNvPr id="3" name="Text 1"/>
          <p:cNvSpPr>
            <a:spLocks noGrp="1"/>
          </p:cNvSpPr>
          <p:nvPr>
            <p:ph type="title"/>
          </p:nvPr>
        </p:nvSpPr>
        <p:spPr>
          <a:xfrm>
            <a:off x="812800" y="1153120"/>
            <a:ext cx="10883392" cy="612080"/>
          </a:xfrm>
          <a:prstGeom prst="rect">
            <a:avLst/>
          </a:prstGeom>
          <a:noFill/>
          <a:ln/>
        </p:spPr>
        <p:txBody>
          <a:bodyPr wrap="square" lIns="0" tIns="0" rIns="0" bIns="0" rtlCol="0" anchor="t">
            <a:normAutofit/>
          </a:bodyPr>
          <a:lstStyle/>
          <a:p>
            <a:pPr marL="0" indent="0" algn="l">
              <a:lnSpc>
                <a:spcPts val="4620"/>
              </a:lnSpc>
              <a:buNone/>
            </a:pPr>
            <a:r>
              <a:rPr lang="en-US" sz="4400" b="1" i="0" dirty="0">
                <a:solidFill>
                  <a:srgbClr val="FFFFFF"/>
                </a:solidFill>
                <a:latin typeface="Georgia" pitchFamily="18" charset="0"/>
                <a:ea typeface="Georgia" pitchFamily="18" charset="-122"/>
                <a:cs typeface="Georgia" pitchFamily="18" charset="-120"/>
              </a:rPr>
              <a:t>Let's run a pilot</a:t>
            </a:r>
            <a:endParaRPr lang="en-US" sz="4400" dirty="0"/>
          </a:p>
        </p:txBody>
      </p:sp>
      <p:sp>
        <p:nvSpPr>
          <p:cNvPr id="4" name="Text 2"/>
          <p:cNvSpPr/>
          <p:nvPr/>
        </p:nvSpPr>
        <p:spPr>
          <a:xfrm>
            <a:off x="812800" y="3340795"/>
            <a:ext cx="348823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EC8B0"/>
                </a:solidFill>
                <a:latin typeface="Arial" pitchFamily="34" charset="0"/>
                <a:ea typeface="Arial" pitchFamily="34" charset="-122"/>
                <a:cs typeface="Arial" pitchFamily="34" charset="-120"/>
              </a:rPr>
              <a:t>Scope</a:t>
            </a:r>
            <a:endParaRPr lang="en-US" sz="1500" dirty="0"/>
          </a:p>
        </p:txBody>
      </p:sp>
      <p:sp>
        <p:nvSpPr>
          <p:cNvPr id="5" name="Text 3"/>
          <p:cNvSpPr/>
          <p:nvPr/>
        </p:nvSpPr>
        <p:spPr>
          <a:xfrm>
            <a:off x="812800" y="3632895"/>
            <a:ext cx="3488233"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7DEE6"/>
                </a:solidFill>
                <a:latin typeface="Arial" pitchFamily="34" charset="0"/>
                <a:ea typeface="Arial" pitchFamily="34" charset="-122"/>
                <a:cs typeface="Arial" pitchFamily="34" charset="-120"/>
              </a:rPr>
              <a:t>Home/Property + Life CPI on a real intake stream.</a:t>
            </a:r>
            <a:endParaRPr lang="en-US" sz="1400" dirty="0"/>
          </a:p>
        </p:txBody>
      </p:sp>
      <p:sp>
        <p:nvSpPr>
          <p:cNvPr id="6" name="Text 4"/>
          <p:cNvSpPr/>
          <p:nvPr/>
        </p:nvSpPr>
        <p:spPr>
          <a:xfrm>
            <a:off x="4402634" y="3340795"/>
            <a:ext cx="348833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EC8B0"/>
                </a:solidFill>
                <a:latin typeface="Arial" pitchFamily="34" charset="0"/>
                <a:ea typeface="Arial" pitchFamily="34" charset="-122"/>
                <a:cs typeface="Arial" pitchFamily="34" charset="-120"/>
              </a:rPr>
              <a:t>Duration</a:t>
            </a:r>
            <a:endParaRPr lang="en-US" sz="1500" dirty="0"/>
          </a:p>
        </p:txBody>
      </p:sp>
      <p:sp>
        <p:nvSpPr>
          <p:cNvPr id="7" name="Text 5"/>
          <p:cNvSpPr/>
          <p:nvPr/>
        </p:nvSpPr>
        <p:spPr>
          <a:xfrm>
            <a:off x="4402634" y="3632895"/>
            <a:ext cx="3488335"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7DEE6"/>
                </a:solidFill>
                <a:latin typeface="Arial" pitchFamily="34" charset="0"/>
                <a:ea typeface="Arial" pitchFamily="34" charset="-122"/>
                <a:cs typeface="Arial" pitchFamily="34" charset="-120"/>
              </a:rPr>
              <a:t>[___ weeks], in shadow mode first.</a:t>
            </a:r>
            <a:endParaRPr lang="en-US" sz="1400" dirty="0"/>
          </a:p>
        </p:txBody>
      </p:sp>
      <p:sp>
        <p:nvSpPr>
          <p:cNvPr id="8" name="Text 6"/>
          <p:cNvSpPr/>
          <p:nvPr/>
        </p:nvSpPr>
        <p:spPr>
          <a:xfrm>
            <a:off x="7992566" y="3340795"/>
            <a:ext cx="348823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EC8B0"/>
                </a:solidFill>
                <a:latin typeface="Arial" pitchFamily="34" charset="0"/>
                <a:ea typeface="Arial" pitchFamily="34" charset="-122"/>
                <a:cs typeface="Arial" pitchFamily="34" charset="-120"/>
              </a:rPr>
              <a:t>Success criteria</a:t>
            </a:r>
            <a:endParaRPr lang="en-US" sz="1500" dirty="0"/>
          </a:p>
        </p:txBody>
      </p:sp>
      <p:sp>
        <p:nvSpPr>
          <p:cNvPr id="9" name="Text 7"/>
          <p:cNvSpPr/>
          <p:nvPr/>
        </p:nvSpPr>
        <p:spPr>
          <a:xfrm>
            <a:off x="7992566" y="3632895"/>
            <a:ext cx="3488233"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7DEE6"/>
                </a:solidFill>
                <a:latin typeface="Arial" pitchFamily="34" charset="0"/>
                <a:ea typeface="Arial" pitchFamily="34" charset="-122"/>
                <a:cs typeface="Arial" pitchFamily="34" charset="-120"/>
              </a:rPr>
              <a:t>Time per claim, override rate, green-line precision.</a:t>
            </a:r>
            <a:endParaRPr lang="en-US" sz="1400" dirty="0"/>
          </a:p>
        </p:txBody>
      </p:sp>
      <p:sp>
        <p:nvSpPr>
          <p:cNvPr id="10" name="Text 8"/>
          <p:cNvSpPr/>
          <p:nvPr/>
        </p:nvSpPr>
        <p:spPr>
          <a:xfrm>
            <a:off x="812800" y="5731570"/>
            <a:ext cx="10883392" cy="339030"/>
          </a:xfrm>
          <a:prstGeom prst="rect">
            <a:avLst/>
          </a:prstGeom>
          <a:noFill/>
          <a:ln/>
        </p:spPr>
        <p:txBody>
          <a:bodyPr wrap="square" lIns="0" tIns="0" rIns="0" bIns="0" rtlCol="0" anchor="t">
            <a:normAutofit/>
          </a:bodyPr>
          <a:lstStyle/>
          <a:p>
            <a:pPr marL="0" indent="0" algn="l">
              <a:lnSpc>
                <a:spcPts val="2470"/>
              </a:lnSpc>
              <a:buNone/>
            </a:pPr>
            <a:r>
              <a:rPr lang="en-US" sz="1900" dirty="0">
                <a:solidFill>
                  <a:srgbClr val="FFFFFF"/>
                </a:solidFill>
                <a:latin typeface="Georgia" pitchFamily="18" charset="0"/>
                <a:ea typeface="Georgia" pitchFamily="18" charset="-122"/>
                <a:cs typeface="Georgia" pitchFamily="18" charset="-120"/>
              </a:rPr>
              <a:t>ClaimSight — automation you can place your </a:t>
            </a:r>
            <a:r>
              <a:rPr lang="en-US" sz="1900" i="1" dirty="0">
                <a:solidFill>
                  <a:srgbClr val="FFFFFF"/>
                </a:solidFill>
                <a:latin typeface="Georgia" pitchFamily="18" charset="0"/>
                <a:ea typeface="Georgia" pitchFamily="18" charset="-122"/>
                <a:cs typeface="Georgia" pitchFamily="18" charset="-120"/>
              </a:rPr>
              <a:t>fiducia</a:t>
            </a:r>
            <a:r>
              <a:rPr lang="en-US" sz="1900" dirty="0">
                <a:solidFill>
                  <a:srgbClr val="FFFFFF"/>
                </a:solidFill>
                <a:latin typeface="Georgia" pitchFamily="18" charset="0"/>
                <a:ea typeface="Georgia" pitchFamily="18" charset="-122"/>
                <a:cs typeface="Georgia" pitchFamily="18" charset="-120"/>
              </a:rPr>
              <a:t> in.</a:t>
            </a:r>
            <a:endParaRPr lang="en-US" sz="1900" dirty="0"/>
          </a:p>
        </p:txBody>
      </p:sp>
    </p:spTree>
  </p:cSld>
  <p:clrMapOvr>
    <a:masterClrMapping/>
  </p:clrMapOvr>
</p:sld>
</file>

<file path=ppt/theme/theme1.xml><?xml version="1.0" encoding="utf-8"?>
<a:theme xmlns:a="http://schemas.openxmlformats.org/drawingml/2006/main" name="ClaimSight — Fiducia Insurance">
  <a:themeElements>
    <a:clrScheme name="ClaimSight — Fiducia Insurance">
      <a:dk1>
        <a:srgbClr val="14233D"/>
      </a:dk1>
      <a:lt1>
        <a:srgbClr val="FBFBF8"/>
      </a:lt1>
      <a:dk2>
        <a:srgbClr val="4E596C"/>
      </a:dk2>
      <a:lt2>
        <a:srgbClr val="E4E5E5"/>
      </a:lt2>
      <a:accent1>
        <a:srgbClr val="0E7C66"/>
      </a:accent1>
      <a:accent2>
        <a:srgbClr val="5EC8B0"/>
      </a:accent2>
      <a:accent3>
        <a:srgbClr val="0B5D4E"/>
      </a:accent3>
      <a:accent4>
        <a:srgbClr val="7FD1BE"/>
      </a:accent4>
      <a:accent5>
        <a:srgbClr val="47546B"/>
      </a:accent5>
      <a:accent6>
        <a:srgbClr val="5F6B7A"/>
      </a:accent6>
      <a:hlink>
        <a:srgbClr val="0563C1"/>
      </a:hlink>
      <a:folHlink>
        <a:srgbClr val="954F72"/>
      </a:folHlink>
    </a:clrScheme>
    <a:fontScheme name="ClaimSight — Fiducia Insuran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2845</Words>
  <Application>Microsoft Macintosh PowerPoint</Application>
  <PresentationFormat>Widescreen</PresentationFormat>
  <Paragraphs>282</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Georgia</vt:lpstr>
      <vt:lpstr>ClaimSight — Fiducia Insurance</vt:lpstr>
      <vt:lpstr>ClaimSight</vt:lpstr>
      <vt:lpstr>The intake desk is drowning in paperwork</vt:lpstr>
      <vt:lpstr>From typing to reviewing</vt:lpstr>
      <vt:lpstr>Let's watch it read a real claim</vt:lpstr>
      <vt:lpstr>Why you can trust it</vt:lpstr>
      <vt:lpstr>Your team owns the workflow</vt:lpstr>
      <vt:lpstr>Built for when things go wrong</vt:lpstr>
      <vt:lpstr>The trade-offs, measured</vt:lpstr>
      <vt:lpstr>A proof of concept, with a clear path to production</vt:lpstr>
      <vt:lpstr>ClaimSight in its environment</vt:lpstr>
      <vt:lpstr>Proof of concept — what runs today</vt:lpstr>
      <vt:lpstr>Target — production on Kubernetes</vt:lpstr>
      <vt:lpstr>Scale the bottleneck, not everything</vt:lpstr>
      <vt:lpstr>Compliant and private by design</vt:lpstr>
      <vt:lpstr>Fits your systems. Rolls out safely.</vt:lpstr>
      <vt:lpstr>Your concerns, answered</vt:lpstr>
      <vt:lpstr>Let's run a pilot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ClaimSight — Fiducia Insurance</dc:title>
  <dc:subject/>
  <dc:creator/>
  <cp:lastModifiedBy>Bogdan Dumitru</cp:lastModifiedBy>
  <cp:revision>8</cp:revision>
  <dcterms:created xsi:type="dcterms:W3CDTF">2026-10-15T04:11:05Z</dcterms:created>
  <dcterms:modified xsi:type="dcterms:W3CDTF">2026-10-15T04:44:15Z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844e20a-15e7-4911-b9d2-faab53fbf78b_Enabled">
    <vt:lpwstr>true</vt:lpwstr>
  </property>
  <property fmtid="{D5CDD505-2E9C-101B-9397-08002B2CF9AE}" pid="3" name="MSIP_Label_4844e20a-15e7-4911-b9d2-faab53fbf78b_SetDate">
    <vt:lpwstr>2026-10-15T04:34:32Z</vt:lpwstr>
  </property>
  <property fmtid="{D5CDD505-2E9C-101B-9397-08002B2CF9AE}" pid="4" name="MSIP_Label_4844e20a-15e7-4911-b9d2-faab53fbf78b_Method">
    <vt:lpwstr>Standard</vt:lpwstr>
  </property>
  <property fmtid="{D5CDD505-2E9C-101B-9397-08002B2CF9AE}" pid="5" name="MSIP_Label_4844e20a-15e7-4911-b9d2-faab53fbf78b_Name">
    <vt:lpwstr>Internal (Employees and Authorized Partners)</vt:lpwstr>
  </property>
  <property fmtid="{D5CDD505-2E9C-101B-9397-08002B2CF9AE}" pid="6" name="MSIP_Label_4844e20a-15e7-4911-b9d2-faab53fbf78b_SiteId">
    <vt:lpwstr>d52c9ea1-7c21-47b1-82a3-33a74b1f74b8</vt:lpwstr>
  </property>
  <property fmtid="{D5CDD505-2E9C-101B-9397-08002B2CF9AE}" pid="7" name="MSIP_Label_4844e20a-15e7-4911-b9d2-faab53fbf78b_ActionId">
    <vt:lpwstr>fc9e90b7-444e-40e6-a5d8-044b10157164</vt:lpwstr>
  </property>
  <property fmtid="{D5CDD505-2E9C-101B-9397-08002B2CF9AE}" pid="8" name="MSIP_Label_4844e20a-15e7-4911-b9d2-faab53fbf78b_ContentBits">
    <vt:lpwstr>0</vt:lpwstr>
  </property>
  <property fmtid="{D5CDD505-2E9C-101B-9397-08002B2CF9AE}" pid="9" name="MSIP_Label_4844e20a-15e7-4911-b9d2-faab53fbf78b_Tag">
    <vt:lpwstr>50, 3, 0, 1</vt:lpwstr>
  </property>
</Properties>
</file>